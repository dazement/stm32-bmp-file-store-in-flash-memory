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7fcb6b628496e" /><Relationship Type="http://schemas.openxmlformats.org/officeDocument/2006/relationships/extended-properties" Target="/docProps/app.xml" Id="Rbda265dec7e5451b" /><Relationship Type="http://schemas.openxmlformats.org/officeDocument/2006/relationships/officeDocument" Target="/ppt/presentation.xml" Id="R2657a6bda862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caf542c9e5461d"/>
  </p:sldMasterIdLst>
  <p:notesMasterIdLst>
    <p:notesMasterId xmlns:r="http://schemas.openxmlformats.org/officeDocument/2006/relationships" r:id="Rff15b65cfbe74421"/>
  </p:notesMasterIdLst>
  <p:sldIdLst>
    <p:sldId xmlns:r="http://schemas.openxmlformats.org/officeDocument/2006/relationships" id="256" r:id="R10676046df734450"/>
    <p:sldId xmlns:r="http://schemas.openxmlformats.org/officeDocument/2006/relationships" id="257" r:id="R5607c0efe8dc4c21"/>
    <p:sldId xmlns:r="http://schemas.openxmlformats.org/officeDocument/2006/relationships" id="258" r:id="Rbc4abd1eed844b30"/>
    <p:sldId xmlns:r="http://schemas.openxmlformats.org/officeDocument/2006/relationships" id="259" r:id="R2d917b0e0bf14cca"/>
    <p:sldId xmlns:r="http://schemas.openxmlformats.org/officeDocument/2006/relationships" id="260" r:id="R794965c6ad784ddc"/>
    <p:sldId xmlns:r="http://schemas.openxmlformats.org/officeDocument/2006/relationships" id="261" r:id="Rea6e7940f6cc48dc"/>
    <p:sldId xmlns:r="http://schemas.openxmlformats.org/officeDocument/2006/relationships" id="262" r:id="Re720e7b35b0240a2"/>
    <p:sldId xmlns:r="http://schemas.openxmlformats.org/officeDocument/2006/relationships" id="263" r:id="R1c30a0cbab2c4c40"/>
    <p:sldId xmlns:r="http://schemas.openxmlformats.org/officeDocument/2006/relationships" id="264" r:id="R9ab3cd0c9ffc4a47"/>
    <p:sldId xmlns:r="http://schemas.openxmlformats.org/officeDocument/2006/relationships" id="265" r:id="R51ccae4576c148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aef565d9e4450" /><Relationship Type="http://schemas.openxmlformats.org/officeDocument/2006/relationships/slideMaster" Target="/ppt/slideMasters/slideMaster1.xml" Id="R70caf542c9e5461d" /><Relationship Type="http://schemas.openxmlformats.org/officeDocument/2006/relationships/notesMaster" Target="/ppt/notesMasters/notesMaster1.xml" Id="Rff15b65cfbe74421" /><Relationship Type="http://schemas.openxmlformats.org/officeDocument/2006/relationships/presProps" Target="/ppt/presProps.xml" Id="R9772c317a77e45bf" /><Relationship Type="http://schemas.openxmlformats.org/officeDocument/2006/relationships/tableStyles" Target="/ppt/tableStyles.xml" Id="Rd36fdccb38a14efb" /><Relationship Type="http://schemas.openxmlformats.org/officeDocument/2006/relationships/slide" Target="/ppt/slides/slide1.xml" Id="R10676046df734450" /><Relationship Type="http://schemas.openxmlformats.org/officeDocument/2006/relationships/slide" Target="/ppt/slides/slide2.xml" Id="R5607c0efe8dc4c21" /><Relationship Type="http://schemas.openxmlformats.org/officeDocument/2006/relationships/slide" Target="/ppt/slides/slide3.xml" Id="Rbc4abd1eed844b30" /><Relationship Type="http://schemas.openxmlformats.org/officeDocument/2006/relationships/slide" Target="/ppt/slides/slide4.xml" Id="R2d917b0e0bf14cca" /><Relationship Type="http://schemas.openxmlformats.org/officeDocument/2006/relationships/slide" Target="/ppt/slides/slide5.xml" Id="R794965c6ad784ddc" /><Relationship Type="http://schemas.openxmlformats.org/officeDocument/2006/relationships/slide" Target="/ppt/slides/slide6.xml" Id="Rea6e7940f6cc48dc" /><Relationship Type="http://schemas.openxmlformats.org/officeDocument/2006/relationships/slide" Target="/ppt/slides/slide7.xml" Id="Re720e7b35b0240a2" /><Relationship Type="http://schemas.openxmlformats.org/officeDocument/2006/relationships/slide" Target="/ppt/slides/slide8.xml" Id="R1c30a0cbab2c4c40" /><Relationship Type="http://schemas.openxmlformats.org/officeDocument/2006/relationships/slide" Target="/ppt/slides/slide9.xml" Id="R9ab3cd0c9ffc4a47" /><Relationship Type="http://schemas.openxmlformats.org/officeDocument/2006/relationships/slide" Target="/ppt/slides/slide10.xml" Id="R51ccae4576c148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d22d5a82d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62d46e973a4b77" /><Relationship Type="http://schemas.openxmlformats.org/officeDocument/2006/relationships/notesMaster" Target="/ppt/notesMasters/notesMaster1.xml" Id="R2575de64dc074f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ae1d080bbb4c43" /><Relationship Type="http://schemas.openxmlformats.org/officeDocument/2006/relationships/notesMaster" Target="/ppt/notesMasters/notesMaster1.xml" Id="R824bc6a5753f46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e08fca42e94823" /><Relationship Type="http://schemas.openxmlformats.org/officeDocument/2006/relationships/notesMaster" Target="/ppt/notesMasters/notesMaster1.xml" Id="R2a10a2009cfa4a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1d08f3a354246" /><Relationship Type="http://schemas.openxmlformats.org/officeDocument/2006/relationships/notesMaster" Target="/ppt/notesMasters/notesMaster1.xml" Id="Rb7d2731329c7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c289343483439e" /><Relationship Type="http://schemas.openxmlformats.org/officeDocument/2006/relationships/notesMaster" Target="/ppt/notesMasters/notesMaster1.xml" Id="R11ff1ea8cc0944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963103912b44c7" /><Relationship Type="http://schemas.openxmlformats.org/officeDocument/2006/relationships/notesMaster" Target="/ppt/notesMasters/notesMaster1.xml" Id="Reea9954e2db14d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2545a4e6644357" /><Relationship Type="http://schemas.openxmlformats.org/officeDocument/2006/relationships/notesMaster" Target="/ppt/notesMasters/notesMaster1.xml" Id="R59a728e92b9240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c6d50eda64ab7" /><Relationship Type="http://schemas.openxmlformats.org/officeDocument/2006/relationships/notesMaster" Target="/ppt/notesMasters/notesMaster1.xml" Id="R704f0c597a1a4a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248c80519a4bb8" /><Relationship Type="http://schemas.openxmlformats.org/officeDocument/2006/relationships/notesMaster" Target="/ppt/notesMasters/notesMaster1.xml" Id="R91402f515ef349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d2245fecd34294" /><Relationship Type="http://schemas.openxmlformats.org/officeDocument/2006/relationships/notesMaster" Target="/ppt/notesMasters/notesMaster1.xml" Id="R978cd5dbc14043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발표에서는 PC에서 보낸 대용량 BMP를 SPI Flash에 저장하고 PC에 원본 그대로 복원하는 기능을 설명합니다. 표지 배경은 실제 테스트 입력 BMP입니다.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헤더와 픽셀, 행 패딩까지 전체 파일을 저장하고 복원합니다. 화면 확인과 데이터 무결성 확인을 함께 수행합니다. 회색조 출력은 추가 기능입니다.</a:t>
            </a:r>
          </a:p>
          <a:p xmlns:a="http://schemas.openxmlformats.org/drawingml/2006/main">
            <a:r>
              <a:t>출처: 사용자 제공 2차 발표 요구사항, 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실물 확인 기록은 W25Q128, EF4018입니다. W25Q32 실물을 시험한 것으로 설명하지 않습니다. 과제에서 W25Q32를 반드시 요구하면 외부 칩으로 실물 시험이 필요하거나 담당자의 대체 허용이 필요합니다.</a:t>
            </a:r>
          </a:p>
          <a:p xmlns:a="http://schemas.openxmlformats.org/drawingml/2006/main">
            <a:r>
              <a:t>출처: /Users/minho/gradproj/f746_bmp_gray/docs/hardware_setup.md</a:t>
            </a:r>
          </a:p>
          <a:p xmlns:a="http://schemas.openxmlformats.org/drawingml/2006/main">
            <a:r>
              <a:t>https://www.st.com/resource/en/user_manual/um1907-discovery-kit-for-stm32f7-series-with-stm32f746ng-mcu-stmicroelectronics.pdf</a:t>
            </a:r>
          </a:p>
          <a:p xmlns:a="http://schemas.openxmlformats.org/drawingml/2006/main">
            <a:r>
              <a:t>https://media.digikey.com/pdf/Data%20Sheets/Winbond%20PDFs/W25Q32JV_RevI_5-4-21.pdf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UART 데이터 단위 8비트와 BMP 픽셀 형식 8비트를 구분합니다. 원본은 24비트 BMP이며, 파일의 바이트를 8N1로 전송합니다. DMA M0/M1은 각 4096바이트입니다. 부분 수신도 NDTR로 처리하고 완료 콜백으로 은행 전환을 추적합니다. TX는 DMA 이중 버퍼입니다.</a:t>
            </a:r>
          </a:p>
          <a:p xmlns:a="http://schemas.openxmlformats.org/drawingml/2006/main">
            <a:r>
              <a:t>출처: /Users/minho/gradproj/bmp_gray_practice/Core/Src/uart_dma_rx.c, uart_dma_tx.c, uart_flash_test.c</a:t>
            </a:r>
          </a:p>
          <a:p xmlns:a="http://schemas.openxmlformats.org/drawingml/2006/main">
            <a:r>
              <a:t>https://www.st.com/resource/en/user_manual/um1907-discovery-kit-for-stm32f7-series-with-stm32f746ng-mcu-stmicroelectronics.pdf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QUADSPI는 사용한 MCU 주변장치입니다. 현재 명령, 주소, 데이터는 각각 한 선으로 전송하는 일반 SPI 1-1-1 프로토콜입니다. HCLK 216 MHz, prescaler 7이므로 SCK 27 MHz입니다. 매 쓰기 및 삭제 전에 WREN, BUSY 해제를 확인합니다.</a:t>
            </a:r>
          </a:p>
          <a:p xmlns:a="http://schemas.openxmlformats.org/drawingml/2006/main">
            <a:r>
              <a:t>출처: /Users/minho/gradproj/bmp_gray_practice/Core/Src/flash_test.c</a:t>
            </a:r>
          </a:p>
          <a:p xmlns:a="http://schemas.openxmlformats.org/drawingml/2006/main">
            <a:r>
              <a:t>https://media.digikey.com/pdf/Data%20Sheets/Winbond%20PDFs/W25Q32JV_RevI_5-4-21.pdf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MiB는 3,145,728바이트입니다. 입력 파일 3,145,782바이트는 3 MB와 3 MiB를 모두 넘습니다. 헤더부터 마지막 바이트까지 저장합니다. 삭제 범위를 64 KiB 경계로 올리므로 49개 블록, 쓰기는 총 12,289개 페이지에 해당합니다. 삭제 전에 전체 대상 영역을 PC에 백업합니다. 전체 이미지를 RAM에 보관하지 않습니다.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  <a:p xmlns:a="http://schemas.openxmlformats.org/drawingml/2006/main">
            <a:r>
              <a:t>/Users/minho/gradproj/bmp_gray_practice/Core/Src/uart_flash_test.c</a:t>
            </a:r>
          </a:p>
          <a:p xmlns:a="http://schemas.openxmlformats.org/drawingml/2006/main">
            <a:r>
              <a:t>https://www.st.com/resource/en/datasheet/stm32f746ng.pdf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슬라이드의 두 이미지는 실제 원본과 기존 보드 재읽기 파일입니다. 파일 전체를 비교해 일치하고 CRC32와 SHA-256도 동일합니다. SHA-256: 0bfd1da377908544c1b1d2c0e10f8a3b53434448786bcac53d12b27c50f1dd8c. 현재 자료 작성 때 파일을 다시 검증했습니다. 최신 펌웨어 Demo는 별도로 실행하여 새 보고서를 남깁니다.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폴더에서 python3 pc/demo_roundtrip.py를 실행합니다. 실제 칩 ID, 크기, CRC32, SHA-256, 전체 바이트 비교를 JSON으로 저장합니다. MCU를 RESET한 뒤 --read-only로 실행하면 PC 원본을 재전송하지 않고 Flash에서만 읽습니다. Serial Monitor를 종료해야 포트 점유 오류를 피합니다.</a:t>
            </a:r>
          </a:p>
          <a:p xmlns:a="http://schemas.openxmlformats.org/drawingml/2006/main">
            <a:r>
              <a:t>출처: /Users/minho/gradproj/bmp_gray_practice/pc/demo_roundtrip.py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PASS는 기존 실물 출력 파일과 구현 근거에 대한 상태입니다. 오늘 수정한 TX DMA 및 8비트 고정 펌웨어는 빌드와 프로그램 검사를 통과했고, 현장 전 최신 펌웨어로 다시 실물 Demo를 실행해야 합니다. W25Q32 실물 요구는 현재 W25Q128 시험과 구분합니다.</a:t>
            </a:r>
          </a:p>
          <a:p xmlns:a="http://schemas.openxmlformats.org/drawingml/2006/main">
            <a:r>
              <a:t>출처: /Users/minho/gradproj/bmp_gray_practice/presentation_oct20/output/evidence_existing.json</a:t>
            </a:r>
          </a:p>
          <a:p xmlns:a="http://schemas.openxmlformats.org/drawingml/2006/main">
            <a:r>
              <a:t>/Users/minho/gradproj/f746_bmp_gray/docs/hardware_setup.md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필수 Demo는 원본 그대로 복원입니다. 별도 기능인 회색조 출력은 현재 8비트로 고정했습니다. 비교 데이터는 이전 버전에서 같은 입력과 921600 baud로 각 1회 측정한 기록입니다. 입력 전송 시작부터 Gray 마지막 바이트 수신까지이며 백업 준비 44.18초는 별도입니다. 총시간 감소율 (95.600607-72.772918)/95.600607 = 23.878%입니다. 새 버전 반복 측정 결과로 일반화하지 않습니다.</a:t>
            </a:r>
          </a:p>
          <a:p xmlns:a="http://schemas.openxmlformats.org/drawingml/2006/main">
            <a:r>
              <a:t>출처: /Users/minho/gradproj/bmp_gray_practice/pc/results/timings.csv</a:t>
            </a:r>
          </a:p>
          <a:p xmlns:a="http://schemas.openxmlformats.org/drawingml/2006/main">
            <a:r>
              <a:t>/Users/minho/gradproj/bmp_gray_practice/presentation_oct20/output/evidence_existing.json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0e5c1c13e4b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48d9bdbed40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2711bbfb24c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3e96852b741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af51b6e314b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0e22ea95f44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DD191F-004B-4676-80E8-B55C54A72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9F61B9-1784-4FB1-9065-41EF7F14E0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E433C8-46B9-4DEA-999C-8D46651CB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76EA9B-8E60-4C0A-A7EE-C377CFD03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3AAEE1-05EA-4658-9D67-38D22CDA28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1DB7B7-E104-4064-B4B5-4F6E603D8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778DB5-678F-4016-AAC1-E5AD180C30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015531-535E-400A-8918-04FEBCFDDB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E21934-B546-4413-9B04-70D747AA9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79226C-021F-49C4-9627-27E837CD8A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3aa488cb7e405a" /><Relationship Type="http://schemas.openxmlformats.org/officeDocument/2006/relationships/slideLayout" Target="/ppt/slideLayouts/slideLayout1.xml" Id="Redf04059aa7a4936" /><Relationship Type="http://schemas.openxmlformats.org/officeDocument/2006/relationships/slideLayout" Target="/ppt/slideLayouts/slideLayout2.xml" Id="R2ebb2af937c7403a" /><Relationship Type="http://schemas.openxmlformats.org/officeDocument/2006/relationships/slideLayout" Target="/ppt/slideLayouts/slideLayout3.xml" Id="R6ea8b305313147f7" /><Relationship Type="http://schemas.openxmlformats.org/officeDocument/2006/relationships/slideLayout" Target="/ppt/slideLayouts/slideLayout4.xml" Id="R58be120bc5174cf4" /><Relationship Type="http://schemas.openxmlformats.org/officeDocument/2006/relationships/slideLayout" Target="/ppt/slideLayouts/slideLayout5.xml" Id="Ra0b53e6c7d624023" /><Relationship Type="http://schemas.openxmlformats.org/officeDocument/2006/relationships/slideLayout" Target="/ppt/slideLayouts/slideLayout6.xml" Id="R6171f3c303d244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04059aa7a4936"/>
    <p:sldLayoutId xmlns:r="http://schemas.openxmlformats.org/officeDocument/2006/relationships" id="2147483650" r:id="R2ebb2af937c7403a"/>
    <p:sldLayoutId xmlns:r="http://schemas.openxmlformats.org/officeDocument/2006/relationships" id="2147483651" r:id="R6ea8b305313147f7"/>
    <p:sldLayoutId xmlns:r="http://schemas.openxmlformats.org/officeDocument/2006/relationships" id="2147483652" r:id="R58be120bc5174cf4"/>
    <p:sldLayoutId xmlns:r="http://schemas.openxmlformats.org/officeDocument/2006/relationships" id="2147483653" r:id="Ra0b53e6c7d624023"/>
    <p:sldLayoutId xmlns:r="http://schemas.openxmlformats.org/officeDocument/2006/relationships" id="2147483654" r:id="R6171f3c303d2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f8d64639d8438a" /><Relationship Type="http://schemas.openxmlformats.org/officeDocument/2006/relationships/image" Target="/ppt/media/image.png" Id="R9a49d3c28f3a4037" /><Relationship Type="http://schemas.openxmlformats.org/officeDocument/2006/relationships/notesSlide" Target="/ppt/notesSlides/notesSlide1.xml" Id="R6bcc38dfa8834a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323b0cf704147" /><Relationship Type="http://schemas.openxmlformats.org/officeDocument/2006/relationships/notesSlide" Target="/ppt/notesSlides/notesSlide2.xml" Id="Rc91b2bbc639d40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33cda0b0b4d34" /><Relationship Type="http://schemas.openxmlformats.org/officeDocument/2006/relationships/notesSlide" Target="/ppt/notesSlides/notesSlide3.xml" Id="Ra8d541e3e6684d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40ee5293744b6" /><Relationship Type="http://schemas.openxmlformats.org/officeDocument/2006/relationships/notesSlide" Target="/ppt/notesSlides/notesSlide4.xml" Id="R427ff3485b4d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1a1213d9f4f29" /><Relationship Type="http://schemas.openxmlformats.org/officeDocument/2006/relationships/notesSlide" Target="/ppt/notesSlides/notesSlide5.xml" Id="R68d0b42d4a444e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961aad0a34975" /><Relationship Type="http://schemas.openxmlformats.org/officeDocument/2006/relationships/notesSlide" Target="/ppt/notesSlides/notesSlide6.xml" Id="Reba4648a32b746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2c6511f904673" /><Relationship Type="http://schemas.openxmlformats.org/officeDocument/2006/relationships/image" Target="/ppt/media/image2.png" Id="R35377694e86f4bab" /><Relationship Type="http://schemas.openxmlformats.org/officeDocument/2006/relationships/image" Target="/ppt/media/image3.png" Id="R4c2cf795fee2437f" /><Relationship Type="http://schemas.openxmlformats.org/officeDocument/2006/relationships/notesSlide" Target="/ppt/notesSlides/notesSlide7.xml" Id="R471de40704e54f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7f142a3f0445a" /><Relationship Type="http://schemas.openxmlformats.org/officeDocument/2006/relationships/notesSlide" Target="/ppt/notesSlides/notesSlide8.xml" Id="Rf58348ef1610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1c2e209ce4dc0" /><Relationship Type="http://schemas.openxmlformats.org/officeDocument/2006/relationships/notesSlide" Target="/ppt/notesSlides/notesSlide9.xml" Id="Rb8fbc791348b47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13ebcc9c744d9f" /><Relationship Type="http://schemas.openxmlformats.org/officeDocument/2006/relationships/image" Target="/ppt/media/image4.png" Id="R948856d81def4c94" /><Relationship Type="http://schemas.openxmlformats.org/officeDocument/2006/relationships/notesSlide" Target="/ppt/notesSlides/notesSlide10.xml" Id="Rc02acaaa96f544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338C3-909C-4494-872D-32BAA1147F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9d3c28f3a4037"/>
          <a:srcRect xmlns:a="http://schemas.openxmlformats.org/drawingml/2006/main" l="19444" t="0" r="19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8C000-D48F-4366-9A00-AAB6828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UART 및 SPI Flash</a:t>
            </a:r>
          </a:p>
          <a:p xmlns:a="http://schemas.openxmlformats.org/drawingml/2006/main">
            <a:pPr>
              <a:def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기본 기능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7A3B9-2C01-40C7-8CF4-75F7206D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STM32F746G-DISCO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272B4-B659-4E5C-A613-BCFF1693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2차 발표</a:t>
            </a:r>
          </a:p>
          <a:p xmlns:a="http://schemas.openxmlformats.org/drawingml/2006/main">
            <a:pPr>
              <a:def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2026년 10월 20일</a:t>
            </a:r>
          </a:p>
        </p:txBody>
      </p:sp>
    </p:spTree>
    <p:extLst>
      <p:ext uri="{BB962C8B-B14F-4D97-AF65-F5344CB8AC3E}">
        <p14:creationId xmlns:p14="http://schemas.microsoft.com/office/powerpoint/2010/main" val="1793148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D6629-4636-4FE7-A6C0-305F8DA2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이번 Demo의 확인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D970B-7BE4-4741-AFDB-7DB5AE58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D4EA0-94AB-45EC-80C4-31BC9CF6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3 MiB 이상의 BMP 전체를 Flash에 저장하고 원본으로 복원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A3CD4-BE18-4E1C-82F8-FA2A0A768A01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29615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발표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방법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PC와 STM32 UART 통신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8N1 바이너리 전송, DMA 수신 및 송신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STM32와 SPI Flash 통신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JEDEC ID와 상태 레지스터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Flash Read / Write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삭제, 페이지 쓰기, 주소 기반 재읽기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MB 이상 전송 및 저장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3,145,782바이트 BMP 전체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 데이터 복원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Flash에서 읽어 PC에 BMP 파일로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무결성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CRC32, SHA-256, 전체 바이트 비교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9506D-C8BA-4D6C-A33E-EAB5BAAA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실제 하드웨어와 과제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9293-FF22-4D1A-8F9B-75542195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73219-41D2-42A4-A077-F60AE9498B21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19575"/>
                <a:gridCol w="4219575"/>
              </a:tblGrid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확인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과제 조건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MCU / 보드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STM32F746G-DISCO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STM32 MCU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Flash 모델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W25Q128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W25Q32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물리 용량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 MiB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MiB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JEDEC 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EF 40 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EF 40 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이미지 영역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4 MiB 안으로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MB 이상 전체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014A9-035B-4A07-B0EF-775F9EB2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A64F1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64F1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A64F16"/>
                </a:solidFill>
                <a:latin typeface="Apple SD Gothic Neo"/>
                <a:ea typeface="Apple SD Gothic Neo"/>
                <a:cs typeface="Apple SD Gothic Neo"/>
              </a:rPr>
              <a:t>현재 칩 대체 허용 여부를 확인해야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2082377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DBF7B-273A-47C3-B9D9-FE152537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UART 8N1과 Double Buffer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A5405-DA95-4BF3-A2AA-3D4A440B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B274F-9793-446B-A488-E50A2FC0E75A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 연결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ST-LINK 가상 COM, USART1 PA9 / PB7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UART 프레임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8비트, 패리티 없음, 정지 1비트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비교 실험 속도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921600 baud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 버퍼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KiB 두 개, 하드웨어 Double Buffer Mode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송신 버퍼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KiB 두 개, UART TX DMA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흐름 제어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 KiB 청크 CRC, ACK, 최대 두 청크 전송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A8A1B-E46C-4F55-AB90-FEB75EEC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Flash 기록 중에도 다음 청크를 DMA로 수신</a:t>
            </a:r>
          </a:p>
        </p:txBody>
      </p:sp>
    </p:spTree>
    <p:extLst>
      <p:ext uri="{BB962C8B-B14F-4D97-AF65-F5344CB8AC3E}">
        <p14:creationId xmlns:p14="http://schemas.microsoft.com/office/powerpoint/2010/main" val="1681558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EF907-21CA-40CC-BC23-328D705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SPI Flash Read / Write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4DE01-7559-49BF-8895-2AFB2DA7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6847C-BDE3-4288-8A42-A91B4241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QUADSPI 컨트롤러, SPI 1-1-1, Mode 0, 27 MHz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12AFF-57FE-4C1A-8068-5E2F55746099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524000"/>
                <a:gridCol w="66294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명령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칩 식별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9Fh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JEDEC ID 읽기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쓰기 허용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06h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Write Enable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 확인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05h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BUSY와 WEL 비트 확인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블록 삭제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D8h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64 KiB 단위 삭제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페이지 쓰기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02h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256바이트, 페이지 경계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03h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24비트 주소로 Flash 데이터 읽기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534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08F1E-35E1-42DF-822E-84B2DAB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대용량 이미지 저장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570E9-EF30-4930-85E6-077DBBB4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D584A-B273-457B-9C3F-80174336385B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3914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BMP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1024 × 1024, 24비트 True Color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파일 크기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이미지 주소 영역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0x000000 ~ 0x3EFFFF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삭제 범위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3,211,264 B, 64 KiB 블록 49개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페이지 쓰기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256 B 단위, 총 12,289회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RAM 처리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작은 청크 버퍼 재사용, MCU SRAM 320 KiB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05A7E-9985-4C4A-BD4F-1F8C99BC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삭제할 범위는 저장 전에 PC에 백업</a:t>
            </a:r>
          </a:p>
        </p:txBody>
      </p:sp>
    </p:spTree>
    <p:extLst>
      <p:ext uri="{BB962C8B-B14F-4D97-AF65-F5344CB8AC3E}">
        <p14:creationId xmlns:p14="http://schemas.microsoft.com/office/powerpoint/2010/main" val="689036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4F7A2-D3DB-4C7E-9D1F-49232977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원본과 Flash 재읽기 파일이 일치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ABC9-D8E6-433A-B940-7B7C26E2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1222C-5A46-4A46-B812-569AFC9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200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PC 원본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7F5D0-2282-4A59-A937-1FE67BE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2001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Flash 재읽기 파일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9E702-C982-4EBD-86AE-FE6F31A00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77694e86f4bab"/>
          <a:stretch xmlns:a="http://schemas.openxmlformats.org/drawingml/2006/main"/>
        </p:blipFill>
        <p:spPr>
          <a:xfrm xmlns:a="http://schemas.openxmlformats.org/drawingml/2006/main">
            <a:off x="1524000" y="16573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13CAD-6343-4F2E-805B-7516F3298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cf795fee2437f"/>
          <a:stretch xmlns:a="http://schemas.openxmlformats.org/drawingml/2006/main"/>
        </p:blipFill>
        <p:spPr>
          <a:xfrm xmlns:a="http://schemas.openxmlformats.org/drawingml/2006/main">
            <a:off x="7429500" y="1657350"/>
            <a:ext cx="3143250" cy="3143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87537-8E8B-44EF-9CF4-74F1AD540D5C}"/>
              </a:ext>
            </a:extLst>
          </p:cNvPr>
          <p:cNvGraphicFramePr/>
          <p:nvPr/>
        </p:nvGraphicFramePr>
        <p:xfrm>
          <a:off xmlns:a="http://schemas.openxmlformats.org/drawingml/2006/main" x="685800" y="4991100"/>
          <a:ext xmlns:a="http://schemas.openxmlformats.org/drawingml/2006/main" cx="108204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81450"/>
                <a:gridCol w="3981450"/>
              </a:tblGrid>
              <a:tr h="4191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4191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파일 크기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CRC32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978AB7D9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978AB7D9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136CE-6FE7-4382-9E9E-2FBC9B35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전체 바이트 일치, SHA-256 일치</a:t>
            </a:r>
          </a:p>
        </p:txBody>
      </p:sp>
    </p:spTree>
    <p:extLst>
      <p:ext uri="{BB962C8B-B14F-4D97-AF65-F5344CB8AC3E}">
        <p14:creationId xmlns:p14="http://schemas.microsoft.com/office/powerpoint/2010/main" val="1187600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4427C-D51A-45AD-87CD-C58C0FF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현장 Demo 실행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A5D72-C592-4222-9AB9-84E9EE47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FAF37-22A3-405A-9C80-EC30158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57938-99B1-410B-BB07-7FF724F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원본 BMP를 열어 크기와 이미지를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9FDA1-6CF5-4C23-B0ED-6D8D707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269CC-B143-40B3-95D9-9F5A5FF4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Serial Monitor 종료, 새 펌웨어 실행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24ACA-0064-4E9A-92EC-FA043771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C7633-945D-4E2C-BE22-3D108512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Demo 프로그램 실행, 백업과 저장 진행률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E4CA9-4D8E-4CA7-9E1C-B8943D18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484AB-81F3-46D3-A7D1-BF4983D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PASS, CRC32, SHA-256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BF34F-6293-4F2D-B8F7-58A0E8E1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575B2-2739-4D2C-A283-9C668F35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복원 BMP를 열어 원본과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2D061-8833-4D4D-A66B-5079F86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python3 pc/demo_roundtrip.py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F7FE8-E031-428A-9437-57EC70E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864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리셋 후 읽기 전용 확인: 같은 명령에 --read-only 추가</a:t>
            </a:r>
          </a:p>
        </p:txBody>
      </p:sp>
    </p:spTree>
    <p:extLst>
      <p:ext uri="{BB962C8B-B14F-4D97-AF65-F5344CB8AC3E}">
        <p14:creationId xmlns:p14="http://schemas.microsoft.com/office/powerpoint/2010/main" val="648783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130C4-99E7-4165-B349-33A4048C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확인된 결과와 남은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01CA5-27AF-45E1-997A-061F1588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7E088-CB1D-4561-887E-60ABBEA246C7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391400"/>
              </a:tblGrid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 / 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 MiB 이상 원본 복원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B, 기존 결과 파일 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무결성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CRC32, SHA-256, 전체 바이트 비교 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UART Double Buffer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수신 전환 기록, 이전 실험 버퍼 초과 0회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 유지 증명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RESET 후 읽기 전용 Demo 준비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W25Q32 사용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W25Q128, 대체 조건 확인 필요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D5F97-6783-4B8C-A91E-325396AE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발표 직전 새 Demo 보고서로 결과를 갱신</a:t>
            </a:r>
          </a:p>
        </p:txBody>
      </p:sp>
    </p:spTree>
    <p:extLst>
      <p:ext uri="{BB962C8B-B14F-4D97-AF65-F5344CB8AC3E}">
        <p14:creationId xmlns:p14="http://schemas.microsoft.com/office/powerpoint/2010/main" val="15918836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FFF1C-DA08-4DC5-9B5A-92A05E5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추가 기능: 8비트 Gray 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B9C39-F476-4256-8FB7-3901A172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7B6FE-0331-4284-A0A4-CE8CBCC70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856d81def4c94"/>
          <a:stretch xmlns:a="http://schemas.openxmlformats.org/drawingml/2006/main"/>
        </p:blipFill>
        <p:spPr>
          <a:xfrm xmlns:a="http://schemas.openxmlformats.org/drawingml/2006/main">
            <a:off x="685800" y="167640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71CB4-D75A-4572-AFCD-B5D9EBDB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478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66B85"/>
                </a:solidFill>
                <a:latin typeface="Apple SD Gothic Neo"/>
                <a:ea typeface="Apple SD Gothic Neo"/>
                <a:cs typeface="Apple SD Gothic Neo"/>
              </a:rPr>
              <a:t>23.9% 시간 감소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E9EB0-60FF-4E9F-9067-234DA6A5B0CC}"/>
              </a:ext>
            </a:extLst>
          </p:cNvPr>
          <p:cNvGraphicFramePr/>
          <p:nvPr/>
        </p:nvGraphicFramePr>
        <p:xfrm>
          <a:off xmlns:a="http://schemas.openxmlformats.org/drawingml/2006/main" x="4476750" y="2495550"/>
          <a:ext xmlns:a="http://schemas.openxmlformats.org/drawingml/2006/main" cx="702945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343150"/>
                <a:gridCol w="2352675"/>
              </a:tblGrid>
              <a:tr h="6858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비교 기록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24비트 Gray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8비트 Gray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T w="9525">
                      <a:solidFill>
                        <a:srgbClr val="D6E0E8"/>
                      </a:solidFill>
                      <a:prstDash val="solid"/>
                    </a:lnT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14304B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출력 크기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3,145,782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1,049,654 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시간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0E8"/>
                      </a:solidFill>
                      <a:prstDash val="solid"/>
                    </a:lnL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95.60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00" b="0">
                          <a:solidFill>
                            <a:srgbClr val="14304B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72.77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0E8"/>
                      </a:solidFill>
                      <a:prstDash val="solid"/>
                    </a:lnR>
                    <a:lnB w="9525">
                      <a:solidFill>
                        <a:srgbClr val="D6E0E8"/>
                      </a:solidFill>
                      <a:prstDash val="solid"/>
                    </a:lnB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EE256-049F-4A0A-92B3-B88A92C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702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4304B"/>
                </a:solidFill>
                <a:latin typeface="Apple SD Gothic Neo"/>
                <a:ea typeface="Apple SD Gothic Neo"/>
                <a:cs typeface="Apple SD Gothic Neo"/>
              </a:rPr>
              <a:t>현재 운용 출력은 8비트 Gray로 고정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F9839-E364-44AA-AA50-BA0A350E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A"/>
                </a:solidFill>
                <a:latin typeface="Apple SD Gothic Neo"/>
                <a:ea typeface="Apple SD Gothic Neo"/>
                <a:cs typeface="Apple SD Gothic Neo"/>
              </a:rPr>
              <a:t>각 1회 측정, 921600 baud, 백업 준비 제외</a:t>
            </a:r>
          </a:p>
        </p:txBody>
      </p:sp>
    </p:spTree>
    <p:extLst>
      <p:ext uri="{BB962C8B-B14F-4D97-AF65-F5344CB8AC3E}">
        <p14:creationId xmlns:p14="http://schemas.microsoft.com/office/powerpoint/2010/main" val="809300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2026-10-13T09:42:04.4820000Z</dcterms:created>
  <dcterms:modified xsi:type="dcterms:W3CDTF">2026-10-13T09:42:04.4820000Z</dcterms:modified>
</coreProperties>
</file>