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개요" id="{77FE7CE8-4A0F-EBB2-B7E3-B5EA3D10F099}">
          <p14:sldIdLst>
            <p14:sldId id="256"/>
            <p14:sldId id="257"/>
            <p14:sldId id="258"/>
          </p14:sldIdLst>
        </p14:section>
        <p14:section name="구조와 구현" id="{A82782C5-80CA-3B8F-687A-1F437F075D4A}">
          <p14:sldIdLst>
            <p14:sldId id="259"/>
            <p14:sldId id="260"/>
            <p14:sldId id="261"/>
          </p14:sldIdLst>
        </p14:section>
        <p14:section name="검증" id="{DACC98B6-6F6C-BCA4-9409-1A8273852C25}">
          <p14:sldIdLst>
            <p14:sldId id="262"/>
            <p14:sldId id="263"/>
            <p14:sldId id="264"/>
            <p14:sldId id="265"/>
            <p14:sldId id="266"/>
            <p14:sldId id="267"/>
          </p14:sldIdLst>
        </p14:section>
        <p14:section name="Demo" id="{50DE6281-F1E6-02E2-B015-297A3610F427}">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650"/>
    <p:restoredTop sz="94610"/>
  </p:normalViewPr>
  <p:slideViewPr>
    <p:cSldViewPr snapToGrid="0" snapToObjects="1">
      <p:cViewPr varScale="1">
        <p:scale>
          <a:sx n="120" d="100"/>
          <a:sy n="120" d="100"/>
        </p:scale>
        <p:origin x="1200" y="176"/>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6155696"/>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1조 2차 발표 시작하겠습니다. 내용은 UART 및 SPI FLASH 기본 기능 구현입니다.</a:t>
            </a:r>
          </a:p>
          <a:p>
            <a:endParaRPr lang="ko-KR" altLang="en-US" dirty="0"/>
          </a:p>
          <a:p>
            <a:r>
              <a:rPr lang="ko-KR" altLang="en-US" dirty="0"/>
              <a:t>출처: presentation_oct20/output/evidence_existing.json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먼저 발표 요구사항의 충족 현황입니다.</a:t>
            </a:r>
          </a:p>
          <a:p>
            <a:r>
              <a:rPr lang="ko-KR" altLang="en-US" dirty="0"/>
              <a:t>PC와 STM32 UART 통신은 8N1 바이너리와 DMA를 이용해 구현하였음. 전체 데이터 흐름은 PC 데이터 -&gt; RX UART 신호 받고 UART 수신 레지스터에 담음 -&gt; UART가 DMA에 요청 보내면 DMA가 UART 수신 레지스터에서 RAM 버퍼로 데이터를 옮김</a:t>
            </a:r>
          </a:p>
          <a:p>
            <a:r>
              <a:rPr lang="ko-KR" altLang="en-US" dirty="0"/>
              <a:t>- DMA 사용 이유? : UART로 수신한 데이터를 DMA가 RAM 버퍼로 옮기도록 해 CPU의 반복적인 데이터 이동 부담을 줄임 또한 BMP 파일을 바이트 단위로 그대로 전송하기 위해 8N1 바이너리 방식을 사용하고, 수신 데이터의 오류는 패리티 비트 대신 CRC32로 확인</a:t>
            </a:r>
          </a:p>
          <a:p>
            <a:r>
              <a:rPr lang="ko-KR" altLang="en-US" dirty="0"/>
              <a:t>- 굳이 패리티 빼고 CRC로 검증한 이유? : 패리티는 매 바이트마다 1비트씩 추가가되는데 crc 경우는 청크마다 4바이트가 추가하는거라 큰 청크에서는 전송량 부담을 덜 수 있다고 생각</a:t>
            </a:r>
          </a:p>
          <a:p>
            <a:endParaRPr lang="ko-KR" altLang="en-US" dirty="0"/>
          </a:p>
          <a:p>
            <a:r>
              <a:rPr lang="ko-KR" altLang="en-US" dirty="0"/>
              <a:t>STM32와 FLASH 통신은 QUADSPI 하드웨어의 SPI 1-1-1 방식으로 구현하였음. 명령 주소 데이터를 각각 데이터 선 1개를 이용해서 한 클락마다 1비트씩 전달함. 데이터 선 1개 쓰는데 SPI가 아니라 굳이 quadspi 쓴 이유는 보드에서 FLASH칩이 QUADSPI용 핀에 연결되어 있어서 불가피하게 사용.</a:t>
            </a:r>
          </a:p>
          <a:p>
            <a:r>
              <a:rPr lang="ko-KR" altLang="en-US" dirty="0"/>
              <a:t>STM에서 JEDEC ID를 확인과 WEL이라는 쓰기 허용 비트와 작업 중임을 나타내는 BUSY 비트를 통해 쓰는 과정과 재읽기 비교 완료까지 확인했음.</a:t>
            </a:r>
          </a:p>
          <a:p>
            <a:endParaRPr lang="ko-KR" altLang="en-US" dirty="0"/>
          </a:p>
          <a:p>
            <a:r>
              <a:rPr lang="ko-KR" altLang="en-US" dirty="0"/>
              <a:t>flash 칩 쓰기 읽기는</a:t>
            </a:r>
          </a:p>
          <a:p>
            <a:r>
              <a:rPr lang="ko-KR" altLang="en-US" dirty="0"/>
              <a:t>flash 칩을 먼저 블록 단위로 지우고, 256바이트 단위로 쓰고, 청크 단위로 연속적으로 읽는 방식, 읽은 후 pc에서 받은 청크와 flash에서 읽은 청크를 비교해서 memcmp 확인해 정상적으로 flash에 데이터가 이동했는지 확인</a:t>
            </a:r>
          </a:p>
          <a:p>
            <a:endParaRPr lang="ko-KR" altLang="en-US" dirty="0"/>
          </a:p>
          <a:p>
            <a:r>
              <a:rPr lang="ko-KR" altLang="en-US" dirty="0"/>
              <a:t>총 3145782 바이트의 BMP 전체를 이동했고, 이 과정에서 49블록을 삭제하고 12289페이지 쓰기를 정상적으로 진행했음. flash에서 pc로 데이터를 복원해보았고, CRC32, sha-256, memcmp로 바이트 비교 검증을 통해 일치함을 확인했음. (sha-256은 각 데이터의 256비트로 계산해서 비교, CRC32는 32비트로 계산해서 비교, memcmp는 진짜 데이터 하나하나를 읽는거)</a:t>
            </a:r>
          </a:p>
          <a:p>
            <a:r>
              <a:rPr lang="ko-KR" altLang="en-US" dirty="0"/>
              <a:t>-어떤때는 CRC 쓰는거고 어떤때는 memcmp를 쓰는거냐 ?</a:t>
            </a:r>
          </a:p>
          <a:p>
            <a:r>
              <a:rPr lang="ko-KR" altLang="en-US" dirty="0"/>
              <a:t>비교 자체는 stm의 cpu가 펌웨어를 실행해서 비교하는데 처음에 pc와 stm 값을 비교할려면 결국에 stm 자체에 받은 값 밖에 없으니까 한번더 전송을 받아서 비교를 하던가 해야하는데 비트수 다받는건 비효율적이고 4바이트만 받으면 되니까 그걸로 한거고, flash 저장 자체는 두 데이터 다 stm 안에 있는거니까 그냥 바이트 비교 한거고, 마지막은 신뢰성을 좀 더 높이기 위해 일단 다 해봤다</a:t>
            </a:r>
          </a:p>
          <a:p>
            <a:endParaRPr lang="ko-KR" altLang="en-US" dirty="0"/>
          </a:p>
          <a:p>
            <a:r>
              <a:rPr lang="ko-KR" altLang="en-US" dirty="0"/>
              <a:t>전원을 끄더라도 ram 전체 데이터가 지워지는 것은 아니어서 ram을 다른 값으로 덮어쓰는 과정을 추가했음. ram을 덮어쓰고 stm32 리셋후 readonly를 이용해 flash 데이터를 pc로 복원해 원본과 비교한 과정도 일치했음.</a:t>
            </a:r>
          </a:p>
          <a:p>
            <a:endParaRPr lang="ko-KR" altLang="en-US" dirty="0"/>
          </a:p>
          <a:p>
            <a:r>
              <a:rPr lang="ko-KR" altLang="en-US" dirty="0"/>
              <a:t>출처: README.md 보드 검증 결과(2026-10-15), pc/results/demo_report_20261015_*.json, run_all.py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과제에서 지정한 Flash는 4 MiB 용량의 W25Q32이지만, 교수님의 피드백 때문에 discovery 보드를 사용했고 이 보드는 16 MiB 용량의 W25Q128 칩이어서 이를 사용했다.</a:t>
            </a:r>
          </a:p>
          <a:p>
            <a:r>
              <a:rPr lang="ko-KR" altLang="en-US" dirty="0"/>
              <a:t>이를 고려해 이미지 저장 주소를 첫 4 MiB 안으로 제한하고, 사용한 여섯 가지 명령도 W25Q32 데이터시트를 기준으로 구성했다.</a:t>
            </a:r>
          </a:p>
          <a:p>
            <a:r>
              <a:rPr lang="ko-KR" altLang="en-US" dirty="0"/>
              <a:t>프로그램은 두 칩의 ID를 모두 허용하도록 구현했지만, 실제 저장과 복원은 W25Q128에서만 검증했다. 따라서 칩을 기존대로 유지해도되는지, 아니면 새로 구입을 해야하는지 여부를 교수님에게 여쭤보고 싶다</a:t>
            </a:r>
          </a:p>
          <a:p>
            <a:endParaRPr lang="ko-KR" altLang="en-US" dirty="0"/>
          </a:p>
          <a:p>
            <a:r>
              <a:rPr lang="ko-KR" altLang="en-US" dirty="0"/>
              <a:t>출처: f746_bmp_gray/docs/hardware_setup.md
https://www.st.com/resource/en/user_manual/um1907-discovery-kit-for-stm32f7-series-with-stm32f746ng-mcu-stmicroelectronics.pdf
https://media.digikey.com/pdf/Data%20Sheets/Winbond%20PDFs/W25Q32JV_RevI_5-4-21.pdf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데이터 경로입니다. PC의 demo_roundtrip.py가 ST-LINK 가상 COM 포트를 통해 USART1과 통신합니다. USART1은 수신과 송신 모두 4 KiB 버퍼 두 개를 DMA로 사용합니다. 펌웨어는 청크 단위 CRC 확인과 ACK, Flash 주소 관리를 맡고, QUADSPI 주변장치가 SPI 1-1-1, Mode 0, 27 MHz로 W25Q128에 명령을 보냅니다.
번호는 검증 지점입니다. 1번은 PC와 STM32 사이의 UART 구간, 2번은 DMA 버퍼와 펌웨어 사이, 3번은 STM32와 Flash 사이, 4번 점선은 PC의 원본과 Flash에서 다시 읽어 만든 파일의 종단 간 비교입니다. 각 지점을 확인하는 실제 코드는 7장부터 10장까지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UART는 921600 baud, 8N1로 파일의 바이트를 그대로 보냅니다. 여기서 8비트는 UART 데이터 단위이고, BMP 픽셀 형식과는 별개입니다. 원본은 24비트 BMP입니다.
수신은 STM32 DMA의 하드웨어 Double Buffer Mode를 썼습니다. M0와 M1이 각각 4096바이트이고, 한쪽이 차면 DMA가 자동으로 다른 쪽에 받기 시작합니다. 완료 콜백으로 지금 어느 은행이 채워지고 있는지 추적하고, 파일 끝처럼 버퍼가 다 차지 않은 경우는 NDTR로 받은 길이를 계산합니다.
PC는 4 KiB 청크마다 앞에 CRC32 4바이트를 붙여 보냅니다. 펌웨어는 청크 하나를 받으면 CRC를 확인하고, 64 KiB 경계면 블록을 지우고, 256바이트 페이지 단위로 쓴 뒤 다시 읽어 비교하고 나서 ACK를 보냅니다. 어느 단계든 실패하면 ERROR를 보내고 멈춥니다. Flash에서 읽어 PC로 보낼 때는 TX도 4 KiB 두 개의 DMA 버퍼를 씁니다.
출처: Core/Src/uart_dma_rx.c, uart_dma_tx.c, uart_flash_test.c, pc/bmp_store.py, UM1907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주소 지도입니다. 막대 전체가 W25Q32 용량과 같은 4 MiB입니다.
입력 파일은 3,145,782바이트로 3 MB와 3 MiB(3,145,728바이트)를 모두 넘습니다. 헤더부터 마지막 바이트까지 0x000000부터 저장하므로 파일 끝은 0x300035입니다. 삭제는 64 KiB 블록 단위라 경계를 올려 49개 블록, 3,211,264바이트를 지웁니다. 별도 단계로 한 번에 지우는 것이 아니라, 수신 중 64 KiB 경계에 닿을 때마다 그 블록을 지웁니다. 쓰기는 256바이트 페이지 단위로 12,289번입니다. 이미지 영역은 0x3EFFFF까지로 잡아 두었습니다.
MCU의 SRAM은 320 KiB라 이미지 전체를 RAM에 올릴 수 없습니다. 그래서 4 KiB 청크 버퍼를 재사용하며 바로 Flash에 씁니다.
주소 0x300035, 0x30FFFF는 파일 크기와 블록 수로 계산한 값입니다.
출처: evidence_existing.json, Core/Src/uart_flash_test.c, STM32F746NG 데이터시트</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블록 다이어그램의 1번과 3번 구간을 확인하는 펌웨어 코드입니다. 파일 수신 함수 receive_file에서 4 KiB 청크 하나를 처리하는 순서를 그대로 가져왔고, 색이 들어간 줄이 확인 조건입니다.
257, 258행에서 CRC 헤더와 청크를 DMA 버퍼에서 읽는데, 시간 초과나 버퍼 초과가 있으면 그 자리에서 중단합니다. 263행에서 PC가 붙여 보낸 CRC와 비교하고, 다르면 Flash를 건드리기 전에 멈춥니다. 268행에서 64 KiB 경계일 때만 블록을 지우고, 279행에서 256바이트 페이지 단위로 씁니다.
가장 중요한 부분은 285, 286행입니다. 방금 쓴 영역을 Flash에서 다시 읽어 받은 데이터와 memcmp로 비교합니다. 그래서 PC가 받는 ACK는 "받았다"가 아니라 "Flash에 쓰고 다시 읽어 같았다"는 뜻입니다. 291행에서 다시 읽은 데이터로 CRC를 누적하고, 루프가 끝나면 297행에서 파일 전체 CRC를 비교해 FILE STORED를 보냅니다.
출처: Core/Src/uart_flash_test.c 233–307행 (커밋 926d3fc)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 구간, DMA 이중 버퍼와 펌웨어 사이의 확인 코드입니다.
uart_dma_rx.c에서는 두 가지로 버퍼 초과를 감지합니다. 54행은 DMA 완료 인터럽트가 M0, M1 순서대로 오지 않으면, 즉 한 은행을 처리하기 전에 다음 은행이 또 찼다면 초과로 셉니다. 134행과 152행은 DMA가 쓴 바이트 수에서 CPU가 읽은 바이트 수를 뺀 값이 버퍼 전체 8 KiB를 넘는지 봅니다. 152행은 memcpy 이후에 다시 확인해서, 복사하는 동안 DMA가 덮어쓴 데이터를 받아들이지 않게 합니다. 초과가 생기면 rx_error가 켜지고 수신이 실패로 끝납니다.
Demo 프로그램은 55행에서 마지막에 통계를 받아 초과가 있으면 실패로 처리합니다. 10월 15일 최신 저장 실행에서 M0 384회, M1 384회, 초과 0회였습니다.
출처: Core/Src/uart_dma_rx.c, pc/demo_roundtrip.py, pc/results/demo_report_20261015_200146_452196.json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 구간, STM32와 Flash 사이 명령을 확인하는 코드입니다. 오른쪽 위가 실제 명령 순서입니다.
wait_ready는 66행에서 05h로 상태 레지스터 1을 읽고, 69행에서 BUSY 비트가 0이 될 때까지 기다립니다. 정해진 시간 안에 풀리지 않으면 HAL_TIMEOUT으로 실패합니다.
write_enable은 06h를 보내는 것에서 끝나지 않고, 86행에서 상태를 다시 읽어 WEL이 1이고 BUSY가 0인지 확인합니다. Write Enable이 실제로 걸렸는지 확인한 뒤에만 쓰기나 삭제 명령을 보냅니다.
페이지 쓰기 함수는 104행에서 256바이트 페이지 경계를 넘는 요청을 거부하고, 쓰기 후 118행에서 완료를 기다립니다. 64 KiB 블록 삭제는 231행부터 삭제 전 대기, WREN, D8h, 삭제 후 대기 순서입니다.
칩 ID는 main.c에서 0x9F로 읽고, 펌웨어와 PC 프로그램 모두 EF4018과 EF4016만 허용합니다. QSPI는 prescaler 7로 216 MHz를 8분주해 27 MHz, Clock Mode 0입니다.
출처: Core/Src/flash_test.c, Core/Src/main.c, Core/Src/uart_flash_test.c 356–358행</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4번, 종단 간 확인 코드입니다.
PC는 30, 31행에서 원본의 CRC32와 SHA-256을 먼저 계산합니다. 45행에서 --read-only가 아니면 파일을 보내 저장하고, --read-only이면 이 줄을 건너뛰고 Flash에서 읽기만 합니다. 다음 장에서 RAM을 모두 덮어쓴 뒤 이 모드로 복원한 결과를 보여드리겠습니다.
Flash에서 읽어 보낼 때 MCU는 221행에서 실제로 읽은 데이터로 CRC를 계산해 228행에서 마지막 줄로 보고하고, PC는 85행에서 자기가 받은 데이터의 CRC와 비교합니다. 전송 중 손상을 여기서 잡습니다.
마지막으로 50, 51행에서 원본과 복원 파일을 바이트 단위로 비교하고 CRC32와 SHA-256도 비교해서 하나라도 다르면 실패합니다. 통과하면 PASS와 함께 JSON 보고서를 남깁니다.
출처: pc/demo_roundtrip.py, pc/bmp_store.py, Core/Src/uart_flash_test.c (커밋 926d3fc)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Flash에 정말 저장되어 있는지를 두 가지 방법으로 확인했습니다. 둘 다 run_all.py의 마지막 두 단계입니다.
증명 1은 우리 펌웨어를 전혀 거치지 않는 방법입니다. STM32CubeProgrammer의 ST 외부 로더로 QSPI Flash 칩을 0x90000000 메모리 맵 주소부터 원본 크기만큼 직접 덤프하고, 205행에서 원본 BMP와 바이트 단위로 비교합니다. 일치했습니다. 우리 읽기 코드에 버그가 있어도 이 비교는 영향을 받지 않습니다.
증명 2는 RAM에 남은 데이터로 복원했을 가능성을 지우는 방법입니다. 210행에서 SWD로 RAM 0x20000000부터 0x50000바이트, 즉 320 KB 전체를 0xA5로 채우고, 213행에서 처음·중간·끝 세 위치를 다시 읽어 확인합니다. 그 뒤 보드를 리셋하고 218행에서 --read-only로 원본 재전송 없이 Flash에서만 복원했고, 원본과 전체 바이트가 일치했습니다. 시간은 34.6초였습니다. Gray 변환만 따로 실행해도 기준 변환과 일치했습니다.
이미지 자체가 3 MB가 넘어서 320 KB RAM에 들어갈 수 없고, 보드의 SDRAM은 초기화하지 않으며 MPU로 접근을 막아 두었다는 점도 함께 말씀드립니다.
출처: run_all.py 196–219행, README.md 보드 검증 결과(2026-10-15)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10월 15일 최신 펌웨어로 실행한 결과입니다. 원본을 보내 저장한 뒤 다시 읽는 실행과, 원본을 보내지 않고 Flash에서만 읽는 실행 모두 3,145,782바이트 전체가 일치했고 CRC32 978AB7D9, SHA-256도 같았습니다.
SHA-256 전체 값: 0bfd1da377908544c1b1d2c0e10f8a3b53434448786bcac53d12b27c50f1dd8c
저장 실행에서 DMA 은행 M0과 M1이 각각 384번 채워졌고 버퍼 초과는 0회였습니다. 시간은 저장과 복원을 포함해 86.5초, 읽기 전용 복원은 34.6초였습니다. 프로젝트 스크립트와 별도로 shasum과 cmp로도 복원 파일을 원본과 비교해 일치함을 확인했습니다.
출처: pc/results/demo_report_20261015_200146_452196.json, demo_report_20261015_200453_061600.json, README.md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 Demo는 run_all.py 하나로 진행합니다. macOS에서는 run_all.sh로도 같은 스크립트를 실행합니다. Serial Monitor와 VS Code 디버그 세션이 포트나 ST-LINK를 잡고 있으면 스크립트가 처음에 멈추므로 먼저 닫습니다.
스크립트는 PC 단위 테스트, C 모의 테스트, 펌웨어 빌드, 다운로드와 검증, 원본 저장과 복원, Gray 전체 과정, 1 KiB 반복 저장, Flash 칩 직접 덤프, RAM 덮어쓰기 후 복원까지 9단계를 차례로 실행하고, 어느 단계든 실패하면 그 자리에서 멈춥니다. 10월 15일 실행에서는 약 4분 만에 모든 단계를 통과했습니다.
시간이 부족하면 5단계 demo_roundtrip.py와 9단계의 --read-only 복원만 따로 보여드리겠습니다.
남은 확인 항목은 Flash 칩 모델입니다. W25Q128 대체가 허용되는지 의견 주시면 감사하겠습니다. 이상입니다.
출처: run_all.py, README.md 보드 검증 결과(2026-10-15)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rtlCol="0"/>
          <a:lstStyle>
            <a:lvl1pPr marL="0" indent="0" algn="l">
              <a:buNone/>
              <a:defRPr lang="en-US" sz="2600" b="1" dirty="0">
                <a:solidFill>
                  <a:srgbClr val="1F2933"/>
                </a:solidFill>
                <a:latin typeface="Malgun Gothic" pitchFamily="34" charset="0"/>
                <a:ea typeface="Malgun Gothic" pitchFamily="34" charset="-122"/>
                <a:cs typeface="Malgun Gothic" pitchFamily="34" charset="-120"/>
              </a:defRPr>
            </a:lvl1pPr>
          </a:lstStyle>
          <a:p>
            <a:pPr marL="0" indent="0" algn="l">
              <a:buNone/>
            </a:pPr>
            <a:endParaRPr 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8A94A3"/>
                </a:solidFill>
                <a:latin typeface="Malgun Gothic" pitchFamily="34" charset="0"/>
                <a:ea typeface="Malgun Gothic" pitchFamily="34" charset="-122"/>
                <a:cs typeface="Malgun Gothic" pitchFamily="34" charset="-120"/>
              </a:rPr>
              <a:t>UART · SPI Flash 2차 발표 · 2026.10.21</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17320"/>
            <a:ext cx="6217920" cy="365760"/>
          </a:xfrm>
          <a:prstGeom prst="rect">
            <a:avLst/>
          </a:prstGeom>
          <a:noFill/>
          <a:ln/>
        </p:spPr>
        <p:txBody>
          <a:bodyPr wrap="square" lIns="0" tIns="0" rIns="0" bIns="0" anchor="t"/>
          <a:lstStyle/>
          <a:p>
            <a:pPr marL="0" lvl="0" indent="0">
              <a:buNone/>
              <a:defRPr/>
            </a:pPr>
            <a:r>
              <a:rPr lang="ko-KR" altLang="en-US" sz="1500" b="1">
                <a:solidFill>
                  <a:srgbClr val="0F766E"/>
                </a:solidFill>
                <a:latin typeface="맑은 고딕"/>
                <a:ea typeface="맑은 고딕"/>
                <a:cs typeface="맑은 고딕"/>
              </a:rPr>
              <a:t>종합설계프로젝트 </a:t>
            </a:r>
            <a:r>
              <a:rPr lang="en-US" sz="1500" b="1">
                <a:solidFill>
                  <a:srgbClr val="0F766E"/>
                </a:solidFill>
                <a:latin typeface="맑은 고딕"/>
                <a:ea typeface="맑은 고딕"/>
                <a:cs typeface="맑은 고딕"/>
              </a:rPr>
              <a:t>2차 발표 · 2026년 10월 2</a:t>
            </a:r>
            <a:r>
              <a:rPr lang="en-US" altLang="ko-KR" sz="1500" b="1">
                <a:solidFill>
                  <a:srgbClr val="0F766E"/>
                </a:solidFill>
                <a:latin typeface="맑은 고딕"/>
                <a:ea typeface="맑은 고딕"/>
                <a:cs typeface="맑은 고딕"/>
              </a:rPr>
              <a:t>1</a:t>
            </a:r>
            <a:r>
              <a:rPr lang="en-US" sz="1500" b="1">
                <a:solidFill>
                  <a:srgbClr val="0F766E"/>
                </a:solidFill>
                <a:latin typeface="맑은 고딕"/>
                <a:ea typeface="맑은 고딕"/>
                <a:cs typeface="맑은 고딕"/>
              </a:rPr>
              <a:t>일</a:t>
            </a:r>
          </a:p>
        </p:txBody>
      </p:sp>
      <p:sp>
        <p:nvSpPr>
          <p:cNvPr id="3" name="Text 1"/>
          <p:cNvSpPr txBox="1"/>
          <p:nvPr/>
        </p:nvSpPr>
        <p:spPr>
          <a:xfrm>
            <a:off x="731520" y="2438400"/>
            <a:ext cx="6217920" cy="1600200"/>
          </a:xfrm>
          <a:prstGeom prst="rect">
            <a:avLst/>
          </a:prstGeom>
          <a:noFill/>
          <a:ln/>
        </p:spPr>
        <p:txBody>
          <a:bodyPr wrap="square" lIns="0" tIns="0" rIns="0" bIns="0" rtlCol="0" anchor="t"/>
          <a:lstStyle/>
          <a:p>
            <a:pPr marL="0" indent="0">
              <a:lnSpc>
                <a:spcPct val="105000"/>
              </a:lnSpc>
              <a:buNone/>
            </a:pPr>
            <a:r>
              <a:rPr lang="en-US" sz="4000" b="1" dirty="0">
                <a:solidFill>
                  <a:srgbClr val="1F2933"/>
                </a:solidFill>
                <a:latin typeface="Malgun Gothic" pitchFamily="34" charset="0"/>
                <a:ea typeface="Malgun Gothic" pitchFamily="34" charset="-122"/>
                <a:cs typeface="Malgun Gothic" pitchFamily="34" charset="-120"/>
              </a:rPr>
              <a:t>UART 및 SPI Flash</a:t>
            </a:r>
            <a:endParaRPr lang="en-US" sz="4000" dirty="0"/>
          </a:p>
          <a:p>
            <a:pPr marL="0" indent="0">
              <a:lnSpc>
                <a:spcPct val="105000"/>
              </a:lnSpc>
              <a:buNone/>
            </a:pPr>
            <a:r>
              <a:rPr lang="en-US" sz="4000" b="1" dirty="0">
                <a:solidFill>
                  <a:srgbClr val="1F2933"/>
                </a:solidFill>
                <a:latin typeface="Malgun Gothic" pitchFamily="34" charset="0"/>
                <a:ea typeface="Malgun Gothic" pitchFamily="34" charset="-122"/>
                <a:cs typeface="Malgun Gothic" pitchFamily="34" charset="-120"/>
              </a:rPr>
              <a:t>기본 기능 구현</a:t>
            </a:r>
            <a:endParaRPr lang="en-US" sz="4000" dirty="0"/>
          </a:p>
        </p:txBody>
      </p:sp>
      <p:sp>
        <p:nvSpPr>
          <p:cNvPr id="5" name="Text 3"/>
          <p:cNvSpPr txBox="1"/>
          <p:nvPr/>
        </p:nvSpPr>
        <p:spPr>
          <a:xfrm>
            <a:off x="731520" y="4770474"/>
            <a:ext cx="6217920" cy="320040"/>
          </a:xfrm>
          <a:prstGeom prst="rect">
            <a:avLst/>
          </a:prstGeom>
          <a:noFill/>
          <a:ln/>
        </p:spPr>
        <p:txBody>
          <a:bodyPr wrap="square" lIns="0" tIns="0" rIns="0" bIns="0" anchor="t"/>
          <a:lstStyle/>
          <a:p>
            <a:pPr marL="0" lvl="0" indent="0">
              <a:buNone/>
              <a:defRPr/>
            </a:pPr>
            <a:r>
              <a:rPr lang="en-US" altLang="ko-KR" sz="1600" b="1">
                <a:solidFill>
                  <a:srgbClr val="000000"/>
                </a:solidFill>
                <a:latin typeface="맑은 고딕"/>
                <a:ea typeface="맑은 고딕"/>
                <a:cs typeface="맑은 고딕"/>
              </a:rPr>
              <a:t>1</a:t>
            </a:r>
            <a:r>
              <a:rPr lang="ko-KR" altLang="en-US" sz="1600" b="1">
                <a:solidFill>
                  <a:srgbClr val="000000"/>
                </a:solidFill>
                <a:latin typeface="맑은 고딕"/>
                <a:ea typeface="맑은 고딕"/>
                <a:cs typeface="맑은 고딕"/>
              </a:rPr>
              <a:t>조 </a:t>
            </a:r>
            <a:r>
              <a:rPr lang="en-US" altLang="ko-KR" sz="1600" b="1">
                <a:solidFill>
                  <a:srgbClr val="000000"/>
                </a:solidFill>
                <a:latin typeface="맑은 고딕"/>
                <a:ea typeface="맑은 고딕"/>
                <a:cs typeface="맑은 고딕"/>
              </a:rPr>
              <a:t>:</a:t>
            </a:r>
            <a:r>
              <a:rPr lang="ko-KR" altLang="en-US" sz="1600" b="1">
                <a:solidFill>
                  <a:srgbClr val="000000"/>
                </a:solidFill>
                <a:latin typeface="맑은 고딕"/>
                <a:ea typeface="맑은 고딕"/>
                <a:cs typeface="맑은 고딕"/>
              </a:rPr>
              <a:t> 박민호</a:t>
            </a:r>
            <a:r>
              <a:rPr lang="en-US" altLang="ko-KR" sz="1600" b="1">
                <a:solidFill>
                  <a:srgbClr val="000000"/>
                </a:solidFill>
                <a:latin typeface="맑은 고딕"/>
                <a:ea typeface="맑은 고딕"/>
                <a:cs typeface="맑은 고딕"/>
              </a:rPr>
              <a:t>,</a:t>
            </a:r>
            <a:r>
              <a:rPr lang="ko-KR" altLang="en-US" sz="1600" b="1">
                <a:solidFill>
                  <a:srgbClr val="000000"/>
                </a:solidFill>
                <a:latin typeface="맑은 고딕"/>
                <a:ea typeface="맑은 고딕"/>
                <a:cs typeface="맑은 고딕"/>
              </a:rPr>
              <a:t> 박선우</a:t>
            </a:r>
            <a:r>
              <a:rPr lang="en-US" altLang="ko-KR" sz="1600" b="1">
                <a:solidFill>
                  <a:srgbClr val="000000"/>
                </a:solidFill>
                <a:latin typeface="맑은 고딕"/>
                <a:ea typeface="맑은 고딕"/>
                <a:cs typeface="맑은 고딕"/>
              </a:rPr>
              <a:t>,</a:t>
            </a:r>
            <a:r>
              <a:rPr lang="ko-KR" altLang="en-US" sz="1600" b="1">
                <a:solidFill>
                  <a:srgbClr val="000000"/>
                </a:solidFill>
                <a:latin typeface="맑은 고딕"/>
                <a:ea typeface="맑은 고딕"/>
                <a:cs typeface="맑은 고딕"/>
              </a:rPr>
              <a:t> 전세웅</a:t>
            </a:r>
            <a:r>
              <a:rPr lang="en-US" altLang="ko-KR" sz="1600" b="1">
                <a:solidFill>
                  <a:srgbClr val="000000"/>
                </a:solidFill>
                <a:latin typeface="맑은 고딕"/>
                <a:ea typeface="맑은 고딕"/>
                <a:cs typeface="맑은 고딕"/>
              </a:rPr>
              <a:t>,</a:t>
            </a:r>
            <a:r>
              <a:rPr lang="ko-KR" altLang="en-US" sz="1600" b="1">
                <a:solidFill>
                  <a:srgbClr val="000000"/>
                </a:solidFill>
                <a:latin typeface="맑은 고딕"/>
                <a:ea typeface="맑은 고딕"/>
                <a:cs typeface="맑은 고딕"/>
              </a:rPr>
              <a:t> 조명욱</a:t>
            </a:r>
            <a:endParaRPr lang="en-US" sz="16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ko-KR" altLang="en-US" sz="2600" b="1" dirty="0">
                <a:solidFill>
                  <a:srgbClr val="1F2933"/>
                </a:solidFill>
                <a:latin typeface="Malgun Gothic" pitchFamily="34" charset="0"/>
                <a:ea typeface="Malgun Gothic" pitchFamily="34" charset="-122"/>
                <a:cs typeface="Malgun Gothic" pitchFamily="34" charset="-120"/>
              </a:rPr>
              <a:t>발표 요건 충족 현황</a:t>
            </a:r>
            <a:endParaRPr lang="en-US" sz="2600" dirty="0"/>
          </a:p>
        </p:txBody>
      </p:sp>
      <p:graphicFrame>
        <p:nvGraphicFramePr>
          <p:cNvPr id="3" name="Table 0"/>
          <p:cNvGraphicFramePr>
            <a:graphicFrameLocks noGrp="1"/>
          </p:cNvGraphicFramePr>
          <p:nvPr/>
        </p:nvGraphicFramePr>
        <p:xfrm>
          <a:off x="548640" y="1674495"/>
          <a:ext cx="11088623" cy="3767328"/>
        </p:xfrm>
        <a:graphic>
          <a:graphicData uri="http://schemas.openxmlformats.org/drawingml/2006/table">
            <a:tbl>
              <a:tblPr/>
              <a:tblGrid>
                <a:gridCol w="2487111">
                  <a:extLst>
                    <a:ext uri="{9D8B030D-6E8A-4147-A177-3AD203B41FA5}">
                      <a16:colId xmlns:a16="http://schemas.microsoft.com/office/drawing/2014/main" val="20000"/>
                    </a:ext>
                  </a:extLst>
                </a:gridCol>
                <a:gridCol w="3435224">
                  <a:extLst>
                    <a:ext uri="{9D8B030D-6E8A-4147-A177-3AD203B41FA5}">
                      <a16:colId xmlns:a16="http://schemas.microsoft.com/office/drawing/2014/main" val="20001"/>
                    </a:ext>
                  </a:extLst>
                </a:gridCol>
                <a:gridCol w="4159476">
                  <a:extLst>
                    <a:ext uri="{9D8B030D-6E8A-4147-A177-3AD203B41FA5}">
                      <a16:colId xmlns:a16="http://schemas.microsoft.com/office/drawing/2014/main" val="20002"/>
                    </a:ext>
                  </a:extLst>
                </a:gridCol>
                <a:gridCol w="1006812">
                  <a:extLst>
                    <a:ext uri="{9D8B030D-6E8A-4147-A177-3AD203B41FA5}">
                      <a16:colId xmlns:a16="http://schemas.microsoft.com/office/drawing/2014/main" val="20003"/>
                    </a:ext>
                  </a:extLst>
                </a:gridCol>
              </a:tblGrid>
              <a:tr h="457200">
                <a:tc>
                  <a:txBody>
                    <a:bodyPr/>
                    <a:lstStyle/>
                    <a:p>
                      <a:pPr marL="0" lvl="0" indent="0">
                        <a:buNone/>
                        <a:defRPr/>
                      </a:pPr>
                      <a:r>
                        <a:rPr lang="en-US" sz="1500" b="1">
                          <a:solidFill>
                            <a:srgbClr val="1F2933"/>
                          </a:solidFill>
                          <a:latin typeface="맑은 고딕"/>
                          <a:ea typeface="맑은 고딕"/>
                          <a:cs typeface="맑은 고딕"/>
                        </a:rPr>
                        <a:t>발표 조건</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solidFill>
                      <a:srgbClr val="F3F5F7"/>
                    </a:solidFill>
                  </a:tcPr>
                </a:tc>
                <a:tc>
                  <a:txBody>
                    <a:bodyPr/>
                    <a:lstStyle/>
                    <a:p>
                      <a:pPr marL="0" lvl="0" indent="0">
                        <a:buNone/>
                        <a:defRPr/>
                      </a:pPr>
                      <a:r>
                        <a:rPr lang="en-US" sz="1500" b="1">
                          <a:solidFill>
                            <a:srgbClr val="1F2933"/>
                          </a:solidFill>
                          <a:latin typeface="맑은 고딕"/>
                          <a:ea typeface="맑은 고딕"/>
                          <a:cs typeface="맑은 고딕"/>
                        </a:rPr>
                        <a:t>이번 구현</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solidFill>
                      <a:srgbClr val="F3F5F7"/>
                    </a:solidFill>
                  </a:tcPr>
                </a:tc>
                <a:tc>
                  <a:txBody>
                    <a:bodyPr/>
                    <a:lstStyle/>
                    <a:p>
                      <a:pPr marL="0" lvl="0" indent="0">
                        <a:buNone/>
                        <a:defRPr/>
                      </a:pPr>
                      <a:r>
                        <a:rPr lang="en-US" sz="1500" b="1">
                          <a:solidFill>
                            <a:srgbClr val="1F2933"/>
                          </a:solidFill>
                          <a:latin typeface="맑은 고딕"/>
                          <a:ea typeface="맑은 고딕"/>
                          <a:cs typeface="맑은 고딕"/>
                        </a:rPr>
                        <a:t>근거</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solidFill>
                      <a:srgbClr val="F3F5F7"/>
                    </a:solidFill>
                  </a:tcPr>
                </a:tc>
                <a:tc>
                  <a:txBody>
                    <a:bodyPr/>
                    <a:lstStyle/>
                    <a:p>
                      <a:pPr marL="0" lvl="0" indent="0">
                        <a:buNone/>
                        <a:defRPr/>
                      </a:pPr>
                      <a:r>
                        <a:rPr lang="en-US" sz="1500" b="1">
                          <a:solidFill>
                            <a:srgbClr val="1F2933"/>
                          </a:solidFill>
                          <a:latin typeface="맑은 고딕"/>
                          <a:ea typeface="맑은 고딕"/>
                          <a:cs typeface="맑은 고딕"/>
                        </a:rPr>
                        <a:t>상태</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solidFill>
                      <a:srgbClr val="F3F5F7"/>
                    </a:solidFill>
                  </a:tcPr>
                </a:tc>
                <a:extLst>
                  <a:ext uri="{0D108BD9-81ED-4DB2-BD59-A6C34878D82A}">
                    <a16:rowId xmlns:a16="http://schemas.microsoft.com/office/drawing/2014/main" val="10000"/>
                  </a:ext>
                </a:extLst>
              </a:tr>
              <a:tr h="457200">
                <a:tc>
                  <a:txBody>
                    <a:bodyPr/>
                    <a:lstStyle/>
                    <a:p>
                      <a:pPr marL="0" lvl="0" indent="0">
                        <a:buNone/>
                        <a:defRPr/>
                      </a:pPr>
                      <a:r>
                        <a:rPr lang="en-US" sz="1500">
                          <a:solidFill>
                            <a:srgbClr val="1F2933"/>
                          </a:solidFill>
                          <a:latin typeface="맑은 고딕"/>
                          <a:ea typeface="맑은 고딕"/>
                          <a:cs typeface="맑은 고딕"/>
                        </a:rPr>
                        <a:t>PC ⇄ STM32 UART 통신</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a:solidFill>
                            <a:srgbClr val="1F2933"/>
                          </a:solidFill>
                          <a:latin typeface="맑은 고딕"/>
                          <a:ea typeface="맑은 고딕"/>
                          <a:cs typeface="맑은 고딕"/>
                        </a:rPr>
                        <a:t>8N1 바이너리, DMA</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a:solidFill>
                            <a:srgbClr val="1F2933"/>
                          </a:solidFill>
                          <a:latin typeface="맑은 고딕"/>
                          <a:ea typeface="맑은 고딕"/>
                          <a:cs typeface="맑은 고딕"/>
                        </a:rPr>
                        <a:t>청크 CRC 확인 후 ACK</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b="1">
                          <a:solidFill>
                            <a:srgbClr val="0F766E"/>
                          </a:solidFill>
                          <a:latin typeface="맑은 고딕"/>
                          <a:ea typeface="맑은 고딕"/>
                          <a:cs typeface="맑은 고딕"/>
                        </a:rPr>
                        <a:t>확인</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1"/>
                  </a:ext>
                </a:extLst>
              </a:tr>
              <a:tr h="457200">
                <a:tc>
                  <a:txBody>
                    <a:bodyPr/>
                    <a:lstStyle/>
                    <a:p>
                      <a:pPr marL="0" lvl="0" indent="0">
                        <a:buNone/>
                        <a:defRPr/>
                      </a:pPr>
                      <a:r>
                        <a:rPr lang="en-US" sz="1500">
                          <a:solidFill>
                            <a:srgbClr val="1F2933"/>
                          </a:solidFill>
                          <a:latin typeface="맑은 고딕"/>
                          <a:ea typeface="맑은 고딕"/>
                          <a:cs typeface="맑은 고딕"/>
                        </a:rPr>
                        <a:t>STM32 ⇄ SPI Flash 통신</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a:solidFill>
                            <a:srgbClr val="1F2933"/>
                          </a:solidFill>
                          <a:latin typeface="맑은 고딕"/>
                          <a:ea typeface="맑은 고딕"/>
                          <a:cs typeface="맑은 고딕"/>
                        </a:rPr>
                        <a:t>QUADSPI</a:t>
                      </a:r>
                      <a:r>
                        <a:rPr lang="ko-KR" altLang="en-US" sz="1500" dirty="0">
                          <a:solidFill>
                            <a:srgbClr val="1F2933"/>
                          </a:solidFill>
                          <a:latin typeface="맑은 고딕"/>
                          <a:ea typeface="맑은 고딕"/>
                          <a:cs typeface="맑은 고딕"/>
                        </a:rPr>
                        <a:t>의</a:t>
                      </a:r>
                      <a:r>
                        <a:rPr lang="en-US" sz="1500" dirty="0">
                          <a:solidFill>
                            <a:srgbClr val="1F2933"/>
                          </a:solidFill>
                          <a:latin typeface="맑은 고딕"/>
                          <a:ea typeface="맑은 고딕"/>
                          <a:cs typeface="맑은 고딕"/>
                        </a:rPr>
                        <a:t> SPI 1-1-1</a:t>
                      </a: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a:solidFill>
                            <a:srgbClr val="1F2933"/>
                          </a:solidFill>
                          <a:latin typeface="맑은 고딕"/>
                          <a:ea typeface="맑은 고딕"/>
                          <a:cs typeface="맑은 고딕"/>
                        </a:rPr>
                        <a:t>JEDEC ID EF 40 18, WEL·BUSY </a:t>
                      </a:r>
                      <a:r>
                        <a:rPr lang="en-US" sz="1500" dirty="0" err="1">
                          <a:solidFill>
                            <a:srgbClr val="1F2933"/>
                          </a:solidFill>
                          <a:latin typeface="맑은 고딕"/>
                          <a:ea typeface="맑은 고딕"/>
                          <a:cs typeface="맑은 고딕"/>
                        </a:rPr>
                        <a:t>확인</a:t>
                      </a:r>
                      <a:endParaRPr lang="en-US" altLang="ko-KR" sz="1500" dirty="0">
                        <a:solidFill>
                          <a:srgbClr val="1F2933"/>
                        </a:solidFill>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b="1">
                          <a:solidFill>
                            <a:srgbClr val="0F766E"/>
                          </a:solidFill>
                          <a:latin typeface="맑은 고딕"/>
                          <a:ea typeface="맑은 고딕"/>
                          <a:cs typeface="맑은 고딕"/>
                        </a:rPr>
                        <a:t>확인</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2"/>
                  </a:ext>
                </a:extLst>
              </a:tr>
              <a:tr h="457200">
                <a:tc>
                  <a:txBody>
                    <a:bodyPr/>
                    <a:lstStyle/>
                    <a:p>
                      <a:pPr marL="0" lvl="0" indent="0">
                        <a:buNone/>
                        <a:defRPr/>
                      </a:pPr>
                      <a:r>
                        <a:rPr lang="en-US" sz="1500">
                          <a:solidFill>
                            <a:srgbClr val="1F2933"/>
                          </a:solidFill>
                          <a:latin typeface="맑은 고딕"/>
                          <a:ea typeface="맑은 고딕"/>
                          <a:cs typeface="맑은 고딕"/>
                        </a:rPr>
                        <a:t>Flash Read / Write</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a:solidFill>
                            <a:srgbClr val="1F2933"/>
                          </a:solidFill>
                          <a:latin typeface="맑은 고딕"/>
                          <a:ea typeface="맑은 고딕"/>
                          <a:cs typeface="맑은 고딕"/>
                        </a:rPr>
                        <a:t>64 KiB </a:t>
                      </a:r>
                      <a:r>
                        <a:rPr lang="en-US" sz="1500" dirty="0" err="1">
                          <a:solidFill>
                            <a:srgbClr val="1F2933"/>
                          </a:solidFill>
                          <a:latin typeface="맑은 고딕"/>
                          <a:ea typeface="맑은 고딕"/>
                          <a:cs typeface="맑은 고딕"/>
                        </a:rPr>
                        <a:t>삭제</a:t>
                      </a:r>
                      <a:r>
                        <a:rPr lang="en-US" sz="1500" dirty="0">
                          <a:solidFill>
                            <a:srgbClr val="1F2933"/>
                          </a:solidFill>
                          <a:latin typeface="맑은 고딕"/>
                          <a:ea typeface="맑은 고딕"/>
                          <a:cs typeface="맑은 고딕"/>
                        </a:rPr>
                        <a:t>, 256 B </a:t>
                      </a:r>
                      <a:r>
                        <a:rPr lang="en-US" sz="1500" dirty="0" err="1">
                          <a:solidFill>
                            <a:srgbClr val="1F2933"/>
                          </a:solidFill>
                          <a:latin typeface="맑은 고딕"/>
                          <a:ea typeface="맑은 고딕"/>
                          <a:cs typeface="맑은 고딕"/>
                        </a:rPr>
                        <a:t>쓰기</a:t>
                      </a:r>
                      <a:r>
                        <a:rPr lang="en-US" sz="1500" dirty="0">
                          <a:solidFill>
                            <a:srgbClr val="1F2933"/>
                          </a:solidFill>
                          <a:latin typeface="맑은 고딕"/>
                          <a:ea typeface="맑은 고딕"/>
                          <a:cs typeface="맑은 고딕"/>
                        </a:rPr>
                        <a:t>, </a:t>
                      </a:r>
                      <a:r>
                        <a:rPr lang="ko-KR" altLang="en-US" sz="1500" dirty="0" err="1">
                          <a:solidFill>
                            <a:srgbClr val="1F2933"/>
                          </a:solidFill>
                          <a:latin typeface="맑은 고딕"/>
                          <a:ea typeface="맑은 고딕"/>
                          <a:cs typeface="맑은 고딕"/>
                        </a:rPr>
                        <a:t>청크</a:t>
                      </a:r>
                      <a:r>
                        <a:rPr lang="ko-KR" altLang="en-US" sz="1500" dirty="0">
                          <a:solidFill>
                            <a:srgbClr val="1F2933"/>
                          </a:solidFill>
                          <a:latin typeface="맑은 고딕"/>
                          <a:ea typeface="맑은 고딕"/>
                          <a:cs typeface="맑은 고딕"/>
                        </a:rPr>
                        <a:t> 연속 읽기</a:t>
                      </a: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err="1">
                          <a:solidFill>
                            <a:srgbClr val="1F2933"/>
                          </a:solidFill>
                          <a:latin typeface="맑은 고딕"/>
                          <a:ea typeface="맑은 고딕"/>
                          <a:cs typeface="맑은 고딕"/>
                        </a:rPr>
                        <a:t>청크마다</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재읽기</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후</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memcmp</a:t>
                      </a:r>
                      <a:r>
                        <a:rPr lang="ko-KR" altLang="en-US" sz="1500" dirty="0">
                          <a:solidFill>
                            <a:srgbClr val="1F2933"/>
                          </a:solidFill>
                          <a:latin typeface="맑은 고딕"/>
                          <a:ea typeface="맑은 고딕"/>
                          <a:cs typeface="맑은 고딕"/>
                        </a:rPr>
                        <a:t> </a:t>
                      </a:r>
                      <a:r>
                        <a:rPr lang="en-US" altLang="ko-KR" sz="1500" dirty="0">
                          <a:solidFill>
                            <a:srgbClr val="1F2933"/>
                          </a:solidFill>
                          <a:latin typeface="맑은 고딕"/>
                          <a:ea typeface="맑은 고딕"/>
                          <a:cs typeface="맑은 고딕"/>
                        </a:rPr>
                        <a:t>(</a:t>
                      </a:r>
                      <a:r>
                        <a:rPr lang="ko-KR" altLang="en-US" sz="1500" dirty="0">
                          <a:solidFill>
                            <a:srgbClr val="1F2933"/>
                          </a:solidFill>
                          <a:latin typeface="맑은 고딕"/>
                          <a:ea typeface="맑은 고딕"/>
                          <a:cs typeface="맑은 고딕"/>
                        </a:rPr>
                        <a:t>바이트 비교</a:t>
                      </a:r>
                      <a:r>
                        <a:rPr lang="en-US" altLang="ko-KR" sz="1500" dirty="0">
                          <a:solidFill>
                            <a:srgbClr val="1F2933"/>
                          </a:solidFill>
                          <a:latin typeface="맑은 고딕"/>
                          <a:ea typeface="맑은 고딕"/>
                          <a:cs typeface="맑은 고딕"/>
                        </a:rPr>
                        <a:t>)</a:t>
                      </a: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b="1">
                          <a:solidFill>
                            <a:srgbClr val="0F766E"/>
                          </a:solidFill>
                          <a:latin typeface="맑은 고딕"/>
                          <a:ea typeface="맑은 고딕"/>
                          <a:cs typeface="맑은 고딕"/>
                        </a:rPr>
                        <a:t>확인</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3"/>
                  </a:ext>
                </a:extLst>
              </a:tr>
              <a:tr h="457200">
                <a:tc>
                  <a:txBody>
                    <a:bodyPr/>
                    <a:lstStyle/>
                    <a:p>
                      <a:pPr marL="0" lvl="0" indent="0">
                        <a:buNone/>
                        <a:defRPr/>
                      </a:pPr>
                      <a:r>
                        <a:rPr lang="en-US" sz="1500">
                          <a:solidFill>
                            <a:srgbClr val="1F2933"/>
                          </a:solidFill>
                          <a:latin typeface="맑은 고딕"/>
                          <a:ea typeface="맑은 고딕"/>
                          <a:cs typeface="맑은 고딕"/>
                        </a:rPr>
                        <a:t>3 MB 이상 전송·저장</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a:solidFill>
                            <a:srgbClr val="1F2933"/>
                          </a:solidFill>
                          <a:latin typeface="맑은 고딕"/>
                          <a:ea typeface="맑은 고딕"/>
                          <a:cs typeface="맑은 고딕"/>
                        </a:rPr>
                        <a:t>3,145,782 B BMP </a:t>
                      </a:r>
                      <a:r>
                        <a:rPr lang="en-US" sz="1500" dirty="0" err="1">
                          <a:solidFill>
                            <a:srgbClr val="1F2933"/>
                          </a:solidFill>
                          <a:latin typeface="맑은 고딕"/>
                          <a:ea typeface="맑은 고딕"/>
                          <a:cs typeface="맑은 고딕"/>
                        </a:rPr>
                        <a:t>전체</a:t>
                      </a:r>
                      <a:endParaRPr lang="en-US" sz="1500" dirty="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a:solidFill>
                            <a:srgbClr val="1F2933"/>
                          </a:solidFill>
                          <a:latin typeface="맑은 고딕"/>
                          <a:ea typeface="맑은 고딕"/>
                          <a:cs typeface="맑은 고딕"/>
                        </a:rPr>
                        <a:t>49블록 </a:t>
                      </a:r>
                      <a:r>
                        <a:rPr lang="en-US" sz="1500" dirty="0" err="1">
                          <a:solidFill>
                            <a:srgbClr val="1F2933"/>
                          </a:solidFill>
                          <a:latin typeface="맑은 고딕"/>
                          <a:ea typeface="맑은 고딕"/>
                          <a:cs typeface="맑은 고딕"/>
                        </a:rPr>
                        <a:t>삭제</a:t>
                      </a:r>
                      <a:r>
                        <a:rPr lang="en-US" sz="1500" dirty="0">
                          <a:solidFill>
                            <a:srgbClr val="1F2933"/>
                          </a:solidFill>
                          <a:latin typeface="맑은 고딕"/>
                          <a:ea typeface="맑은 고딕"/>
                          <a:cs typeface="맑은 고딕"/>
                        </a:rPr>
                        <a:t>, 12,289페이지 </a:t>
                      </a:r>
                      <a:r>
                        <a:rPr lang="en-US" sz="1500" dirty="0" err="1">
                          <a:solidFill>
                            <a:srgbClr val="1F2933"/>
                          </a:solidFill>
                          <a:latin typeface="맑은 고딕"/>
                          <a:ea typeface="맑은 고딕"/>
                          <a:cs typeface="맑은 고딕"/>
                        </a:rPr>
                        <a:t>쓰기</a:t>
                      </a:r>
                      <a:endParaRPr lang="en-US" sz="1500" dirty="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b="1">
                          <a:solidFill>
                            <a:srgbClr val="0F766E"/>
                          </a:solidFill>
                          <a:latin typeface="맑은 고딕"/>
                          <a:ea typeface="맑은 고딕"/>
                          <a:cs typeface="맑은 고딕"/>
                        </a:rPr>
                        <a:t>확인</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4"/>
                  </a:ext>
                </a:extLst>
              </a:tr>
              <a:tr h="457200">
                <a:tc>
                  <a:txBody>
                    <a:bodyPr/>
                    <a:lstStyle/>
                    <a:p>
                      <a:pPr marL="0" lvl="0" indent="0">
                        <a:buNone/>
                        <a:defRPr/>
                      </a:pPr>
                      <a:r>
                        <a:rPr lang="en-US" sz="1500">
                          <a:solidFill>
                            <a:srgbClr val="1F2933"/>
                          </a:solidFill>
                          <a:latin typeface="맑은 고딕"/>
                          <a:ea typeface="맑은 고딕"/>
                          <a:cs typeface="맑은 고딕"/>
                        </a:rPr>
                        <a:t>저장 데이터 복원</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a:solidFill>
                            <a:srgbClr val="1F2933"/>
                          </a:solidFill>
                          <a:latin typeface="맑은 고딕"/>
                          <a:ea typeface="맑은 고딕"/>
                          <a:cs typeface="맑은 고딕"/>
                        </a:rPr>
                        <a:t>Flash → PC, BMP </a:t>
                      </a:r>
                      <a:r>
                        <a:rPr lang="en-US" sz="1500" dirty="0" err="1">
                          <a:solidFill>
                            <a:srgbClr val="1F2933"/>
                          </a:solidFill>
                          <a:latin typeface="맑은 고딕"/>
                          <a:ea typeface="맑은 고딕"/>
                          <a:cs typeface="맑은 고딕"/>
                        </a:rPr>
                        <a:t>파일</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저장</a:t>
                      </a:r>
                      <a:endParaRPr lang="en-US" sz="1500" dirty="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err="1">
                          <a:solidFill>
                            <a:srgbClr val="1F2933"/>
                          </a:solidFill>
                          <a:latin typeface="맑은 고딕"/>
                          <a:ea typeface="맑은 고딕"/>
                          <a:cs typeface="맑은 고딕"/>
                        </a:rPr>
                        <a:t>원본과</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전체</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바이트</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일치</a:t>
                      </a:r>
                      <a:endParaRPr lang="en-US" sz="1500" dirty="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b="1">
                          <a:solidFill>
                            <a:srgbClr val="0F766E"/>
                          </a:solidFill>
                          <a:latin typeface="맑은 고딕"/>
                          <a:ea typeface="맑은 고딕"/>
                          <a:cs typeface="맑은 고딕"/>
                        </a:rPr>
                        <a:t>확인</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5"/>
                  </a:ext>
                </a:extLst>
              </a:tr>
              <a:tr h="457200">
                <a:tc>
                  <a:txBody>
                    <a:bodyPr/>
                    <a:lstStyle/>
                    <a:p>
                      <a:pPr marL="0" lvl="0" indent="0">
                        <a:buNone/>
                        <a:defRPr/>
                      </a:pPr>
                      <a:r>
                        <a:rPr lang="en-US" sz="1500">
                          <a:solidFill>
                            <a:srgbClr val="1F2933"/>
                          </a:solidFill>
                          <a:latin typeface="맑은 고딕"/>
                          <a:ea typeface="맑은 고딕"/>
                          <a:cs typeface="맑은 고딕"/>
                        </a:rPr>
                        <a:t>무결성</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a:solidFill>
                            <a:srgbClr val="1F2933"/>
                          </a:solidFill>
                          <a:latin typeface="맑은 고딕"/>
                          <a:ea typeface="맑은 고딕"/>
                          <a:cs typeface="맑은 고딕"/>
                        </a:rPr>
                        <a:t>CRC32, SHA-256, </a:t>
                      </a:r>
                      <a:r>
                        <a:rPr lang="en-US" sz="1500" dirty="0" err="1">
                          <a:solidFill>
                            <a:srgbClr val="1F2933"/>
                          </a:solidFill>
                          <a:latin typeface="맑은 고딕"/>
                          <a:ea typeface="맑은 고딕"/>
                          <a:cs typeface="맑은 고딕"/>
                        </a:rPr>
                        <a:t>바이트</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비교</a:t>
                      </a:r>
                      <a:endParaRPr lang="en-US" altLang="ko-KR" sz="1500" dirty="0">
                        <a:solidFill>
                          <a:srgbClr val="1F2933"/>
                        </a:solidFill>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err="1">
                          <a:solidFill>
                            <a:srgbClr val="1F2933"/>
                          </a:solidFill>
                          <a:latin typeface="맑은 고딕"/>
                          <a:ea typeface="맑은 고딕"/>
                          <a:cs typeface="맑은 고딕"/>
                        </a:rPr>
                        <a:t>세</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방법</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모두</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일치</a:t>
                      </a:r>
                      <a:endParaRPr lang="en-US" sz="1500" dirty="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b="1">
                          <a:solidFill>
                            <a:srgbClr val="0F766E"/>
                          </a:solidFill>
                          <a:latin typeface="맑은 고딕"/>
                          <a:ea typeface="맑은 고딕"/>
                          <a:cs typeface="맑은 고딕"/>
                        </a:rPr>
                        <a:t>확인</a:t>
                      </a:r>
                      <a:endParaRPr lang="en-US" sz="15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6"/>
                  </a:ext>
                </a:extLst>
              </a:tr>
              <a:tr h="457200">
                <a:tc>
                  <a:txBody>
                    <a:bodyPr/>
                    <a:lstStyle/>
                    <a:p>
                      <a:pPr marL="0" lvl="0" indent="0">
                        <a:buNone/>
                        <a:defRPr/>
                      </a:pPr>
                      <a:r>
                        <a:rPr lang="en-US" sz="1500" dirty="0" err="1">
                          <a:solidFill>
                            <a:srgbClr val="1F2933"/>
                          </a:solidFill>
                          <a:latin typeface="맑은 고딕"/>
                          <a:ea typeface="맑은 고딕"/>
                          <a:cs typeface="맑은 고딕"/>
                        </a:rPr>
                        <a:t>전원·RESET</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후</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저장</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유지</a:t>
                      </a:r>
                      <a:endParaRPr lang="en-US" sz="1500" dirty="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a:solidFill>
                            <a:srgbClr val="1F2933"/>
                          </a:solidFill>
                          <a:latin typeface="맑은 고딕"/>
                          <a:ea typeface="맑은 고딕"/>
                          <a:cs typeface="맑은 고딕"/>
                        </a:rPr>
                        <a:t>RAM </a:t>
                      </a:r>
                      <a:r>
                        <a:rPr lang="en-US" sz="1500" dirty="0" err="1">
                          <a:solidFill>
                            <a:srgbClr val="1F2933"/>
                          </a:solidFill>
                          <a:latin typeface="맑은 고딕"/>
                          <a:ea typeface="맑은 고딕"/>
                          <a:cs typeface="맑은 고딕"/>
                        </a:rPr>
                        <a:t>덮어쓰기</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후</a:t>
                      </a:r>
                      <a:r>
                        <a:rPr lang="en-US" sz="1500" dirty="0">
                          <a:solidFill>
                            <a:srgbClr val="1F2933"/>
                          </a:solidFill>
                          <a:latin typeface="맑은 고딕"/>
                          <a:ea typeface="맑은 고딕"/>
                          <a:cs typeface="맑은 고딕"/>
                        </a:rPr>
                        <a:t> --read-only </a:t>
                      </a:r>
                      <a:r>
                        <a:rPr lang="en-US" sz="1500" dirty="0" err="1">
                          <a:solidFill>
                            <a:srgbClr val="1F2933"/>
                          </a:solidFill>
                          <a:latin typeface="맑은 고딕"/>
                          <a:ea typeface="맑은 고딕"/>
                          <a:cs typeface="맑은 고딕"/>
                        </a:rPr>
                        <a:t>복원</a:t>
                      </a:r>
                      <a:endParaRPr lang="en-US" sz="1500" dirty="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dirty="0" err="1">
                          <a:solidFill>
                            <a:srgbClr val="1F2933"/>
                          </a:solidFill>
                          <a:latin typeface="맑은 고딕"/>
                          <a:ea typeface="맑은 고딕"/>
                          <a:cs typeface="맑은 고딕"/>
                        </a:rPr>
                        <a:t>복원</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일치</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원본과</a:t>
                      </a:r>
                      <a:r>
                        <a:rPr lang="en-US" sz="1500" dirty="0">
                          <a:solidFill>
                            <a:srgbClr val="1F2933"/>
                          </a:solidFill>
                          <a:latin typeface="맑은 고딕"/>
                          <a:ea typeface="맑은 고딕"/>
                          <a:cs typeface="맑은 고딕"/>
                        </a:rPr>
                        <a:t> </a:t>
                      </a:r>
                      <a:r>
                        <a:rPr lang="en-US" sz="1500" dirty="0" err="1">
                          <a:solidFill>
                            <a:srgbClr val="1F2933"/>
                          </a:solidFill>
                          <a:latin typeface="맑은 고딕"/>
                          <a:ea typeface="맑은 고딕"/>
                          <a:cs typeface="맑은 고딕"/>
                        </a:rPr>
                        <a:t>같음</a:t>
                      </a:r>
                      <a:endParaRPr lang="en-US" sz="1500" dirty="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500" b="1" dirty="0" err="1">
                          <a:solidFill>
                            <a:srgbClr val="0F766E"/>
                          </a:solidFill>
                          <a:latin typeface="맑은 고딕"/>
                          <a:ea typeface="맑은 고딕"/>
                          <a:cs typeface="맑은 고딕"/>
                        </a:rPr>
                        <a:t>확인</a:t>
                      </a:r>
                      <a:endParaRPr lang="en-US" sz="1500" dirty="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c="http://schemas.openxmlformats.org/drawingml/2006/chart" xmlns:dgm="http://schemas.openxmlformats.org/drawingml/2006/diagram" xmlns:dsp="http://schemas.microsoft.com/office/drawing/2008/diagram"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2</a:t>
            </a:fld>
            <a:endParaRPr lang="en-US"/>
          </a:p>
        </p:txBody>
      </p:sp>
      <p:sp>
        <p:nvSpPr>
          <p:cNvPr id="5" name="TextBox 4">
            <a:extLst>
              <a:ext uri="{FF2B5EF4-FFF2-40B4-BE49-F238E27FC236}">
                <a16:creationId xmlns:a16="http://schemas.microsoft.com/office/drawing/2014/main" id="{36D97559-47AA-DCD8-A330-CB658691B871}"/>
              </a:ext>
            </a:extLst>
          </p:cNvPr>
          <p:cNvSpPr txBox="1"/>
          <p:nvPr/>
        </p:nvSpPr>
        <p:spPr>
          <a:xfrm>
            <a:off x="2312894" y="6535271"/>
            <a:ext cx="184731" cy="369332"/>
          </a:xfrm>
          <a:prstGeom prst="rect">
            <a:avLst/>
          </a:prstGeom>
          <a:noFill/>
        </p:spPr>
        <p:txBody>
          <a:bodyPr wrap="none" rtlCol="0">
            <a:spAutoFit/>
          </a:bodyPr>
          <a:lstStyle/>
          <a:p>
            <a:endParaRPr kumimoji="1"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ko-KR" altLang="en-US" sz="2600" b="1" dirty="0">
                <a:solidFill>
                  <a:srgbClr val="1F2933"/>
                </a:solidFill>
                <a:latin typeface="Malgun Gothic" pitchFamily="34" charset="0"/>
                <a:ea typeface="Malgun Gothic" pitchFamily="34" charset="-122"/>
                <a:cs typeface="Malgun Gothic" pitchFamily="34" charset="-120"/>
              </a:rPr>
              <a:t>사용 </a:t>
            </a:r>
            <a:r>
              <a:rPr lang="en-US" altLang="ko-KR" sz="2600" b="1" dirty="0">
                <a:solidFill>
                  <a:srgbClr val="1F2933"/>
                </a:solidFill>
                <a:latin typeface="Malgun Gothic" pitchFamily="34" charset="0"/>
                <a:ea typeface="Malgun Gothic" pitchFamily="34" charset="-122"/>
                <a:cs typeface="Malgun Gothic" pitchFamily="34" charset="-120"/>
              </a:rPr>
              <a:t>Flash memory</a:t>
            </a:r>
            <a:r>
              <a:rPr lang="ko-KR" altLang="en-US" sz="2600" b="1" dirty="0">
                <a:solidFill>
                  <a:srgbClr val="1F2933"/>
                </a:solidFill>
                <a:latin typeface="Malgun Gothic" pitchFamily="34" charset="0"/>
                <a:ea typeface="Malgun Gothic" pitchFamily="34" charset="-122"/>
                <a:cs typeface="Malgun Gothic" pitchFamily="34" charset="-120"/>
              </a:rPr>
              <a:t> 변경사항</a:t>
            </a:r>
            <a:endParaRPr lang="en-US" sz="2600" dirty="0"/>
          </a:p>
        </p:txBody>
      </p:sp>
      <p:graphicFrame>
        <p:nvGraphicFramePr>
          <p:cNvPr id="4" name="Table 0"/>
          <p:cNvGraphicFramePr>
            <a:graphicFrameLocks noGrp="1"/>
          </p:cNvGraphicFramePr>
          <p:nvPr/>
        </p:nvGraphicFramePr>
        <p:xfrm>
          <a:off x="548640" y="1508760"/>
          <a:ext cx="6355080" cy="3730752"/>
        </p:xfrm>
        <a:graphic>
          <a:graphicData uri="http://schemas.openxmlformats.org/drawingml/2006/table">
            <a:tbl>
              <a:tblPr/>
              <a:tblGrid>
                <a:gridCol w="141732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tblGrid>
              <a:tr h="621792">
                <a:tc>
                  <a:txBody>
                    <a:bodyPr/>
                    <a:lstStyle/>
                    <a:p>
                      <a:pPr marL="0" lvl="0" indent="0">
                        <a:buNone/>
                        <a:defRPr/>
                      </a:pPr>
                      <a:r>
                        <a:rPr lang="en-US" sz="1600" b="1">
                          <a:solidFill>
                            <a:srgbClr val="1F2933"/>
                          </a:solidFill>
                          <a:latin typeface="맑은 고딕"/>
                          <a:ea typeface="맑은 고딕"/>
                          <a:cs typeface="맑은 고딕"/>
                        </a:rPr>
                        <a:t>항목</a:t>
                      </a:r>
                      <a:endParaRPr lang="en-US" sz="16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solidFill>
                      <a:srgbClr val="F3F5F7"/>
                    </a:solidFill>
                  </a:tcPr>
                </a:tc>
                <a:tc>
                  <a:txBody>
                    <a:bodyPr/>
                    <a:lstStyle/>
                    <a:p>
                      <a:pPr marL="0" lvl="0" indent="0">
                        <a:buNone/>
                        <a:defRPr/>
                      </a:pPr>
                      <a:r>
                        <a:rPr lang="en-US" sz="1600" b="1">
                          <a:solidFill>
                            <a:srgbClr val="1F2933"/>
                          </a:solidFill>
                          <a:latin typeface="맑은 고딕"/>
                          <a:ea typeface="맑은 고딕"/>
                          <a:cs typeface="맑은 고딕"/>
                        </a:rPr>
                        <a:t>현재 실물</a:t>
                      </a:r>
                      <a:endParaRPr lang="en-US" sz="16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solidFill>
                      <a:srgbClr val="F3F5F7"/>
                    </a:solidFill>
                  </a:tcPr>
                </a:tc>
                <a:tc>
                  <a:txBody>
                    <a:bodyPr/>
                    <a:lstStyle/>
                    <a:p>
                      <a:pPr marL="0" lvl="0" indent="0">
                        <a:buNone/>
                        <a:defRPr/>
                      </a:pPr>
                      <a:r>
                        <a:rPr lang="en-US" sz="1600" b="1">
                          <a:solidFill>
                            <a:srgbClr val="1F2933"/>
                          </a:solidFill>
                          <a:latin typeface="맑은 고딕"/>
                          <a:ea typeface="맑은 고딕"/>
                          <a:cs typeface="맑은 고딕"/>
                        </a:rPr>
                        <a:t>과제 조건</a:t>
                      </a:r>
                      <a:endParaRPr lang="en-US" sz="16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solidFill>
                      <a:srgbClr val="F3F5F7"/>
                    </a:solidFill>
                  </a:tcPr>
                </a:tc>
                <a:extLst>
                  <a:ext uri="{0D108BD9-81ED-4DB2-BD59-A6C34878D82A}">
                    <a16:rowId xmlns:a16="http://schemas.microsoft.com/office/drawing/2014/main" val="10000"/>
                  </a:ext>
                </a:extLst>
              </a:tr>
              <a:tr h="621792">
                <a:tc>
                  <a:txBody>
                    <a:bodyPr/>
                    <a:lstStyle/>
                    <a:p>
                      <a:pPr marL="0" lvl="0" indent="0">
                        <a:buNone/>
                        <a:defRPr/>
                      </a:pPr>
                      <a:r>
                        <a:rPr lang="en-US" sz="1600" b="1">
                          <a:solidFill>
                            <a:srgbClr val="1F2933"/>
                          </a:solidFill>
                          <a:latin typeface="맑은 고딕"/>
                          <a:ea typeface="맑은 고딕"/>
                          <a:cs typeface="맑은 고딕"/>
                        </a:rPr>
                        <a:t>MCU / 보드</a:t>
                      </a:r>
                      <a:endParaRPr lang="en-US" sz="1600" b="1">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600">
                          <a:solidFill>
                            <a:srgbClr val="1F2933"/>
                          </a:solidFill>
                          <a:latin typeface="맑은 고딕"/>
                          <a:ea typeface="맑은 고딕"/>
                          <a:cs typeface="맑은 고딕"/>
                        </a:rPr>
                        <a:t>STM32F746G-DISCO</a:t>
                      </a:r>
                      <a:endParaRPr lang="en-US" sz="16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600">
                          <a:solidFill>
                            <a:srgbClr val="1F2933"/>
                          </a:solidFill>
                          <a:latin typeface="맑은 고딕"/>
                          <a:ea typeface="맑은 고딕"/>
                          <a:cs typeface="맑은 고딕"/>
                        </a:rPr>
                        <a:t>STM32 MCU</a:t>
                      </a:r>
                      <a:endParaRPr lang="en-US" sz="16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1"/>
                  </a:ext>
                </a:extLst>
              </a:tr>
              <a:tr h="621792">
                <a:tc>
                  <a:txBody>
                    <a:bodyPr/>
                    <a:lstStyle/>
                    <a:p>
                      <a:pPr marL="0" lvl="0" indent="0">
                        <a:buNone/>
                        <a:defRPr/>
                      </a:pPr>
                      <a:r>
                        <a:rPr lang="en-US" sz="1600" b="1">
                          <a:solidFill>
                            <a:srgbClr val="1F2933"/>
                          </a:solidFill>
                          <a:latin typeface="맑은 고딕"/>
                          <a:ea typeface="맑은 고딕"/>
                          <a:cs typeface="맑은 고딕"/>
                        </a:rPr>
                        <a:t>Flash 모델</a:t>
                      </a:r>
                      <a:endParaRPr lang="en-US" sz="1600" b="1">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600" b="1">
                          <a:solidFill>
                            <a:srgbClr val="0F766E"/>
                          </a:solidFill>
                          <a:latin typeface="맑은 고딕"/>
                          <a:ea typeface="맑은 고딕"/>
                          <a:cs typeface="맑은 고딕"/>
                        </a:rPr>
                        <a:t>W25Q128</a:t>
                      </a:r>
                      <a:endParaRPr lang="en-US" sz="16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600">
                          <a:solidFill>
                            <a:srgbClr val="1F2933"/>
                          </a:solidFill>
                          <a:latin typeface="맑은 고딕"/>
                          <a:ea typeface="맑은 고딕"/>
                          <a:cs typeface="맑은 고딕"/>
                        </a:rPr>
                        <a:t>W25Q32</a:t>
                      </a:r>
                      <a:endParaRPr lang="en-US" sz="16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2"/>
                  </a:ext>
                </a:extLst>
              </a:tr>
              <a:tr h="621792">
                <a:tc>
                  <a:txBody>
                    <a:bodyPr/>
                    <a:lstStyle/>
                    <a:p>
                      <a:pPr marL="0" lvl="0" indent="0">
                        <a:buNone/>
                        <a:defRPr/>
                      </a:pPr>
                      <a:r>
                        <a:rPr lang="en-US" sz="1600" b="1">
                          <a:solidFill>
                            <a:srgbClr val="1F2933"/>
                          </a:solidFill>
                          <a:latin typeface="맑은 고딕"/>
                          <a:ea typeface="맑은 고딕"/>
                          <a:cs typeface="맑은 고딕"/>
                        </a:rPr>
                        <a:t>물리 용량</a:t>
                      </a:r>
                      <a:endParaRPr lang="en-US" sz="1600" b="1">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600" b="1">
                          <a:solidFill>
                            <a:srgbClr val="0F766E"/>
                          </a:solidFill>
                          <a:latin typeface="맑은 고딕"/>
                          <a:ea typeface="맑은 고딕"/>
                          <a:cs typeface="맑은 고딕"/>
                        </a:rPr>
                        <a:t>16 MiB</a:t>
                      </a:r>
                      <a:endParaRPr lang="en-US" sz="16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600">
                          <a:solidFill>
                            <a:srgbClr val="1F2933"/>
                          </a:solidFill>
                          <a:latin typeface="맑은 고딕"/>
                          <a:ea typeface="맑은 고딕"/>
                          <a:cs typeface="맑은 고딕"/>
                        </a:rPr>
                        <a:t>4 MiB</a:t>
                      </a:r>
                      <a:endParaRPr lang="en-US" sz="16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3"/>
                  </a:ext>
                </a:extLst>
              </a:tr>
              <a:tr h="621792">
                <a:tc>
                  <a:txBody>
                    <a:bodyPr/>
                    <a:lstStyle/>
                    <a:p>
                      <a:pPr marL="0" lvl="0" indent="0">
                        <a:buNone/>
                        <a:defRPr/>
                      </a:pPr>
                      <a:r>
                        <a:rPr lang="en-US" sz="1600" b="1">
                          <a:solidFill>
                            <a:srgbClr val="1F2933"/>
                          </a:solidFill>
                          <a:latin typeface="맑은 고딕"/>
                          <a:ea typeface="맑은 고딕"/>
                          <a:cs typeface="맑은 고딕"/>
                        </a:rPr>
                        <a:t>JEDEC ID</a:t>
                      </a:r>
                      <a:endParaRPr lang="en-US" sz="1600" b="1">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600" b="1">
                          <a:solidFill>
                            <a:srgbClr val="0F766E"/>
                          </a:solidFill>
                          <a:latin typeface="맑은 고딕"/>
                          <a:ea typeface="맑은 고딕"/>
                          <a:cs typeface="맑은 고딕"/>
                        </a:rPr>
                        <a:t>EF 40 18</a:t>
                      </a:r>
                      <a:endParaRPr lang="en-US" sz="16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600">
                          <a:solidFill>
                            <a:srgbClr val="1F2933"/>
                          </a:solidFill>
                          <a:latin typeface="맑은 고딕"/>
                          <a:ea typeface="맑은 고딕"/>
                          <a:cs typeface="맑은 고딕"/>
                        </a:rPr>
                        <a:t>EF 40 16</a:t>
                      </a:r>
                      <a:endParaRPr lang="en-US" sz="160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4"/>
                  </a:ext>
                </a:extLst>
              </a:tr>
              <a:tr h="621792">
                <a:tc>
                  <a:txBody>
                    <a:bodyPr/>
                    <a:lstStyle/>
                    <a:p>
                      <a:pPr marL="0" lvl="0" indent="0">
                        <a:buNone/>
                        <a:defRPr/>
                      </a:pPr>
                      <a:r>
                        <a:rPr lang="en-US" sz="1600" b="1">
                          <a:solidFill>
                            <a:srgbClr val="1F2933"/>
                          </a:solidFill>
                          <a:latin typeface="맑은 고딕"/>
                          <a:ea typeface="맑은 고딕"/>
                          <a:cs typeface="맑은 고딕"/>
                        </a:rPr>
                        <a:t>이미지 영역</a:t>
                      </a:r>
                      <a:endParaRPr lang="en-US" sz="1600" b="1">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600" dirty="0">
                          <a:solidFill>
                            <a:srgbClr val="1F2933"/>
                          </a:solidFill>
                          <a:latin typeface="맑은 고딕"/>
                          <a:ea typeface="맑은 고딕"/>
                          <a:cs typeface="맑은 고딕"/>
                        </a:rPr>
                        <a:t>0x000000–0x3EFFFF</a:t>
                      </a:r>
                      <a:endParaRPr lang="en-US" sz="1600" dirty="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tc>
                  <a:txBody>
                    <a:bodyPr/>
                    <a:lstStyle/>
                    <a:p>
                      <a:pPr marL="0" lvl="0" indent="0">
                        <a:buNone/>
                        <a:defRPr/>
                      </a:pPr>
                      <a:r>
                        <a:rPr lang="en-US" sz="1600" dirty="0">
                          <a:solidFill>
                            <a:srgbClr val="1F2933"/>
                          </a:solidFill>
                          <a:latin typeface="맑은 고딕"/>
                          <a:ea typeface="맑은 고딕"/>
                          <a:cs typeface="맑은 고딕"/>
                        </a:rPr>
                        <a:t>3 MB </a:t>
                      </a:r>
                      <a:r>
                        <a:rPr lang="en-US" sz="1600" dirty="0" err="1">
                          <a:solidFill>
                            <a:srgbClr val="1F2933"/>
                          </a:solidFill>
                          <a:latin typeface="맑은 고딕"/>
                          <a:ea typeface="맑은 고딕"/>
                          <a:cs typeface="맑은 고딕"/>
                        </a:rPr>
                        <a:t>이상</a:t>
                      </a:r>
                      <a:r>
                        <a:rPr lang="en-US" sz="1600" dirty="0">
                          <a:solidFill>
                            <a:srgbClr val="1F2933"/>
                          </a:solidFill>
                          <a:latin typeface="맑은 고딕"/>
                          <a:ea typeface="맑은 고딕"/>
                          <a:cs typeface="맑은 고딕"/>
                        </a:rPr>
                        <a:t> </a:t>
                      </a:r>
                      <a:r>
                        <a:rPr lang="en-US" sz="1600" dirty="0" err="1">
                          <a:solidFill>
                            <a:srgbClr val="1F2933"/>
                          </a:solidFill>
                          <a:latin typeface="맑은 고딕"/>
                          <a:ea typeface="맑은 고딕"/>
                          <a:cs typeface="맑은 고딕"/>
                        </a:rPr>
                        <a:t>전체</a:t>
                      </a:r>
                      <a:r>
                        <a:rPr lang="en-US" sz="1600" dirty="0">
                          <a:solidFill>
                            <a:srgbClr val="1F2933"/>
                          </a:solidFill>
                          <a:latin typeface="맑은 고딕"/>
                          <a:ea typeface="맑은 고딕"/>
                          <a:cs typeface="맑은 고딕"/>
                        </a:rPr>
                        <a:t> </a:t>
                      </a:r>
                      <a:r>
                        <a:rPr lang="en-US" sz="1600" dirty="0" err="1">
                          <a:solidFill>
                            <a:srgbClr val="1F2933"/>
                          </a:solidFill>
                          <a:latin typeface="맑은 고딕"/>
                          <a:ea typeface="맑은 고딕"/>
                          <a:cs typeface="맑은 고딕"/>
                        </a:rPr>
                        <a:t>저장</a:t>
                      </a:r>
                      <a:endParaRPr lang="en-US" sz="1600" dirty="0">
                        <a:latin typeface="맑은 고딕"/>
                        <a:ea typeface="맑은 고딕"/>
                        <a:cs typeface="맑은 고딕"/>
                      </a:endParaRPr>
                    </a:p>
                  </a:txBody>
                  <a:tcPr marL="109728" marR="109728" marT="54864" marB="54864" anchor="ctr">
                    <a:lnL w="9525" cap="flat" cmpd="sng" algn="ctr">
                      <a:solidFill>
                        <a:srgbClr val="D5DAE0"/>
                      </a:solidFill>
                      <a:prstDash val="solid"/>
                      <a:round/>
                      <a:headEnd w="med" len="med"/>
                      <a:tailEnd w="med" len="med"/>
                    </a:lnL>
                    <a:lnR w="9525" cap="flat" cmpd="sng" algn="ctr">
                      <a:solidFill>
                        <a:srgbClr val="D5DAE0"/>
                      </a:solidFill>
                      <a:prstDash val="solid"/>
                      <a:round/>
                      <a:headEnd w="med" len="med"/>
                      <a:tailEnd w="med" len="med"/>
                    </a:lnR>
                    <a:lnT w="9525" cap="flat" cmpd="sng" algn="ctr">
                      <a:solidFill>
                        <a:srgbClr val="D5DAE0"/>
                      </a:solidFill>
                      <a:prstDash val="solid"/>
                      <a:round/>
                      <a:headEnd w="med" len="med"/>
                      <a:tailEnd w="med" len="med"/>
                    </a:lnT>
                    <a:lnB w="9525" cap="flat" cmpd="sng" algn="ctr">
                      <a:solidFill>
                        <a:srgbClr val="D5DAE0"/>
                      </a:solidFill>
                      <a:prstDash val="solid"/>
                      <a:round/>
                      <a:headEnd w="med" len="med"/>
                      <a:tailEnd w="med" len="med"/>
                    </a:lnB>
                  </a:tcPr>
                </a:tc>
                <a:extLst>
                  <a:ext uri="{0D108BD9-81ED-4DB2-BD59-A6C34878D82A}">
                    <a16:rowId xmlns:a16="http://schemas.microsoft.com/office/drawing/2014/main" val="10005"/>
                  </a:ext>
                </a:extLst>
              </a:tr>
            </a:tbl>
          </a:graphicData>
        </a:graphic>
      </p:graphicFrame>
      <p:sp>
        <p:nvSpPr>
          <p:cNvPr id="5" name="Text 2"/>
          <p:cNvSpPr txBox="1"/>
          <p:nvPr/>
        </p:nvSpPr>
        <p:spPr>
          <a:xfrm>
            <a:off x="7223760" y="1792605"/>
            <a:ext cx="4416552" cy="2240280"/>
          </a:xfrm>
          <a:prstGeom prst="rect">
            <a:avLst/>
          </a:prstGeom>
          <a:noFill/>
          <a:ln/>
        </p:spPr>
        <p:txBody>
          <a:bodyPr wrap="square" lIns="0" tIns="0" rIns="0" bIns="0" anchor="t"/>
          <a:lstStyle/>
          <a:p>
            <a:pPr marL="342900" lvl="0" indent="-342900">
              <a:lnSpc>
                <a:spcPct val="115000"/>
              </a:lnSpc>
              <a:spcAft>
                <a:spcPts val="1000"/>
              </a:spcAft>
              <a:buSzPct val="100000"/>
              <a:buChar char="•"/>
              <a:defRPr/>
            </a:pPr>
            <a:r>
              <a:rPr lang="en-US" sz="1400" dirty="0" err="1">
                <a:solidFill>
                  <a:srgbClr val="1F2933"/>
                </a:solidFill>
                <a:latin typeface="맑은 고딕"/>
                <a:ea typeface="맑은 고딕"/>
                <a:cs typeface="맑은 고딕"/>
              </a:rPr>
              <a:t>이미지</a:t>
            </a:r>
            <a:r>
              <a:rPr lang="en-US" sz="1400" dirty="0">
                <a:solidFill>
                  <a:srgbClr val="1F2933"/>
                </a:solidFill>
                <a:latin typeface="맑은 고딕"/>
                <a:ea typeface="맑은 고딕"/>
                <a:cs typeface="맑은 고딕"/>
              </a:rPr>
              <a:t> </a:t>
            </a:r>
            <a:r>
              <a:rPr lang="en-US" sz="1400" dirty="0" err="1">
                <a:solidFill>
                  <a:srgbClr val="1F2933"/>
                </a:solidFill>
                <a:latin typeface="맑은 고딕"/>
                <a:ea typeface="맑은 고딕"/>
                <a:cs typeface="맑은 고딕"/>
              </a:rPr>
              <a:t>주소는</a:t>
            </a:r>
            <a:r>
              <a:rPr lang="en-US" sz="1400" dirty="0">
                <a:solidFill>
                  <a:srgbClr val="1F2933"/>
                </a:solidFill>
                <a:latin typeface="맑은 고딕"/>
                <a:ea typeface="맑은 고딕"/>
                <a:cs typeface="맑은 고딕"/>
              </a:rPr>
              <a:t> </a:t>
            </a:r>
            <a:r>
              <a:rPr lang="en-US" sz="1400" dirty="0" err="1">
                <a:solidFill>
                  <a:srgbClr val="1F2933"/>
                </a:solidFill>
                <a:latin typeface="맑은 고딕"/>
                <a:ea typeface="맑은 고딕"/>
                <a:cs typeface="맑은 고딕"/>
              </a:rPr>
              <a:t>첫</a:t>
            </a:r>
            <a:r>
              <a:rPr lang="en-US" sz="1400" dirty="0">
                <a:solidFill>
                  <a:srgbClr val="1F2933"/>
                </a:solidFill>
                <a:latin typeface="맑은 고딕"/>
                <a:ea typeface="맑은 고딕"/>
                <a:cs typeface="맑은 고딕"/>
              </a:rPr>
              <a:t> 4 MiB </a:t>
            </a:r>
            <a:r>
              <a:rPr lang="en-US" sz="1400" dirty="0" err="1">
                <a:solidFill>
                  <a:srgbClr val="1F2933"/>
                </a:solidFill>
                <a:latin typeface="맑은 고딕"/>
                <a:ea typeface="맑은 고딕"/>
                <a:cs typeface="맑은 고딕"/>
              </a:rPr>
              <a:t>안에서만</a:t>
            </a:r>
            <a:r>
              <a:rPr lang="en-US" sz="1400" dirty="0">
                <a:solidFill>
                  <a:srgbClr val="1F2933"/>
                </a:solidFill>
                <a:latin typeface="맑은 고딕"/>
                <a:ea typeface="맑은 고딕"/>
                <a:cs typeface="맑은 고딕"/>
              </a:rPr>
              <a:t> </a:t>
            </a:r>
            <a:r>
              <a:rPr lang="en-US" sz="1400" dirty="0" err="1">
                <a:solidFill>
                  <a:srgbClr val="1F2933"/>
                </a:solidFill>
                <a:latin typeface="맑은 고딕"/>
                <a:ea typeface="맑은 고딕"/>
                <a:cs typeface="맑은 고딕"/>
              </a:rPr>
              <a:t>사용</a:t>
            </a:r>
            <a:r>
              <a:rPr lang="en-US" altLang="ko-KR" sz="1400" dirty="0">
                <a:solidFill>
                  <a:srgbClr val="1F2933"/>
                </a:solidFill>
                <a:latin typeface="맑은 고딕"/>
                <a:ea typeface="맑은 고딕"/>
                <a:cs typeface="맑은 고딕"/>
              </a:rPr>
              <a:t>,</a:t>
            </a:r>
            <a:r>
              <a:rPr lang="ko-KR" altLang="en-US" sz="1400" dirty="0">
                <a:solidFill>
                  <a:srgbClr val="1F2933"/>
                </a:solidFill>
                <a:latin typeface="맑은 고딕"/>
                <a:ea typeface="맑은 고딕"/>
                <a:cs typeface="맑은 고딕"/>
              </a:rPr>
              <a:t> </a:t>
            </a:r>
            <a:r>
              <a:rPr lang="en-US" sz="1400" dirty="0">
                <a:solidFill>
                  <a:srgbClr val="1F2933"/>
                </a:solidFill>
                <a:latin typeface="맑은 고딕"/>
                <a:ea typeface="맑은 고딕"/>
                <a:cs typeface="맑은 고딕"/>
              </a:rPr>
              <a:t>W25Q32 </a:t>
            </a:r>
            <a:r>
              <a:rPr lang="en-US" sz="1400" dirty="0" err="1">
                <a:solidFill>
                  <a:srgbClr val="1F2933"/>
                </a:solidFill>
                <a:latin typeface="맑은 고딕"/>
                <a:ea typeface="맑은 고딕"/>
                <a:cs typeface="맑은 고딕"/>
              </a:rPr>
              <a:t>용량과</a:t>
            </a:r>
            <a:r>
              <a:rPr lang="en-US" sz="1400" dirty="0">
                <a:solidFill>
                  <a:srgbClr val="1F2933"/>
                </a:solidFill>
                <a:latin typeface="맑은 고딕"/>
                <a:ea typeface="맑은 고딕"/>
                <a:cs typeface="맑은 고딕"/>
              </a:rPr>
              <a:t> </a:t>
            </a:r>
            <a:r>
              <a:rPr lang="en-US" sz="1400" dirty="0" err="1">
                <a:solidFill>
                  <a:srgbClr val="1F2933"/>
                </a:solidFill>
                <a:latin typeface="맑은 고딕"/>
                <a:ea typeface="맑은 고딕"/>
                <a:cs typeface="맑은 고딕"/>
              </a:rPr>
              <a:t>같은</a:t>
            </a:r>
            <a:r>
              <a:rPr lang="en-US" sz="1400" dirty="0">
                <a:solidFill>
                  <a:srgbClr val="1F2933"/>
                </a:solidFill>
                <a:latin typeface="맑은 고딕"/>
                <a:ea typeface="맑은 고딕"/>
                <a:cs typeface="맑은 고딕"/>
              </a:rPr>
              <a:t> </a:t>
            </a:r>
            <a:r>
              <a:rPr lang="en-US" sz="1400" dirty="0" err="1">
                <a:solidFill>
                  <a:srgbClr val="1F2933"/>
                </a:solidFill>
                <a:latin typeface="맑은 고딕"/>
                <a:ea typeface="맑은 고딕"/>
                <a:cs typeface="맑은 고딕"/>
              </a:rPr>
              <a:t>범위</a:t>
            </a:r>
            <a:endParaRPr lang="en-US" sz="1400" dirty="0">
              <a:solidFill>
                <a:srgbClr val="1F2933"/>
              </a:solidFill>
              <a:latin typeface="맑은 고딕"/>
              <a:ea typeface="맑은 고딕"/>
              <a:cs typeface="맑은 고딕"/>
            </a:endParaRPr>
          </a:p>
          <a:p>
            <a:pPr marL="342900" lvl="0" indent="-342900">
              <a:lnSpc>
                <a:spcPct val="115000"/>
              </a:lnSpc>
              <a:spcAft>
                <a:spcPts val="1000"/>
              </a:spcAft>
              <a:buSzPct val="100000"/>
              <a:buChar char="•"/>
              <a:defRPr/>
            </a:pPr>
            <a:r>
              <a:rPr lang="en-US" sz="1400" dirty="0" err="1">
                <a:solidFill>
                  <a:srgbClr val="1F2933"/>
                </a:solidFill>
                <a:latin typeface="맑은 고딕"/>
                <a:ea typeface="맑은 고딕"/>
                <a:cs typeface="맑은 고딕"/>
              </a:rPr>
              <a:t>사용한</a:t>
            </a:r>
            <a:r>
              <a:rPr lang="en-US" sz="1400" dirty="0">
                <a:solidFill>
                  <a:srgbClr val="1F2933"/>
                </a:solidFill>
                <a:latin typeface="맑은 고딕"/>
                <a:ea typeface="맑은 고딕"/>
                <a:cs typeface="맑은 고딕"/>
              </a:rPr>
              <a:t> </a:t>
            </a:r>
            <a:r>
              <a:rPr lang="en-US" sz="1400" dirty="0" err="1">
                <a:solidFill>
                  <a:srgbClr val="1F2933"/>
                </a:solidFill>
                <a:latin typeface="맑은 고딕"/>
                <a:ea typeface="맑은 고딕"/>
                <a:cs typeface="맑은 고딕"/>
              </a:rPr>
              <a:t>명령</a:t>
            </a:r>
            <a:r>
              <a:rPr lang="en-US" sz="1400" dirty="0">
                <a:solidFill>
                  <a:srgbClr val="1F2933"/>
                </a:solidFill>
                <a:latin typeface="맑은 고딕"/>
                <a:ea typeface="맑은 고딕"/>
                <a:cs typeface="맑은 고딕"/>
              </a:rPr>
              <a:t> 6종은 W25Q32 </a:t>
            </a:r>
            <a:r>
              <a:rPr lang="en-US" sz="1400" dirty="0" err="1">
                <a:solidFill>
                  <a:srgbClr val="1F2933"/>
                </a:solidFill>
                <a:latin typeface="맑은 고딕"/>
                <a:ea typeface="맑은 고딕"/>
                <a:cs typeface="맑은 고딕"/>
              </a:rPr>
              <a:t>데이터시트</a:t>
            </a:r>
            <a:r>
              <a:rPr lang="en-US" sz="1400" dirty="0">
                <a:solidFill>
                  <a:srgbClr val="1F2933"/>
                </a:solidFill>
                <a:latin typeface="맑은 고딕"/>
                <a:ea typeface="맑은 고딕"/>
                <a:cs typeface="맑은 고딕"/>
              </a:rPr>
              <a:t> </a:t>
            </a:r>
            <a:r>
              <a:rPr lang="en-US" sz="1400" dirty="0" err="1">
                <a:solidFill>
                  <a:srgbClr val="1F2933"/>
                </a:solidFill>
                <a:latin typeface="맑은 고딕"/>
                <a:ea typeface="맑은 고딕"/>
                <a:cs typeface="맑은 고딕"/>
              </a:rPr>
              <a:t>기준</a:t>
            </a:r>
            <a:endParaRPr lang="en-US" sz="1400" dirty="0">
              <a:solidFill>
                <a:srgbClr val="1F2933"/>
              </a:solidFill>
              <a:latin typeface="맑은 고딕"/>
              <a:ea typeface="맑은 고딕"/>
              <a:cs typeface="맑은 고딕"/>
            </a:endParaRPr>
          </a:p>
          <a:p>
            <a:pPr marL="342900" lvl="0" indent="-342900">
              <a:lnSpc>
                <a:spcPct val="115000"/>
              </a:lnSpc>
              <a:buSzPct val="100000"/>
              <a:buChar char="•"/>
              <a:defRPr/>
            </a:pPr>
            <a:r>
              <a:rPr lang="en-US" sz="1400" dirty="0" err="1">
                <a:solidFill>
                  <a:srgbClr val="1F2933"/>
                </a:solidFill>
                <a:latin typeface="맑은 고딕"/>
                <a:ea typeface="맑은 고딕"/>
                <a:cs typeface="맑은 고딕"/>
              </a:rPr>
              <a:t>펌웨어와</a:t>
            </a:r>
            <a:r>
              <a:rPr lang="en-US" sz="1400" dirty="0">
                <a:solidFill>
                  <a:srgbClr val="1F2933"/>
                </a:solidFill>
                <a:latin typeface="맑은 고딕"/>
                <a:ea typeface="맑은 고딕"/>
                <a:cs typeface="맑은 고딕"/>
              </a:rPr>
              <a:t> PC </a:t>
            </a:r>
            <a:r>
              <a:rPr lang="en-US" sz="1400" dirty="0" err="1">
                <a:solidFill>
                  <a:srgbClr val="1F2933"/>
                </a:solidFill>
                <a:latin typeface="맑은 고딕"/>
                <a:ea typeface="맑은 고딕"/>
                <a:cs typeface="맑은 고딕"/>
              </a:rPr>
              <a:t>프로그램</a:t>
            </a:r>
            <a:r>
              <a:rPr lang="en-US" sz="1400" dirty="0">
                <a:solidFill>
                  <a:srgbClr val="1F2933"/>
                </a:solidFill>
                <a:latin typeface="맑은 고딕"/>
                <a:ea typeface="맑은 고딕"/>
                <a:cs typeface="맑은 고딕"/>
              </a:rPr>
              <a:t> </a:t>
            </a:r>
            <a:r>
              <a:rPr lang="en-US" sz="1400" dirty="0" err="1">
                <a:solidFill>
                  <a:srgbClr val="1F2933"/>
                </a:solidFill>
                <a:latin typeface="맑은 고딕"/>
                <a:ea typeface="맑은 고딕"/>
                <a:cs typeface="맑은 고딕"/>
              </a:rPr>
              <a:t>모두</a:t>
            </a:r>
            <a:r>
              <a:rPr lang="en-US" sz="1400" dirty="0">
                <a:solidFill>
                  <a:srgbClr val="1F2933"/>
                </a:solidFill>
                <a:latin typeface="맑은 고딕"/>
                <a:ea typeface="맑은 고딕"/>
                <a:cs typeface="맑은 고딕"/>
              </a:rPr>
              <a:t> EF 40 18과 EF 40 16 </a:t>
            </a:r>
            <a:r>
              <a:rPr lang="en-US" sz="1400" dirty="0" err="1">
                <a:solidFill>
                  <a:srgbClr val="1F2933"/>
                </a:solidFill>
                <a:latin typeface="맑은 고딕"/>
                <a:ea typeface="맑은 고딕"/>
                <a:cs typeface="맑은 고딕"/>
              </a:rPr>
              <a:t>허용</a:t>
            </a:r>
            <a:r>
              <a:rPr lang="en-US" altLang="ko-KR" sz="1400" dirty="0">
                <a:solidFill>
                  <a:srgbClr val="1F2933"/>
                </a:solidFill>
                <a:latin typeface="맑은 고딕"/>
                <a:ea typeface="맑은 고딕"/>
                <a:cs typeface="맑은 고딕"/>
              </a:rPr>
              <a:t>,</a:t>
            </a:r>
            <a:r>
              <a:rPr lang="en-US" sz="1400" dirty="0">
                <a:solidFill>
                  <a:srgbClr val="1F2933"/>
                </a:solidFill>
                <a:latin typeface="맑은 고딕"/>
                <a:ea typeface="맑은 고딕"/>
                <a:cs typeface="맑은 고딕"/>
              </a:rPr>
              <a:t> </a:t>
            </a:r>
            <a:r>
              <a:rPr lang="ko-KR" altLang="en-US" sz="1400" dirty="0">
                <a:solidFill>
                  <a:srgbClr val="1F2933"/>
                </a:solidFill>
                <a:latin typeface="맑은 고딕"/>
                <a:ea typeface="맑은 고딕"/>
                <a:cs typeface="맑은 고딕"/>
              </a:rPr>
              <a:t>그 중 </a:t>
            </a:r>
            <a:r>
              <a:rPr lang="en-US" altLang="ko-KR" sz="1400" dirty="0">
                <a:solidFill>
                  <a:srgbClr val="1F2933"/>
                </a:solidFill>
                <a:latin typeface="맑은 고딕"/>
                <a:ea typeface="맑은 고딕"/>
                <a:cs typeface="맑은 고딕"/>
              </a:rPr>
              <a:t>W25Q128</a:t>
            </a:r>
            <a:r>
              <a:rPr lang="ko-KR" altLang="en-US" sz="1400" dirty="0">
                <a:solidFill>
                  <a:srgbClr val="1F2933"/>
                </a:solidFill>
                <a:latin typeface="맑은 고딕"/>
                <a:ea typeface="맑은 고딕"/>
                <a:cs typeface="맑은 고딕"/>
              </a:rPr>
              <a:t>만 실물 검증 완료</a:t>
            </a:r>
          </a:p>
        </p:txBody>
      </p:sp>
      <p:sp>
        <p:nvSpPr>
          <p:cNvPr id="6" name="Shape 3"/>
          <p:cNvSpPr/>
          <p:nvPr/>
        </p:nvSpPr>
        <p:spPr>
          <a:xfrm>
            <a:off x="7223760" y="4343400"/>
            <a:ext cx="4416552" cy="1051560"/>
          </a:xfrm>
          <a:prstGeom prst="rect">
            <a:avLst/>
          </a:prstGeom>
          <a:solidFill>
            <a:srgbClr val="F3F5F7"/>
          </a:solidFill>
          <a:ln w="12700">
            <a:solidFill>
              <a:srgbClr val="F3F5F7"/>
            </a:solidFill>
            <a:prstDash val="solid"/>
          </a:ln>
        </p:spPr>
        <p:txBody>
          <a:bodyPr/>
          <a:lstStyle/>
          <a:p>
            <a:endParaRPr lang="ko-KR" altLang="en-US"/>
          </a:p>
        </p:txBody>
      </p:sp>
      <p:sp>
        <p:nvSpPr>
          <p:cNvPr id="7" name="Text 4"/>
          <p:cNvSpPr txBox="1"/>
          <p:nvPr/>
        </p:nvSpPr>
        <p:spPr>
          <a:xfrm>
            <a:off x="7406640" y="4480560"/>
            <a:ext cx="4069080" cy="822960"/>
          </a:xfrm>
          <a:prstGeom prst="rect">
            <a:avLst/>
          </a:prstGeom>
          <a:noFill/>
          <a:ln/>
        </p:spPr>
        <p:txBody>
          <a:bodyPr wrap="square" lIns="0" tIns="0" rIns="0" bIns="0" anchor="t"/>
          <a:lstStyle/>
          <a:p>
            <a:pPr marL="0" lvl="0" indent="0">
              <a:lnSpc>
                <a:spcPct val="115000"/>
              </a:lnSpc>
              <a:buNone/>
              <a:defRPr/>
            </a:pPr>
            <a:r>
              <a:rPr lang="en-US" sz="1500" b="1">
                <a:solidFill>
                  <a:srgbClr val="1F2933"/>
                </a:solidFill>
                <a:latin typeface="맑은 고딕"/>
                <a:ea typeface="맑은 고딕"/>
                <a:cs typeface="맑은 고딕"/>
              </a:rPr>
              <a:t>확인 필요</a:t>
            </a:r>
          </a:p>
          <a:p>
            <a:pPr marL="0" lvl="0" indent="0">
              <a:lnSpc>
                <a:spcPct val="115000"/>
              </a:lnSpc>
              <a:buNone/>
              <a:defRPr/>
            </a:pPr>
            <a:endParaRPr lang="en-US" sz="1500" b="1">
              <a:solidFill>
                <a:srgbClr val="1F2933"/>
              </a:solidFill>
              <a:latin typeface="맑은 고딕"/>
              <a:ea typeface="맑은 고딕"/>
              <a:cs typeface="맑은 고딕"/>
            </a:endParaRPr>
          </a:p>
          <a:p>
            <a:pPr marL="0" lvl="0" indent="0">
              <a:lnSpc>
                <a:spcPct val="115000"/>
              </a:lnSpc>
              <a:buNone/>
              <a:defRPr/>
            </a:pPr>
            <a:r>
              <a:rPr lang="en-US" sz="1500">
                <a:solidFill>
                  <a:srgbClr val="1F2933"/>
                </a:solidFill>
                <a:latin typeface="맑은 고딕"/>
                <a:ea typeface="맑은 고딕"/>
                <a:cs typeface="맑은 고딕"/>
              </a:rPr>
              <a:t>W25Q</a:t>
            </a:r>
            <a:r>
              <a:rPr lang="en-US" altLang="ko-KR" sz="1500">
                <a:solidFill>
                  <a:srgbClr val="1F2933"/>
                </a:solidFill>
                <a:latin typeface="맑은 고딕"/>
                <a:ea typeface="맑은 고딕"/>
                <a:cs typeface="맑은 고딕"/>
              </a:rPr>
              <a:t>128</a:t>
            </a:r>
            <a:r>
              <a:rPr lang="ko-KR" altLang="en-US" sz="1500">
                <a:solidFill>
                  <a:srgbClr val="1F2933"/>
                </a:solidFill>
                <a:latin typeface="맑은 고딕"/>
                <a:ea typeface="맑은 고딕"/>
                <a:cs typeface="맑은 고딕"/>
              </a:rPr>
              <a:t> 허용 가능 여부</a:t>
            </a:r>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c="http://schemas.openxmlformats.org/drawingml/2006/chart" xmlns:dgm="http://schemas.openxmlformats.org/drawingml/2006/diagram" xmlns:dsp="http://schemas.microsoft.com/office/drawing/2008/diagram"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PC–STM32–Flash 데이터 경로와 검증 지점</a:t>
            </a:r>
            <a:endParaRPr lang="en-US" sz="2600" dirty="0"/>
          </a:p>
        </p:txBody>
      </p:sp>
      <p:sp>
        <p:nvSpPr>
          <p:cNvPr id="3" name="Shape 1"/>
          <p:cNvSpPr/>
          <p:nvPr/>
        </p:nvSpPr>
        <p:spPr>
          <a:xfrm>
            <a:off x="5577840" y="1371600"/>
            <a:ext cx="3657600" cy="4343400"/>
          </a:xfrm>
          <a:prstGeom prst="rect">
            <a:avLst/>
          </a:prstGeom>
          <a:solidFill>
            <a:srgbClr val="F3F5F7"/>
          </a:solidFill>
          <a:ln w="12700">
            <a:solidFill>
              <a:srgbClr val="D5DAE0"/>
            </a:solidFill>
            <a:prstDash val="dash"/>
          </a:ln>
        </p:spPr>
        <p:txBody>
          <a:bodyPr/>
          <a:lstStyle/>
          <a:p>
            <a:endParaRPr lang="ko-KR" altLang="en-US"/>
          </a:p>
        </p:txBody>
      </p:sp>
      <p:sp>
        <p:nvSpPr>
          <p:cNvPr id="4" name="Text 2"/>
          <p:cNvSpPr txBox="1"/>
          <p:nvPr/>
        </p:nvSpPr>
        <p:spPr>
          <a:xfrm>
            <a:off x="5852160" y="1463040"/>
            <a:ext cx="3108960" cy="320040"/>
          </a:xfrm>
          <a:prstGeom prst="rect">
            <a:avLst/>
          </a:prstGeom>
          <a:noFill/>
          <a:ln/>
        </p:spPr>
        <p:txBody>
          <a:bodyPr wrap="square" lIns="0" tIns="0" rIns="0" bIns="0" rtlCol="0" anchor="t"/>
          <a:lstStyle/>
          <a:p>
            <a:pPr marL="0" indent="0">
              <a:buNone/>
            </a:pPr>
            <a:r>
              <a:rPr lang="en-US" sz="1400" b="1" dirty="0">
                <a:solidFill>
                  <a:srgbClr val="5F6B7A"/>
                </a:solidFill>
                <a:latin typeface="Malgun Gothic" pitchFamily="34" charset="0"/>
                <a:ea typeface="Malgun Gothic" pitchFamily="34" charset="-122"/>
                <a:cs typeface="Malgun Gothic" pitchFamily="34" charset="-120"/>
              </a:rPr>
              <a:t>STM32F746NG</a:t>
            </a:r>
            <a:endParaRPr lang="en-US" sz="1400" dirty="0"/>
          </a:p>
        </p:txBody>
      </p:sp>
      <p:sp>
        <p:nvSpPr>
          <p:cNvPr id="5" name="Shape 3"/>
          <p:cNvSpPr/>
          <p:nvPr/>
        </p:nvSpPr>
        <p:spPr>
          <a:xfrm>
            <a:off x="548640" y="1714500"/>
            <a:ext cx="2011680" cy="1005840"/>
          </a:xfrm>
          <a:prstGeom prst="rect">
            <a:avLst/>
          </a:prstGeom>
          <a:solidFill>
            <a:srgbClr val="FFFFFF"/>
          </a:solidFill>
          <a:ln w="19050">
            <a:solidFill>
              <a:srgbClr val="5F6B7A"/>
            </a:solidFill>
            <a:prstDash val="solid"/>
          </a:ln>
        </p:spPr>
        <p:txBody>
          <a:bodyPr/>
          <a:lstStyle/>
          <a:p>
            <a:endParaRPr lang="ko-KR" altLang="en-US"/>
          </a:p>
        </p:txBody>
      </p:sp>
      <p:sp>
        <p:nvSpPr>
          <p:cNvPr id="6" name="Text 4"/>
          <p:cNvSpPr txBox="1"/>
          <p:nvPr/>
        </p:nvSpPr>
        <p:spPr>
          <a:xfrm>
            <a:off x="685800" y="1714500"/>
            <a:ext cx="1737360" cy="100584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PC</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demo_roundtrip.py</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전송 · 재읽기 · 비교</a:t>
            </a:r>
            <a:endParaRPr lang="en-US" sz="1600" dirty="0"/>
          </a:p>
        </p:txBody>
      </p:sp>
      <p:sp>
        <p:nvSpPr>
          <p:cNvPr id="7" name="Shape 5"/>
          <p:cNvSpPr/>
          <p:nvPr/>
        </p:nvSpPr>
        <p:spPr>
          <a:xfrm>
            <a:off x="3017520" y="1805940"/>
            <a:ext cx="1645920" cy="822960"/>
          </a:xfrm>
          <a:prstGeom prst="rect">
            <a:avLst/>
          </a:prstGeom>
          <a:solidFill>
            <a:srgbClr val="FFFFFF"/>
          </a:solidFill>
          <a:ln w="19050">
            <a:solidFill>
              <a:srgbClr val="5F6B7A"/>
            </a:solidFill>
            <a:prstDash val="solid"/>
          </a:ln>
        </p:spPr>
        <p:txBody>
          <a:bodyPr/>
          <a:lstStyle/>
          <a:p>
            <a:endParaRPr lang="ko-KR" altLang="en-US"/>
          </a:p>
        </p:txBody>
      </p:sp>
      <p:sp>
        <p:nvSpPr>
          <p:cNvPr id="8" name="Text 6"/>
          <p:cNvSpPr txBox="1"/>
          <p:nvPr/>
        </p:nvSpPr>
        <p:spPr>
          <a:xfrm>
            <a:off x="3154680" y="1805940"/>
            <a:ext cx="1371600" cy="82296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ST-LINK</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가상 COM 포트</a:t>
            </a:r>
            <a:endParaRPr lang="en-US" sz="1600" dirty="0"/>
          </a:p>
        </p:txBody>
      </p:sp>
      <p:sp>
        <p:nvSpPr>
          <p:cNvPr id="9" name="Shape 7"/>
          <p:cNvSpPr/>
          <p:nvPr/>
        </p:nvSpPr>
        <p:spPr>
          <a:xfrm>
            <a:off x="5852160" y="1828800"/>
            <a:ext cx="3108960" cy="777240"/>
          </a:xfrm>
          <a:prstGeom prst="rect">
            <a:avLst/>
          </a:prstGeom>
          <a:solidFill>
            <a:srgbClr val="FFFFFF"/>
          </a:solidFill>
          <a:ln w="19050">
            <a:solidFill>
              <a:srgbClr val="0F766E"/>
            </a:solidFill>
            <a:prstDash val="solid"/>
          </a:ln>
        </p:spPr>
        <p:txBody>
          <a:bodyPr/>
          <a:lstStyle/>
          <a:p>
            <a:endParaRPr lang="ko-KR" altLang="en-US"/>
          </a:p>
        </p:txBody>
      </p:sp>
      <p:sp>
        <p:nvSpPr>
          <p:cNvPr id="10" name="Text 8"/>
          <p:cNvSpPr txBox="1"/>
          <p:nvPr/>
        </p:nvSpPr>
        <p:spPr>
          <a:xfrm>
            <a:off x="5989320" y="1828800"/>
            <a:ext cx="2834640" cy="77724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USART1 + DMA</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RX · TX 각 4 KiB × 2</a:t>
            </a:r>
            <a:endParaRPr lang="en-US" sz="1600" dirty="0"/>
          </a:p>
        </p:txBody>
      </p:sp>
      <p:sp>
        <p:nvSpPr>
          <p:cNvPr id="11" name="Shape 9"/>
          <p:cNvSpPr/>
          <p:nvPr/>
        </p:nvSpPr>
        <p:spPr>
          <a:xfrm>
            <a:off x="5852160" y="3154680"/>
            <a:ext cx="3108960" cy="777240"/>
          </a:xfrm>
          <a:prstGeom prst="rect">
            <a:avLst/>
          </a:prstGeom>
          <a:solidFill>
            <a:srgbClr val="FFFFFF"/>
          </a:solidFill>
          <a:ln w="19050">
            <a:solidFill>
              <a:srgbClr val="0F766E"/>
            </a:solidFill>
            <a:prstDash val="solid"/>
          </a:ln>
        </p:spPr>
        <p:txBody>
          <a:bodyPr/>
          <a:lstStyle/>
          <a:p>
            <a:endParaRPr lang="ko-KR" altLang="en-US"/>
          </a:p>
        </p:txBody>
      </p:sp>
      <p:sp>
        <p:nvSpPr>
          <p:cNvPr id="12" name="Text 10"/>
          <p:cNvSpPr txBox="1"/>
          <p:nvPr/>
        </p:nvSpPr>
        <p:spPr>
          <a:xfrm>
            <a:off x="5989320" y="3154680"/>
            <a:ext cx="2834640" cy="77724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펌웨어</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청크 CRC · ACK · Flash 주소 관리</a:t>
            </a:r>
            <a:endParaRPr lang="en-US" sz="1600" dirty="0"/>
          </a:p>
        </p:txBody>
      </p:sp>
      <p:sp>
        <p:nvSpPr>
          <p:cNvPr id="13" name="Shape 11"/>
          <p:cNvSpPr/>
          <p:nvPr/>
        </p:nvSpPr>
        <p:spPr>
          <a:xfrm>
            <a:off x="5852160" y="4480560"/>
            <a:ext cx="3108960" cy="777240"/>
          </a:xfrm>
          <a:prstGeom prst="rect">
            <a:avLst/>
          </a:prstGeom>
          <a:solidFill>
            <a:srgbClr val="FFFFFF"/>
          </a:solidFill>
          <a:ln w="19050">
            <a:solidFill>
              <a:srgbClr val="0F766E"/>
            </a:solidFill>
            <a:prstDash val="solid"/>
          </a:ln>
        </p:spPr>
        <p:txBody>
          <a:bodyPr/>
          <a:lstStyle/>
          <a:p>
            <a:endParaRPr lang="ko-KR" altLang="en-US"/>
          </a:p>
        </p:txBody>
      </p:sp>
      <p:sp>
        <p:nvSpPr>
          <p:cNvPr id="14" name="Text 12"/>
          <p:cNvSpPr txBox="1"/>
          <p:nvPr/>
        </p:nvSpPr>
        <p:spPr>
          <a:xfrm>
            <a:off x="5989320" y="4480560"/>
            <a:ext cx="2834640" cy="77724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QUADSPI</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SPI 1-1-1 · Mode 0 · 27 MHz</a:t>
            </a:r>
            <a:endParaRPr lang="en-US" sz="1600" dirty="0"/>
          </a:p>
        </p:txBody>
      </p:sp>
      <p:sp>
        <p:nvSpPr>
          <p:cNvPr id="15" name="Shape 13"/>
          <p:cNvSpPr/>
          <p:nvPr/>
        </p:nvSpPr>
        <p:spPr>
          <a:xfrm>
            <a:off x="9875520" y="4434840"/>
            <a:ext cx="1764792" cy="868680"/>
          </a:xfrm>
          <a:prstGeom prst="rect">
            <a:avLst/>
          </a:prstGeom>
          <a:solidFill>
            <a:srgbClr val="FFFFFF"/>
          </a:solidFill>
          <a:ln w="19050">
            <a:solidFill>
              <a:srgbClr val="5F6B7A"/>
            </a:solidFill>
            <a:prstDash val="solid"/>
          </a:ln>
        </p:spPr>
        <p:txBody>
          <a:bodyPr/>
          <a:lstStyle/>
          <a:p>
            <a:endParaRPr lang="ko-KR" altLang="en-US"/>
          </a:p>
        </p:txBody>
      </p:sp>
      <p:sp>
        <p:nvSpPr>
          <p:cNvPr id="16" name="Text 14"/>
          <p:cNvSpPr txBox="1"/>
          <p:nvPr/>
        </p:nvSpPr>
        <p:spPr>
          <a:xfrm>
            <a:off x="10012680" y="4434840"/>
            <a:ext cx="1490472" cy="86868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W25Q128</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SPI NOR Flash</a:t>
            </a:r>
            <a:endParaRPr lang="en-US" sz="1600" dirty="0"/>
          </a:p>
        </p:txBody>
      </p:sp>
      <p:sp>
        <p:nvSpPr>
          <p:cNvPr id="17" name="Shape 15"/>
          <p:cNvSpPr/>
          <p:nvPr/>
        </p:nvSpPr>
        <p:spPr>
          <a:xfrm>
            <a:off x="2560320" y="2217420"/>
            <a:ext cx="457200" cy="0"/>
          </a:xfrm>
          <a:prstGeom prst="line">
            <a:avLst/>
          </a:prstGeom>
          <a:noFill/>
          <a:ln w="22225">
            <a:solidFill>
              <a:srgbClr val="5F6B7A"/>
            </a:solidFill>
            <a:prstDash val="solid"/>
            <a:headEnd type="triangle"/>
            <a:tailEnd type="triangle"/>
          </a:ln>
        </p:spPr>
        <p:txBody>
          <a:bodyPr/>
          <a:lstStyle/>
          <a:p>
            <a:endParaRPr lang="ko-KR" altLang="en-US"/>
          </a:p>
        </p:txBody>
      </p:sp>
      <p:sp>
        <p:nvSpPr>
          <p:cNvPr id="18" name="Shape 16"/>
          <p:cNvSpPr/>
          <p:nvPr/>
        </p:nvSpPr>
        <p:spPr>
          <a:xfrm>
            <a:off x="4663440" y="2217420"/>
            <a:ext cx="1188720" cy="0"/>
          </a:xfrm>
          <a:prstGeom prst="line">
            <a:avLst/>
          </a:prstGeom>
          <a:noFill/>
          <a:ln w="22225">
            <a:solidFill>
              <a:srgbClr val="5F6B7A"/>
            </a:solidFill>
            <a:prstDash val="solid"/>
            <a:headEnd type="triangle"/>
            <a:tailEnd type="triangle"/>
          </a:ln>
        </p:spPr>
        <p:txBody>
          <a:bodyPr/>
          <a:lstStyle/>
          <a:p>
            <a:endParaRPr lang="ko-KR" altLang="en-US"/>
          </a:p>
        </p:txBody>
      </p:sp>
      <p:sp>
        <p:nvSpPr>
          <p:cNvPr id="19" name="Shape 17"/>
          <p:cNvSpPr/>
          <p:nvPr/>
        </p:nvSpPr>
        <p:spPr>
          <a:xfrm>
            <a:off x="7406640" y="2606040"/>
            <a:ext cx="0" cy="548640"/>
          </a:xfrm>
          <a:prstGeom prst="line">
            <a:avLst/>
          </a:prstGeom>
          <a:noFill/>
          <a:ln w="22225">
            <a:solidFill>
              <a:srgbClr val="5F6B7A"/>
            </a:solidFill>
            <a:prstDash val="solid"/>
            <a:headEnd type="triangle"/>
            <a:tailEnd type="triangle"/>
          </a:ln>
        </p:spPr>
        <p:txBody>
          <a:bodyPr/>
          <a:lstStyle/>
          <a:p>
            <a:endParaRPr lang="ko-KR" altLang="en-US"/>
          </a:p>
        </p:txBody>
      </p:sp>
      <p:sp>
        <p:nvSpPr>
          <p:cNvPr id="20" name="Shape 18"/>
          <p:cNvSpPr/>
          <p:nvPr/>
        </p:nvSpPr>
        <p:spPr>
          <a:xfrm>
            <a:off x="7406640" y="3931920"/>
            <a:ext cx="0" cy="548640"/>
          </a:xfrm>
          <a:prstGeom prst="line">
            <a:avLst/>
          </a:prstGeom>
          <a:noFill/>
          <a:ln w="22225">
            <a:solidFill>
              <a:srgbClr val="5F6B7A"/>
            </a:solidFill>
            <a:prstDash val="solid"/>
            <a:headEnd type="triangle"/>
            <a:tailEnd type="triangle"/>
          </a:ln>
        </p:spPr>
        <p:txBody>
          <a:bodyPr/>
          <a:lstStyle/>
          <a:p>
            <a:endParaRPr lang="ko-KR" altLang="en-US"/>
          </a:p>
        </p:txBody>
      </p:sp>
      <p:sp>
        <p:nvSpPr>
          <p:cNvPr id="21" name="Shape 19"/>
          <p:cNvSpPr/>
          <p:nvPr/>
        </p:nvSpPr>
        <p:spPr>
          <a:xfrm>
            <a:off x="8961120" y="4869180"/>
            <a:ext cx="914400" cy="0"/>
          </a:xfrm>
          <a:prstGeom prst="line">
            <a:avLst/>
          </a:prstGeom>
          <a:noFill/>
          <a:ln w="22225">
            <a:solidFill>
              <a:srgbClr val="5F6B7A"/>
            </a:solidFill>
            <a:prstDash val="solid"/>
            <a:headEnd type="triangle"/>
            <a:tailEnd type="triangle"/>
          </a:ln>
        </p:spPr>
        <p:txBody>
          <a:bodyPr/>
          <a:lstStyle/>
          <a:p>
            <a:endParaRPr lang="ko-KR" altLang="en-US"/>
          </a:p>
        </p:txBody>
      </p:sp>
      <p:sp>
        <p:nvSpPr>
          <p:cNvPr id="22" name="Text 20"/>
          <p:cNvSpPr txBox="1"/>
          <p:nvPr/>
        </p:nvSpPr>
        <p:spPr>
          <a:xfrm>
            <a:off x="2560320" y="1874520"/>
            <a:ext cx="457200" cy="274320"/>
          </a:xfrm>
          <a:prstGeom prst="rect">
            <a:avLst/>
          </a:prstGeom>
          <a:noFill/>
          <a:ln/>
        </p:spPr>
        <p:txBody>
          <a:bodyPr wrap="square" lIns="0" tIns="0" rIns="0" bIns="0" rtlCol="0" anchor="t"/>
          <a:lstStyle/>
          <a:p>
            <a:pPr marL="0" indent="0" algn="ctr">
              <a:buNone/>
            </a:pPr>
            <a:r>
              <a:rPr lang="en-US" sz="1200" dirty="0">
                <a:solidFill>
                  <a:srgbClr val="5F6B7A"/>
                </a:solidFill>
                <a:latin typeface="Malgun Gothic" pitchFamily="34" charset="0"/>
                <a:ea typeface="Malgun Gothic" pitchFamily="34" charset="-122"/>
                <a:cs typeface="Malgun Gothic" pitchFamily="34" charset="-120"/>
              </a:rPr>
              <a:t>USB</a:t>
            </a:r>
            <a:endParaRPr lang="en-US" sz="1200" dirty="0"/>
          </a:p>
        </p:txBody>
      </p:sp>
      <p:sp>
        <p:nvSpPr>
          <p:cNvPr id="23" name="Text 21"/>
          <p:cNvSpPr txBox="1"/>
          <p:nvPr/>
        </p:nvSpPr>
        <p:spPr>
          <a:xfrm>
            <a:off x="4709160" y="2331720"/>
            <a:ext cx="1097280" cy="457200"/>
          </a:xfrm>
          <a:prstGeom prst="rect">
            <a:avLst/>
          </a:prstGeom>
          <a:noFill/>
          <a:ln/>
        </p:spPr>
        <p:txBody>
          <a:bodyPr wrap="square" lIns="0" tIns="0" rIns="0" bIns="0" rtlCol="0" anchor="t"/>
          <a:lstStyle/>
          <a:p>
            <a:pPr marL="0" indent="0" algn="ctr">
              <a:buNone/>
            </a:pPr>
            <a:r>
              <a:rPr lang="en-US" sz="1200" dirty="0">
                <a:solidFill>
                  <a:srgbClr val="5F6B7A"/>
                </a:solidFill>
                <a:latin typeface="Malgun Gothic" pitchFamily="34" charset="0"/>
                <a:ea typeface="Malgun Gothic" pitchFamily="34" charset="-122"/>
                <a:cs typeface="Malgun Gothic" pitchFamily="34" charset="-120"/>
              </a:rPr>
              <a:t>UART 8N1</a:t>
            </a:r>
            <a:endParaRPr lang="en-US" sz="1200" dirty="0"/>
          </a:p>
          <a:p>
            <a:pPr marL="0" indent="0" algn="ctr">
              <a:buNone/>
            </a:pPr>
            <a:r>
              <a:rPr lang="en-US" sz="1200" dirty="0">
                <a:solidFill>
                  <a:srgbClr val="5F6B7A"/>
                </a:solidFill>
                <a:latin typeface="Malgun Gothic" pitchFamily="34" charset="0"/>
                <a:ea typeface="Malgun Gothic" pitchFamily="34" charset="-122"/>
                <a:cs typeface="Malgun Gothic" pitchFamily="34" charset="-120"/>
              </a:rPr>
              <a:t>921600 baud</a:t>
            </a:r>
            <a:endParaRPr lang="en-US" sz="1200" dirty="0"/>
          </a:p>
        </p:txBody>
      </p:sp>
      <p:sp>
        <p:nvSpPr>
          <p:cNvPr id="24" name="Shape 22"/>
          <p:cNvSpPr/>
          <p:nvPr/>
        </p:nvSpPr>
        <p:spPr>
          <a:xfrm>
            <a:off x="10757916" y="5303520"/>
            <a:ext cx="0" cy="548640"/>
          </a:xfrm>
          <a:prstGeom prst="line">
            <a:avLst/>
          </a:prstGeom>
          <a:noFill/>
          <a:ln w="22225">
            <a:solidFill>
              <a:srgbClr val="0F766E"/>
            </a:solidFill>
            <a:prstDash val="dash"/>
          </a:ln>
        </p:spPr>
        <p:txBody>
          <a:bodyPr/>
          <a:lstStyle/>
          <a:p>
            <a:endParaRPr lang="ko-KR" altLang="en-US"/>
          </a:p>
        </p:txBody>
      </p:sp>
      <p:sp>
        <p:nvSpPr>
          <p:cNvPr id="25" name="Shape 23"/>
          <p:cNvSpPr/>
          <p:nvPr/>
        </p:nvSpPr>
        <p:spPr>
          <a:xfrm>
            <a:off x="1554480" y="5852160"/>
            <a:ext cx="9203436" cy="0"/>
          </a:xfrm>
          <a:prstGeom prst="line">
            <a:avLst/>
          </a:prstGeom>
          <a:noFill/>
          <a:ln w="22225">
            <a:solidFill>
              <a:srgbClr val="0F766E"/>
            </a:solidFill>
            <a:prstDash val="dash"/>
          </a:ln>
        </p:spPr>
        <p:txBody>
          <a:bodyPr/>
          <a:lstStyle/>
          <a:p>
            <a:endParaRPr lang="ko-KR" altLang="en-US"/>
          </a:p>
        </p:txBody>
      </p:sp>
      <p:sp>
        <p:nvSpPr>
          <p:cNvPr id="26" name="Shape 24"/>
          <p:cNvSpPr/>
          <p:nvPr/>
        </p:nvSpPr>
        <p:spPr>
          <a:xfrm>
            <a:off x="1554480" y="2720340"/>
            <a:ext cx="0" cy="3131820"/>
          </a:xfrm>
          <a:prstGeom prst="line">
            <a:avLst/>
          </a:prstGeom>
          <a:noFill/>
          <a:ln w="22225">
            <a:solidFill>
              <a:srgbClr val="0F766E"/>
            </a:solidFill>
            <a:prstDash val="dash"/>
            <a:headEnd type="triangle"/>
          </a:ln>
        </p:spPr>
        <p:txBody>
          <a:bodyPr/>
          <a:lstStyle/>
          <a:p>
            <a:endParaRPr lang="ko-KR" altLang="en-US"/>
          </a:p>
        </p:txBody>
      </p:sp>
      <p:sp>
        <p:nvSpPr>
          <p:cNvPr id="27" name="Text 25"/>
          <p:cNvSpPr txBox="1"/>
          <p:nvPr/>
        </p:nvSpPr>
        <p:spPr>
          <a:xfrm>
            <a:off x="7863840" y="5971032"/>
            <a:ext cx="3776472" cy="292608"/>
          </a:xfrm>
          <a:prstGeom prst="rect">
            <a:avLst/>
          </a:prstGeom>
          <a:noFill/>
          <a:ln/>
        </p:spPr>
        <p:txBody>
          <a:bodyPr wrap="square" lIns="0" tIns="0" rIns="0" bIns="0" rtlCol="0" anchor="t"/>
          <a:lstStyle/>
          <a:p>
            <a:pPr marL="0" indent="0" algn="r">
              <a:buNone/>
            </a:pPr>
            <a:r>
              <a:rPr lang="en-US" sz="1200" dirty="0">
                <a:solidFill>
                  <a:srgbClr val="5F6B7A"/>
                </a:solidFill>
                <a:latin typeface="Malgun Gothic" pitchFamily="34" charset="0"/>
                <a:ea typeface="Malgun Gothic" pitchFamily="34" charset="-122"/>
                <a:cs typeface="Malgun Gothic" pitchFamily="34" charset="-120"/>
              </a:rPr>
              <a:t>확인 코드: ① 7장 · ② 8장 · ③ 7·9장 · ④ 10·11장</a:t>
            </a:r>
            <a:endParaRPr lang="en-US" sz="1200" dirty="0"/>
          </a:p>
        </p:txBody>
      </p:sp>
      <p:sp>
        <p:nvSpPr>
          <p:cNvPr id="28" name="Text 26"/>
          <p:cNvSpPr txBox="1"/>
          <p:nvPr/>
        </p:nvSpPr>
        <p:spPr>
          <a:xfrm>
            <a:off x="2194560" y="5971032"/>
            <a:ext cx="5486400" cy="292608"/>
          </a:xfrm>
          <a:prstGeom prst="rect">
            <a:avLst/>
          </a:prstGeom>
          <a:noFill/>
          <a:ln/>
        </p:spPr>
        <p:txBody>
          <a:bodyPr wrap="square" lIns="0" tIns="0" rIns="0" bIns="0" rtlCol="0" anchor="t"/>
          <a:lstStyle/>
          <a:p>
            <a:pPr marL="0" indent="0">
              <a:buNone/>
            </a:pPr>
            <a:r>
              <a:rPr lang="en-US" sz="1300" b="1" dirty="0">
                <a:solidFill>
                  <a:srgbClr val="0F766E"/>
                </a:solidFill>
                <a:latin typeface="Malgun Gothic" pitchFamily="34" charset="0"/>
                <a:ea typeface="Malgun Gothic" pitchFamily="34" charset="-122"/>
                <a:cs typeface="Malgun Gothic" pitchFamily="34" charset="-120"/>
              </a:rPr>
              <a:t>원본 ⇄ Flash에서 복원한 파일 비교 (종단 간)</a:t>
            </a:r>
            <a:endParaRPr lang="en-US" sz="1300" dirty="0"/>
          </a:p>
        </p:txBody>
      </p:sp>
      <p:sp>
        <p:nvSpPr>
          <p:cNvPr id="29" name="Shape 27"/>
          <p:cNvSpPr/>
          <p:nvPr/>
        </p:nvSpPr>
        <p:spPr>
          <a:xfrm>
            <a:off x="5093208" y="1783080"/>
            <a:ext cx="329184" cy="329184"/>
          </a:xfrm>
          <a:prstGeom prst="ellipse">
            <a:avLst/>
          </a:prstGeom>
          <a:solidFill>
            <a:srgbClr val="0F766E"/>
          </a:solidFill>
          <a:ln w="12700">
            <a:solidFill>
              <a:srgbClr val="0F766E"/>
            </a:solidFill>
            <a:prstDash val="solid"/>
          </a:ln>
        </p:spPr>
        <p:txBody>
          <a:bodyPr/>
          <a:lstStyle/>
          <a:p>
            <a:endParaRPr lang="ko-KR" altLang="en-US"/>
          </a:p>
        </p:txBody>
      </p:sp>
      <p:sp>
        <p:nvSpPr>
          <p:cNvPr id="30" name="Text 28"/>
          <p:cNvSpPr txBox="1"/>
          <p:nvPr/>
        </p:nvSpPr>
        <p:spPr>
          <a:xfrm>
            <a:off x="5093208" y="178308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31" name="Shape 29"/>
          <p:cNvSpPr/>
          <p:nvPr/>
        </p:nvSpPr>
        <p:spPr>
          <a:xfrm>
            <a:off x="7589520" y="2715768"/>
            <a:ext cx="329184" cy="329184"/>
          </a:xfrm>
          <a:prstGeom prst="ellipse">
            <a:avLst/>
          </a:prstGeom>
          <a:solidFill>
            <a:srgbClr val="0F766E"/>
          </a:solidFill>
          <a:ln w="12700">
            <a:solidFill>
              <a:srgbClr val="0F766E"/>
            </a:solidFill>
            <a:prstDash val="solid"/>
          </a:ln>
        </p:spPr>
        <p:txBody>
          <a:bodyPr/>
          <a:lstStyle/>
          <a:p>
            <a:endParaRPr lang="ko-KR" altLang="en-US"/>
          </a:p>
        </p:txBody>
      </p:sp>
      <p:sp>
        <p:nvSpPr>
          <p:cNvPr id="32" name="Text 30"/>
          <p:cNvSpPr txBox="1"/>
          <p:nvPr/>
        </p:nvSpPr>
        <p:spPr>
          <a:xfrm>
            <a:off x="7589520" y="271576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33" name="Shape 31"/>
          <p:cNvSpPr/>
          <p:nvPr/>
        </p:nvSpPr>
        <p:spPr>
          <a:xfrm>
            <a:off x="9390888" y="4389120"/>
            <a:ext cx="329184" cy="329184"/>
          </a:xfrm>
          <a:prstGeom prst="ellipse">
            <a:avLst/>
          </a:prstGeom>
          <a:solidFill>
            <a:srgbClr val="0F766E"/>
          </a:solidFill>
          <a:ln w="12700">
            <a:solidFill>
              <a:srgbClr val="0F766E"/>
            </a:solidFill>
            <a:prstDash val="solid"/>
          </a:ln>
        </p:spPr>
        <p:txBody>
          <a:bodyPr/>
          <a:lstStyle/>
          <a:p>
            <a:endParaRPr lang="ko-KR" altLang="en-US"/>
          </a:p>
        </p:txBody>
      </p:sp>
      <p:sp>
        <p:nvSpPr>
          <p:cNvPr id="34" name="Text 32"/>
          <p:cNvSpPr txBox="1"/>
          <p:nvPr/>
        </p:nvSpPr>
        <p:spPr>
          <a:xfrm>
            <a:off x="9390888" y="43891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35" name="Shape 33"/>
          <p:cNvSpPr/>
          <p:nvPr/>
        </p:nvSpPr>
        <p:spPr>
          <a:xfrm>
            <a:off x="1783080" y="5943600"/>
            <a:ext cx="329184" cy="329184"/>
          </a:xfrm>
          <a:prstGeom prst="ellipse">
            <a:avLst/>
          </a:prstGeom>
          <a:solidFill>
            <a:srgbClr val="0F766E"/>
          </a:solidFill>
          <a:ln w="12700">
            <a:solidFill>
              <a:srgbClr val="0F766E"/>
            </a:solidFill>
            <a:prstDash val="solid"/>
          </a:ln>
        </p:spPr>
        <p:txBody>
          <a:bodyPr/>
          <a:lstStyle/>
          <a:p>
            <a:endParaRPr lang="ko-KR" altLang="en-US"/>
          </a:p>
        </p:txBody>
      </p:sp>
      <p:sp>
        <p:nvSpPr>
          <p:cNvPr id="36" name="Text 34"/>
          <p:cNvSpPr txBox="1"/>
          <p:nvPr/>
        </p:nvSpPr>
        <p:spPr>
          <a:xfrm>
            <a:off x="1783080" y="594360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37"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UART 수신: 4 KiB DMA double </a:t>
            </a:r>
            <a:r>
              <a:rPr lang="en-US" sz="2600" b="1" dirty="0" err="1">
                <a:solidFill>
                  <a:srgbClr val="1F2933"/>
                </a:solidFill>
                <a:latin typeface="Malgun Gothic" pitchFamily="34" charset="0"/>
                <a:ea typeface="Malgun Gothic" pitchFamily="34" charset="-122"/>
                <a:cs typeface="Malgun Gothic" pitchFamily="34" charset="-120"/>
              </a:rPr>
              <a:t>buffer와</a:t>
            </a:r>
            <a:r>
              <a:rPr lang="en-US" sz="2600" b="1" dirty="0">
                <a:solidFill>
                  <a:srgbClr val="1F2933"/>
                </a:solidFill>
                <a:latin typeface="Malgun Gothic" pitchFamily="34" charset="0"/>
                <a:ea typeface="Malgun Gothic" pitchFamily="34" charset="-122"/>
                <a:cs typeface="Malgun Gothic" pitchFamily="34" charset="-120"/>
              </a:rPr>
              <a:t> 청크 단위 확인</a:t>
            </a:r>
            <a:endParaRPr lang="en-US" sz="2600" dirty="0"/>
          </a:p>
        </p:txBody>
      </p:sp>
      <p:sp>
        <p:nvSpPr>
          <p:cNvPr id="3" name="Text 1"/>
          <p:cNvSpPr txBox="1"/>
          <p:nvPr/>
        </p:nvSpPr>
        <p:spPr>
          <a:xfrm>
            <a:off x="548640" y="1463040"/>
            <a:ext cx="3657600" cy="320040"/>
          </a:xfrm>
          <a:prstGeom prst="rect">
            <a:avLst/>
          </a:prstGeom>
          <a:noFill/>
          <a:ln/>
        </p:spPr>
        <p:txBody>
          <a:bodyPr wrap="square" lIns="0" tIns="0" rIns="0" bIns="0" rtlCol="0" anchor="t"/>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DMA 수신 버퍼</a:t>
            </a:r>
            <a:endParaRPr lang="en-US" sz="1500" dirty="0"/>
          </a:p>
        </p:txBody>
      </p:sp>
      <p:sp>
        <p:nvSpPr>
          <p:cNvPr id="4" name="Shape 2"/>
          <p:cNvSpPr/>
          <p:nvPr/>
        </p:nvSpPr>
        <p:spPr>
          <a:xfrm>
            <a:off x="548640" y="1874520"/>
            <a:ext cx="1618488" cy="640080"/>
          </a:xfrm>
          <a:prstGeom prst="rect">
            <a:avLst/>
          </a:prstGeom>
          <a:solidFill>
            <a:srgbClr val="0F766E"/>
          </a:solidFill>
          <a:ln w="12700">
            <a:solidFill>
              <a:srgbClr val="0F766E"/>
            </a:solidFill>
            <a:prstDash val="solid"/>
          </a:ln>
        </p:spPr>
        <p:txBody>
          <a:bodyPr/>
          <a:lstStyle/>
          <a:p>
            <a:endParaRPr lang="ko-KR" altLang="en-US"/>
          </a:p>
        </p:txBody>
      </p:sp>
      <p:sp>
        <p:nvSpPr>
          <p:cNvPr id="5" name="Text 3"/>
          <p:cNvSpPr txBox="1"/>
          <p:nvPr/>
        </p:nvSpPr>
        <p:spPr>
          <a:xfrm>
            <a:off x="548640" y="1874520"/>
            <a:ext cx="1618488"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M0 4,096 B</a:t>
            </a:r>
            <a:endParaRPr lang="en-US" sz="1400" dirty="0"/>
          </a:p>
        </p:txBody>
      </p:sp>
      <p:sp>
        <p:nvSpPr>
          <p:cNvPr id="6" name="Shape 4"/>
          <p:cNvSpPr/>
          <p:nvPr/>
        </p:nvSpPr>
        <p:spPr>
          <a:xfrm>
            <a:off x="2221992" y="1874520"/>
            <a:ext cx="1618488" cy="640080"/>
          </a:xfrm>
          <a:prstGeom prst="rect">
            <a:avLst/>
          </a:prstGeom>
          <a:solidFill>
            <a:srgbClr val="E3F1EF"/>
          </a:solidFill>
          <a:ln w="12700">
            <a:solidFill>
              <a:srgbClr val="E3F1EF"/>
            </a:solidFill>
            <a:prstDash val="solid"/>
          </a:ln>
        </p:spPr>
        <p:txBody>
          <a:bodyPr/>
          <a:lstStyle/>
          <a:p>
            <a:endParaRPr lang="ko-KR" altLang="en-US"/>
          </a:p>
        </p:txBody>
      </p:sp>
      <p:sp>
        <p:nvSpPr>
          <p:cNvPr id="7" name="Text 5"/>
          <p:cNvSpPr txBox="1"/>
          <p:nvPr/>
        </p:nvSpPr>
        <p:spPr>
          <a:xfrm>
            <a:off x="2221992" y="1874520"/>
            <a:ext cx="1618488" cy="640080"/>
          </a:xfrm>
          <a:prstGeom prst="rect">
            <a:avLst/>
          </a:prstGeom>
          <a:noFill/>
          <a:ln/>
        </p:spPr>
        <p:txBody>
          <a:bodyPr wrap="square" lIns="0" tIns="0" rIns="0" bIns="0" rtlCol="0" anchor="ctr"/>
          <a:lstStyle/>
          <a:p>
            <a:pPr marL="0" indent="0" algn="ctr">
              <a:buNone/>
            </a:pPr>
            <a:r>
              <a:rPr lang="en-US" sz="1400" b="1" dirty="0">
                <a:solidFill>
                  <a:srgbClr val="0F766E"/>
                </a:solidFill>
                <a:latin typeface="Malgun Gothic" pitchFamily="34" charset="0"/>
                <a:ea typeface="Malgun Gothic" pitchFamily="34" charset="-122"/>
                <a:cs typeface="Malgun Gothic" pitchFamily="34" charset="-120"/>
              </a:rPr>
              <a:t>M1 4,096 B</a:t>
            </a:r>
            <a:endParaRPr lang="en-US" sz="1400" dirty="0"/>
          </a:p>
        </p:txBody>
      </p:sp>
      <p:sp>
        <p:nvSpPr>
          <p:cNvPr id="8" name="Shape 6"/>
          <p:cNvSpPr/>
          <p:nvPr/>
        </p:nvSpPr>
        <p:spPr>
          <a:xfrm>
            <a:off x="3895344" y="1874520"/>
            <a:ext cx="1618488" cy="640080"/>
          </a:xfrm>
          <a:prstGeom prst="rect">
            <a:avLst/>
          </a:prstGeom>
          <a:solidFill>
            <a:srgbClr val="0F766E"/>
          </a:solidFill>
          <a:ln w="12700">
            <a:solidFill>
              <a:srgbClr val="0F766E"/>
            </a:solidFill>
            <a:prstDash val="solid"/>
          </a:ln>
        </p:spPr>
        <p:txBody>
          <a:bodyPr/>
          <a:lstStyle/>
          <a:p>
            <a:endParaRPr lang="ko-KR" altLang="en-US"/>
          </a:p>
        </p:txBody>
      </p:sp>
      <p:sp>
        <p:nvSpPr>
          <p:cNvPr id="9" name="Text 7"/>
          <p:cNvSpPr txBox="1"/>
          <p:nvPr/>
        </p:nvSpPr>
        <p:spPr>
          <a:xfrm>
            <a:off x="3895344" y="1874520"/>
            <a:ext cx="1618488"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M0 4,096 B</a:t>
            </a:r>
            <a:endParaRPr lang="en-US" sz="1400" dirty="0"/>
          </a:p>
        </p:txBody>
      </p:sp>
      <p:sp>
        <p:nvSpPr>
          <p:cNvPr id="10" name="Shape 8"/>
          <p:cNvSpPr/>
          <p:nvPr/>
        </p:nvSpPr>
        <p:spPr>
          <a:xfrm>
            <a:off x="5568696" y="1874520"/>
            <a:ext cx="1618488" cy="640080"/>
          </a:xfrm>
          <a:prstGeom prst="rect">
            <a:avLst/>
          </a:prstGeom>
          <a:solidFill>
            <a:srgbClr val="E3F1EF"/>
          </a:solidFill>
          <a:ln w="12700">
            <a:solidFill>
              <a:srgbClr val="E3F1EF"/>
            </a:solidFill>
            <a:prstDash val="solid"/>
          </a:ln>
        </p:spPr>
        <p:txBody>
          <a:bodyPr/>
          <a:lstStyle/>
          <a:p>
            <a:endParaRPr lang="ko-KR" altLang="en-US"/>
          </a:p>
        </p:txBody>
      </p:sp>
      <p:sp>
        <p:nvSpPr>
          <p:cNvPr id="11" name="Text 9"/>
          <p:cNvSpPr txBox="1"/>
          <p:nvPr/>
        </p:nvSpPr>
        <p:spPr>
          <a:xfrm>
            <a:off x="5568696" y="1874520"/>
            <a:ext cx="1618488" cy="640080"/>
          </a:xfrm>
          <a:prstGeom prst="rect">
            <a:avLst/>
          </a:prstGeom>
          <a:noFill/>
          <a:ln/>
        </p:spPr>
        <p:txBody>
          <a:bodyPr wrap="square" lIns="0" tIns="0" rIns="0" bIns="0" rtlCol="0" anchor="ctr"/>
          <a:lstStyle/>
          <a:p>
            <a:pPr marL="0" indent="0" algn="ctr">
              <a:buNone/>
            </a:pPr>
            <a:r>
              <a:rPr lang="en-US" sz="1400" b="1" dirty="0">
                <a:solidFill>
                  <a:srgbClr val="0F766E"/>
                </a:solidFill>
                <a:latin typeface="Malgun Gothic" pitchFamily="34" charset="0"/>
                <a:ea typeface="Malgun Gothic" pitchFamily="34" charset="-122"/>
                <a:cs typeface="Malgun Gothic" pitchFamily="34" charset="-120"/>
              </a:rPr>
              <a:t>M1 4,096 B</a:t>
            </a:r>
            <a:endParaRPr lang="en-US" sz="1400" dirty="0"/>
          </a:p>
        </p:txBody>
      </p:sp>
      <p:sp>
        <p:nvSpPr>
          <p:cNvPr id="12" name="Text 10"/>
          <p:cNvSpPr txBox="1"/>
          <p:nvPr/>
        </p:nvSpPr>
        <p:spPr>
          <a:xfrm>
            <a:off x="548640" y="2606040"/>
            <a:ext cx="6675120" cy="320040"/>
          </a:xfrm>
          <a:prstGeom prst="rect">
            <a:avLst/>
          </a:prstGeom>
          <a:noFill/>
          <a:ln/>
        </p:spPr>
        <p:txBody>
          <a:bodyPr wrap="square" lIns="0" tIns="0" rIns="0" bIns="0" rtlCol="0" anchor="t"/>
          <a:lstStyle/>
          <a:p>
            <a:pPr marL="0" indent="0">
              <a:buNone/>
            </a:pPr>
            <a:r>
              <a:rPr lang="en-US" sz="1400" dirty="0">
                <a:solidFill>
                  <a:srgbClr val="5F6B7A"/>
                </a:solidFill>
                <a:latin typeface="Malgun Gothic" pitchFamily="34" charset="0"/>
                <a:ea typeface="Malgun Gothic" pitchFamily="34" charset="-122"/>
                <a:cs typeface="Malgun Gothic" pitchFamily="34" charset="-120"/>
              </a:rPr>
              <a:t>한쪽이 차면 하드웨어가 다른 쪽으로 전환 (DMA Double Buffer Mode)</a:t>
            </a:r>
            <a:endParaRPr lang="en-US" sz="1400" dirty="0"/>
          </a:p>
        </p:txBody>
      </p:sp>
      <p:sp>
        <p:nvSpPr>
          <p:cNvPr id="13" name="Text 11"/>
          <p:cNvSpPr txBox="1"/>
          <p:nvPr/>
        </p:nvSpPr>
        <p:spPr>
          <a:xfrm>
            <a:off x="548640" y="3291840"/>
            <a:ext cx="4572000" cy="320040"/>
          </a:xfrm>
          <a:prstGeom prst="rect">
            <a:avLst/>
          </a:prstGeom>
          <a:noFill/>
          <a:ln/>
        </p:spPr>
        <p:txBody>
          <a:bodyPr wrap="square" lIns="0" tIns="0" rIns="0" bIns="0" rtlCol="0" anchor="t"/>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청크 하나를 받은 뒤 펌웨어 처리</a:t>
            </a:r>
            <a:endParaRPr lang="en-US" sz="1500" dirty="0"/>
          </a:p>
        </p:txBody>
      </p:sp>
      <p:sp>
        <p:nvSpPr>
          <p:cNvPr id="14" name="Shape 12"/>
          <p:cNvSpPr/>
          <p:nvPr/>
        </p:nvSpPr>
        <p:spPr>
          <a:xfrm>
            <a:off x="548640" y="3703320"/>
            <a:ext cx="1152144" cy="868680"/>
          </a:xfrm>
          <a:prstGeom prst="roundRect">
            <a:avLst>
              <a:gd name="adj" fmla="val 8421"/>
            </a:avLst>
          </a:prstGeom>
          <a:solidFill>
            <a:srgbClr val="FFFFFF"/>
          </a:solidFill>
          <a:ln w="15875">
            <a:solidFill>
              <a:srgbClr val="0F766E"/>
            </a:solidFill>
            <a:prstDash val="solid"/>
          </a:ln>
        </p:spPr>
        <p:txBody>
          <a:bodyPr/>
          <a:lstStyle/>
          <a:p>
            <a:endParaRPr lang="ko-KR" altLang="en-US"/>
          </a:p>
        </p:txBody>
      </p:sp>
      <p:sp>
        <p:nvSpPr>
          <p:cNvPr id="15" name="Text 13"/>
          <p:cNvSpPr txBox="1"/>
          <p:nvPr/>
        </p:nvSpPr>
        <p:spPr>
          <a:xfrm>
            <a:off x="594360" y="3703320"/>
            <a:ext cx="1060704" cy="868680"/>
          </a:xfrm>
          <a:prstGeom prst="rect">
            <a:avLst/>
          </a:prstGeom>
          <a:noFill/>
          <a:ln/>
        </p:spPr>
        <p:txBody>
          <a:bodyPr wrap="square" lIns="0" tIns="0" rIns="0" bIns="0" rtlCol="0" anchor="ctr"/>
          <a:lstStyle/>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CRC 확인</a:t>
            </a:r>
            <a:endParaRPr lang="en-US" sz="1300" dirty="0"/>
          </a:p>
        </p:txBody>
      </p:sp>
      <p:sp>
        <p:nvSpPr>
          <p:cNvPr id="16" name="Shape 14"/>
          <p:cNvSpPr/>
          <p:nvPr/>
        </p:nvSpPr>
        <p:spPr>
          <a:xfrm>
            <a:off x="1728216" y="4137660"/>
            <a:ext cx="178308" cy="0"/>
          </a:xfrm>
          <a:prstGeom prst="line">
            <a:avLst/>
          </a:prstGeom>
          <a:noFill/>
          <a:ln w="15875">
            <a:solidFill>
              <a:srgbClr val="5F6B7A"/>
            </a:solidFill>
            <a:prstDash val="solid"/>
            <a:tailEnd type="triangle"/>
          </a:ln>
        </p:spPr>
        <p:txBody>
          <a:bodyPr/>
          <a:lstStyle/>
          <a:p>
            <a:endParaRPr lang="ko-KR" altLang="en-US"/>
          </a:p>
        </p:txBody>
      </p:sp>
      <p:sp>
        <p:nvSpPr>
          <p:cNvPr id="17" name="Shape 15"/>
          <p:cNvSpPr/>
          <p:nvPr/>
        </p:nvSpPr>
        <p:spPr>
          <a:xfrm>
            <a:off x="1933956" y="3703320"/>
            <a:ext cx="1152144" cy="868680"/>
          </a:xfrm>
          <a:prstGeom prst="roundRect">
            <a:avLst>
              <a:gd name="adj" fmla="val 8421"/>
            </a:avLst>
          </a:prstGeom>
          <a:solidFill>
            <a:srgbClr val="FFFFFF"/>
          </a:solidFill>
          <a:ln w="15875">
            <a:solidFill>
              <a:srgbClr val="0F766E"/>
            </a:solidFill>
            <a:prstDash val="solid"/>
          </a:ln>
        </p:spPr>
        <p:txBody>
          <a:bodyPr/>
          <a:lstStyle/>
          <a:p>
            <a:endParaRPr lang="ko-KR" altLang="en-US"/>
          </a:p>
        </p:txBody>
      </p:sp>
      <p:sp>
        <p:nvSpPr>
          <p:cNvPr id="18" name="Text 16"/>
          <p:cNvSpPr txBox="1"/>
          <p:nvPr/>
        </p:nvSpPr>
        <p:spPr>
          <a:xfrm>
            <a:off x="1979676" y="3703320"/>
            <a:ext cx="1060704" cy="868680"/>
          </a:xfrm>
          <a:prstGeom prst="rect">
            <a:avLst/>
          </a:prstGeom>
          <a:noFill/>
          <a:ln/>
        </p:spPr>
        <p:txBody>
          <a:bodyPr wrap="square" lIns="0" tIns="0" rIns="0" bIns="0" rtlCol="0" anchor="ctr"/>
          <a:lstStyle/>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64 KiB 경계면</a:t>
            </a:r>
            <a:endParaRPr lang="en-US" sz="1300" dirty="0"/>
          </a:p>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블록 삭제</a:t>
            </a:r>
            <a:endParaRPr lang="en-US" sz="1300" dirty="0"/>
          </a:p>
        </p:txBody>
      </p:sp>
      <p:sp>
        <p:nvSpPr>
          <p:cNvPr id="19" name="Shape 17"/>
          <p:cNvSpPr/>
          <p:nvPr/>
        </p:nvSpPr>
        <p:spPr>
          <a:xfrm>
            <a:off x="3113532" y="4137660"/>
            <a:ext cx="178308" cy="0"/>
          </a:xfrm>
          <a:prstGeom prst="line">
            <a:avLst/>
          </a:prstGeom>
          <a:noFill/>
          <a:ln w="15875">
            <a:solidFill>
              <a:srgbClr val="5F6B7A"/>
            </a:solidFill>
            <a:prstDash val="solid"/>
            <a:tailEnd type="triangle"/>
          </a:ln>
        </p:spPr>
        <p:txBody>
          <a:bodyPr/>
          <a:lstStyle/>
          <a:p>
            <a:endParaRPr lang="ko-KR" altLang="en-US"/>
          </a:p>
        </p:txBody>
      </p:sp>
      <p:sp>
        <p:nvSpPr>
          <p:cNvPr id="20" name="Shape 18"/>
          <p:cNvSpPr/>
          <p:nvPr/>
        </p:nvSpPr>
        <p:spPr>
          <a:xfrm>
            <a:off x="3319272" y="3703320"/>
            <a:ext cx="1152144" cy="868680"/>
          </a:xfrm>
          <a:prstGeom prst="roundRect">
            <a:avLst>
              <a:gd name="adj" fmla="val 8421"/>
            </a:avLst>
          </a:prstGeom>
          <a:solidFill>
            <a:srgbClr val="FFFFFF"/>
          </a:solidFill>
          <a:ln w="15875">
            <a:solidFill>
              <a:srgbClr val="0F766E"/>
            </a:solidFill>
            <a:prstDash val="solid"/>
          </a:ln>
        </p:spPr>
        <p:txBody>
          <a:bodyPr/>
          <a:lstStyle/>
          <a:p>
            <a:endParaRPr lang="ko-KR" altLang="en-US"/>
          </a:p>
        </p:txBody>
      </p:sp>
      <p:sp>
        <p:nvSpPr>
          <p:cNvPr id="21" name="Text 19"/>
          <p:cNvSpPr txBox="1"/>
          <p:nvPr/>
        </p:nvSpPr>
        <p:spPr>
          <a:xfrm>
            <a:off x="3364992" y="3703320"/>
            <a:ext cx="1060704" cy="868680"/>
          </a:xfrm>
          <a:prstGeom prst="rect">
            <a:avLst/>
          </a:prstGeom>
          <a:noFill/>
          <a:ln/>
        </p:spPr>
        <p:txBody>
          <a:bodyPr wrap="square" lIns="0" tIns="0" rIns="0" bIns="0" rtlCol="0" anchor="ctr"/>
          <a:lstStyle/>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256 B</a:t>
            </a:r>
            <a:endParaRPr lang="en-US" sz="1300" dirty="0"/>
          </a:p>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페이지 쓰기</a:t>
            </a:r>
            <a:endParaRPr lang="en-US" sz="1300" dirty="0"/>
          </a:p>
        </p:txBody>
      </p:sp>
      <p:sp>
        <p:nvSpPr>
          <p:cNvPr id="22" name="Shape 20"/>
          <p:cNvSpPr/>
          <p:nvPr/>
        </p:nvSpPr>
        <p:spPr>
          <a:xfrm>
            <a:off x="4498848" y="4137660"/>
            <a:ext cx="178308" cy="0"/>
          </a:xfrm>
          <a:prstGeom prst="line">
            <a:avLst/>
          </a:prstGeom>
          <a:noFill/>
          <a:ln w="15875">
            <a:solidFill>
              <a:srgbClr val="5F6B7A"/>
            </a:solidFill>
            <a:prstDash val="solid"/>
            <a:tailEnd type="triangle"/>
          </a:ln>
        </p:spPr>
        <p:txBody>
          <a:bodyPr/>
          <a:lstStyle/>
          <a:p>
            <a:endParaRPr lang="ko-KR" altLang="en-US"/>
          </a:p>
        </p:txBody>
      </p:sp>
      <p:sp>
        <p:nvSpPr>
          <p:cNvPr id="23" name="Shape 21"/>
          <p:cNvSpPr/>
          <p:nvPr/>
        </p:nvSpPr>
        <p:spPr>
          <a:xfrm>
            <a:off x="4704588" y="3703320"/>
            <a:ext cx="1152144" cy="868680"/>
          </a:xfrm>
          <a:prstGeom prst="roundRect">
            <a:avLst>
              <a:gd name="adj" fmla="val 8421"/>
            </a:avLst>
          </a:prstGeom>
          <a:solidFill>
            <a:srgbClr val="FFFFFF"/>
          </a:solidFill>
          <a:ln w="15875">
            <a:solidFill>
              <a:srgbClr val="0F766E"/>
            </a:solidFill>
            <a:prstDash val="solid"/>
          </a:ln>
        </p:spPr>
        <p:txBody>
          <a:bodyPr/>
          <a:lstStyle/>
          <a:p>
            <a:endParaRPr lang="ko-KR" altLang="en-US"/>
          </a:p>
        </p:txBody>
      </p:sp>
      <p:sp>
        <p:nvSpPr>
          <p:cNvPr id="24" name="Text 22"/>
          <p:cNvSpPr txBox="1"/>
          <p:nvPr/>
        </p:nvSpPr>
        <p:spPr>
          <a:xfrm>
            <a:off x="4750308" y="3703320"/>
            <a:ext cx="1060704" cy="868680"/>
          </a:xfrm>
          <a:prstGeom prst="rect">
            <a:avLst/>
          </a:prstGeom>
          <a:noFill/>
          <a:ln/>
        </p:spPr>
        <p:txBody>
          <a:bodyPr wrap="square" lIns="0" tIns="0" rIns="0" bIns="0" rtlCol="0" anchor="ctr"/>
          <a:lstStyle/>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재읽기 비교</a:t>
            </a:r>
            <a:endParaRPr lang="en-US" sz="1300" dirty="0"/>
          </a:p>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(memcmp)</a:t>
            </a:r>
            <a:endParaRPr lang="en-US" sz="1300" dirty="0"/>
          </a:p>
        </p:txBody>
      </p:sp>
      <p:sp>
        <p:nvSpPr>
          <p:cNvPr id="25" name="Shape 23"/>
          <p:cNvSpPr/>
          <p:nvPr/>
        </p:nvSpPr>
        <p:spPr>
          <a:xfrm>
            <a:off x="5884164" y="4137660"/>
            <a:ext cx="178308" cy="0"/>
          </a:xfrm>
          <a:prstGeom prst="line">
            <a:avLst/>
          </a:prstGeom>
          <a:noFill/>
          <a:ln w="15875">
            <a:solidFill>
              <a:srgbClr val="5F6B7A"/>
            </a:solidFill>
            <a:prstDash val="solid"/>
            <a:tailEnd type="triangle"/>
          </a:ln>
        </p:spPr>
        <p:txBody>
          <a:bodyPr/>
          <a:lstStyle/>
          <a:p>
            <a:endParaRPr lang="ko-KR" altLang="en-US"/>
          </a:p>
        </p:txBody>
      </p:sp>
      <p:sp>
        <p:nvSpPr>
          <p:cNvPr id="26" name="Shape 24"/>
          <p:cNvSpPr/>
          <p:nvPr/>
        </p:nvSpPr>
        <p:spPr>
          <a:xfrm>
            <a:off x="6089904" y="3703320"/>
            <a:ext cx="1152144" cy="868680"/>
          </a:xfrm>
          <a:prstGeom prst="roundRect">
            <a:avLst>
              <a:gd name="adj" fmla="val 8421"/>
            </a:avLst>
          </a:prstGeom>
          <a:solidFill>
            <a:srgbClr val="E3F1EF"/>
          </a:solidFill>
          <a:ln w="15875">
            <a:solidFill>
              <a:srgbClr val="0F766E"/>
            </a:solidFill>
            <a:prstDash val="solid"/>
          </a:ln>
        </p:spPr>
        <p:txBody>
          <a:bodyPr/>
          <a:lstStyle/>
          <a:p>
            <a:endParaRPr lang="ko-KR" altLang="en-US"/>
          </a:p>
        </p:txBody>
      </p:sp>
      <p:sp>
        <p:nvSpPr>
          <p:cNvPr id="27" name="Text 25"/>
          <p:cNvSpPr txBox="1"/>
          <p:nvPr/>
        </p:nvSpPr>
        <p:spPr>
          <a:xfrm>
            <a:off x="6135624" y="3703320"/>
            <a:ext cx="1060704" cy="868680"/>
          </a:xfrm>
          <a:prstGeom prst="rect">
            <a:avLst/>
          </a:prstGeom>
          <a:noFill/>
          <a:ln/>
        </p:spPr>
        <p:txBody>
          <a:bodyPr wrap="square" lIns="0" tIns="0" rIns="0" bIns="0" rtlCol="0" anchor="ctr"/>
          <a:lstStyle/>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ACK 송신</a:t>
            </a:r>
            <a:endParaRPr lang="en-US" sz="1300" dirty="0"/>
          </a:p>
        </p:txBody>
      </p:sp>
      <p:sp>
        <p:nvSpPr>
          <p:cNvPr id="28" name="Text 26"/>
          <p:cNvSpPr txBox="1"/>
          <p:nvPr/>
        </p:nvSpPr>
        <p:spPr>
          <a:xfrm>
            <a:off x="548640" y="4800600"/>
            <a:ext cx="6675120" cy="320040"/>
          </a:xfrm>
          <a:prstGeom prst="rect">
            <a:avLst/>
          </a:prstGeom>
          <a:noFill/>
          <a:ln/>
        </p:spPr>
        <p:txBody>
          <a:bodyPr wrap="square" lIns="0" tIns="0" rIns="0" bIns="0" rtlCol="0" anchor="t"/>
          <a:lstStyle/>
          <a:p>
            <a:pPr marL="0" indent="0">
              <a:buNone/>
            </a:pPr>
            <a:r>
              <a:rPr lang="en-US" sz="1400" dirty="0">
                <a:solidFill>
                  <a:srgbClr val="5F6B7A"/>
                </a:solidFill>
                <a:latin typeface="Malgun Gothic" pitchFamily="34" charset="0"/>
                <a:ea typeface="Malgun Gothic" pitchFamily="34" charset="-122"/>
                <a:cs typeface="Malgun Gothic" pitchFamily="34" charset="-120"/>
              </a:rPr>
              <a:t>어느 단계든 실패하면 ERROR를 보내고 중단합니다.</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155012420"/>
              </p:ext>
            </p:extLst>
          </p:nvPr>
        </p:nvGraphicFramePr>
        <p:xfrm>
          <a:off x="7680960" y="1463040"/>
          <a:ext cx="3959352" cy="3968496"/>
        </p:xfrm>
        <a:graphic>
          <a:graphicData uri="http://schemas.openxmlformats.org/drawingml/2006/table">
            <a:tbl>
              <a:tblPr/>
              <a:tblGrid>
                <a:gridCol w="1143000">
                  <a:extLst>
                    <a:ext uri="{9D8B030D-6E8A-4147-A177-3AD203B41FA5}">
                      <a16:colId xmlns:a16="http://schemas.microsoft.com/office/drawing/2014/main" val="20000"/>
                    </a:ext>
                  </a:extLst>
                </a:gridCol>
                <a:gridCol w="2816352">
                  <a:extLst>
                    <a:ext uri="{9D8B030D-6E8A-4147-A177-3AD203B41FA5}">
                      <a16:colId xmlns:a16="http://schemas.microsoft.com/office/drawing/2014/main" val="20001"/>
                    </a:ext>
                  </a:extLst>
                </a:gridCol>
              </a:tblGrid>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PC 연결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ST-LINK 가상 COM, USART1 PA9 / PB7</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프레임</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8N1 (데이터 8비트, 패리티 없음, 정지 1비트)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속도</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921600 baud</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RX</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4 KiB × 2, DMA Double Buffer Mode</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부분 수신</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NDTR로 받은 길이 계산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TX</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4 KiB × 2, UART TX DMA</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청크 형식</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CRC32 4 B + 데이터 최대 4,096 B</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0"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3,145,782 B 파일은 0x000000부터 49개 블록 범위에 저장됩니다</a:t>
            </a:r>
            <a:endParaRPr lang="en-US" sz="2600" dirty="0"/>
          </a:p>
        </p:txBody>
      </p:sp>
      <p:sp>
        <p:nvSpPr>
          <p:cNvPr id="3" name="Shape 1"/>
          <p:cNvSpPr/>
          <p:nvPr/>
        </p:nvSpPr>
        <p:spPr>
          <a:xfrm>
            <a:off x="548640" y="2103120"/>
            <a:ext cx="8318897" cy="731520"/>
          </a:xfrm>
          <a:prstGeom prst="rect">
            <a:avLst/>
          </a:prstGeom>
          <a:solidFill>
            <a:srgbClr val="0F766E"/>
          </a:solidFill>
          <a:ln w="12700">
            <a:solidFill>
              <a:srgbClr val="0F766E"/>
            </a:solidFill>
            <a:prstDash val="solid"/>
          </a:ln>
        </p:spPr>
        <p:txBody>
          <a:bodyPr/>
          <a:lstStyle/>
          <a:p>
            <a:endParaRPr lang="ko-KR" altLang="en-US"/>
          </a:p>
        </p:txBody>
      </p:sp>
      <p:sp>
        <p:nvSpPr>
          <p:cNvPr id="4" name="Text 2"/>
          <p:cNvSpPr txBox="1"/>
          <p:nvPr/>
        </p:nvSpPr>
        <p:spPr>
          <a:xfrm>
            <a:off x="731520" y="2103120"/>
            <a:ext cx="3657600" cy="731520"/>
          </a:xfrm>
          <a:prstGeom prst="rect">
            <a:avLst/>
          </a:prstGeom>
          <a:noFill/>
          <a:ln/>
        </p:spPr>
        <p:txBody>
          <a:bodyPr wrap="square" lIns="0" tIns="0" rIns="0" bIns="0" rtlCol="0" anchor="ctr"/>
          <a:lstStyle/>
          <a:p>
            <a:pPr marL="0" indent="0">
              <a:buNone/>
            </a:pPr>
            <a:r>
              <a:rPr lang="en-US" sz="1600" b="1" dirty="0">
                <a:solidFill>
                  <a:srgbClr val="FFFFFF"/>
                </a:solidFill>
                <a:latin typeface="Malgun Gothic" pitchFamily="34" charset="0"/>
                <a:ea typeface="Malgun Gothic" pitchFamily="34" charset="-122"/>
                <a:cs typeface="Malgun Gothic" pitchFamily="34" charset="-120"/>
              </a:rPr>
              <a:t>BMP 파일 3,145,782 B</a:t>
            </a:r>
            <a:endParaRPr lang="en-US" sz="1600" dirty="0"/>
          </a:p>
        </p:txBody>
      </p:sp>
      <p:sp>
        <p:nvSpPr>
          <p:cNvPr id="5" name="Shape 3"/>
          <p:cNvSpPr/>
          <p:nvPr/>
        </p:nvSpPr>
        <p:spPr>
          <a:xfrm>
            <a:off x="8867537" y="2103120"/>
            <a:ext cx="173165" cy="731520"/>
          </a:xfrm>
          <a:prstGeom prst="rect">
            <a:avLst/>
          </a:prstGeom>
          <a:solidFill>
            <a:srgbClr val="9FCFC9"/>
          </a:solidFill>
          <a:ln w="12700">
            <a:solidFill>
              <a:srgbClr val="9FCFC9"/>
            </a:solidFill>
            <a:prstDash val="solid"/>
          </a:ln>
        </p:spPr>
        <p:txBody>
          <a:bodyPr/>
          <a:lstStyle/>
          <a:p>
            <a:endParaRPr lang="ko-KR" altLang="en-US"/>
          </a:p>
        </p:txBody>
      </p:sp>
      <p:sp>
        <p:nvSpPr>
          <p:cNvPr id="6" name="Shape 4"/>
          <p:cNvSpPr/>
          <p:nvPr/>
        </p:nvSpPr>
        <p:spPr>
          <a:xfrm>
            <a:off x="9040701" y="2103120"/>
            <a:ext cx="2426303" cy="731520"/>
          </a:xfrm>
          <a:prstGeom prst="rect">
            <a:avLst/>
          </a:prstGeom>
          <a:solidFill>
            <a:srgbClr val="F3F5F7"/>
          </a:solidFill>
          <a:ln w="12700">
            <a:solidFill>
              <a:srgbClr val="D5DAE0"/>
            </a:solidFill>
            <a:prstDash val="solid"/>
          </a:ln>
        </p:spPr>
        <p:txBody>
          <a:bodyPr/>
          <a:lstStyle/>
          <a:p>
            <a:endParaRPr lang="ko-KR" altLang="en-US"/>
          </a:p>
        </p:txBody>
      </p:sp>
      <p:sp>
        <p:nvSpPr>
          <p:cNvPr id="7" name="Text 5"/>
          <p:cNvSpPr txBox="1"/>
          <p:nvPr/>
        </p:nvSpPr>
        <p:spPr>
          <a:xfrm>
            <a:off x="9132141" y="2103120"/>
            <a:ext cx="2194560" cy="731520"/>
          </a:xfrm>
          <a:prstGeom prst="rect">
            <a:avLst/>
          </a:prstGeom>
          <a:noFill/>
          <a:ln/>
        </p:spPr>
        <p:txBody>
          <a:bodyPr wrap="square" lIns="0" tIns="0" rIns="0" bIns="0" rtlCol="0" anchor="ctr"/>
          <a:lstStyle/>
          <a:p>
            <a:pPr marL="0" indent="0" algn="ctr">
              <a:buNone/>
            </a:pPr>
            <a:r>
              <a:rPr lang="en-US" sz="1300" dirty="0">
                <a:solidFill>
                  <a:srgbClr val="5F6B7A"/>
                </a:solidFill>
                <a:latin typeface="Malgun Gothic" pitchFamily="34" charset="0"/>
                <a:ea typeface="Malgun Gothic" pitchFamily="34" charset="-122"/>
                <a:cs typeface="Malgun Gothic" pitchFamily="34" charset="-120"/>
              </a:rPr>
              <a:t>이미지 영역 나머지</a:t>
            </a:r>
            <a:endParaRPr lang="en-US" sz="1300" dirty="0"/>
          </a:p>
        </p:txBody>
      </p:sp>
      <p:sp>
        <p:nvSpPr>
          <p:cNvPr id="8" name="Shape 6"/>
          <p:cNvSpPr/>
          <p:nvPr/>
        </p:nvSpPr>
        <p:spPr>
          <a:xfrm>
            <a:off x="11467005" y="2103120"/>
            <a:ext cx="173307" cy="731520"/>
          </a:xfrm>
          <a:prstGeom prst="rect">
            <a:avLst/>
          </a:prstGeom>
          <a:solidFill>
            <a:srgbClr val="FFFFFF"/>
          </a:solidFill>
          <a:ln w="12700">
            <a:solidFill>
              <a:srgbClr val="D5DAE0"/>
            </a:solidFill>
            <a:prstDash val="solid"/>
          </a:ln>
        </p:spPr>
        <p:txBody>
          <a:bodyPr/>
          <a:lstStyle/>
          <a:p>
            <a:endParaRPr lang="ko-KR" altLang="en-US"/>
          </a:p>
        </p:txBody>
      </p:sp>
      <p:sp>
        <p:nvSpPr>
          <p:cNvPr id="9" name="Text 7"/>
          <p:cNvSpPr txBox="1"/>
          <p:nvPr/>
        </p:nvSpPr>
        <p:spPr>
          <a:xfrm>
            <a:off x="548640" y="1737360"/>
            <a:ext cx="1371600" cy="274320"/>
          </a:xfrm>
          <a:prstGeom prst="rect">
            <a:avLst/>
          </a:prstGeom>
          <a:noFill/>
          <a:ln/>
        </p:spPr>
        <p:txBody>
          <a:bodyPr wrap="square" lIns="0" tIns="0" rIns="0" bIns="0" rtlCol="0" anchor="t"/>
          <a:lstStyle/>
          <a:p>
            <a:pPr marL="0" indent="0">
              <a:buNone/>
            </a:pPr>
            <a:r>
              <a:rPr lang="en-US" sz="1300" dirty="0">
                <a:solidFill>
                  <a:srgbClr val="5F6B7A"/>
                </a:solidFill>
                <a:latin typeface="Consolas" pitchFamily="34" charset="0"/>
                <a:ea typeface="Consolas" pitchFamily="34" charset="-122"/>
                <a:cs typeface="Consolas" pitchFamily="34" charset="-120"/>
              </a:rPr>
              <a:t>0x000000</a:t>
            </a:r>
            <a:endParaRPr lang="en-US" sz="1300" dirty="0"/>
          </a:p>
        </p:txBody>
      </p:sp>
      <p:sp>
        <p:nvSpPr>
          <p:cNvPr id="10" name="Text 8"/>
          <p:cNvSpPr txBox="1"/>
          <p:nvPr/>
        </p:nvSpPr>
        <p:spPr>
          <a:xfrm>
            <a:off x="6855857" y="1737360"/>
            <a:ext cx="2011680" cy="274320"/>
          </a:xfrm>
          <a:prstGeom prst="rect">
            <a:avLst/>
          </a:prstGeom>
          <a:noFill/>
          <a:ln/>
        </p:spPr>
        <p:txBody>
          <a:bodyPr wrap="square" lIns="0" tIns="0" rIns="0" bIns="0" rtlCol="0" anchor="t"/>
          <a:lstStyle/>
          <a:p>
            <a:pPr marL="0" indent="0" algn="r">
              <a:buNone/>
            </a:pPr>
            <a:r>
              <a:rPr lang="en-US" sz="1300" dirty="0">
                <a:solidFill>
                  <a:srgbClr val="5F6B7A"/>
                </a:solidFill>
                <a:latin typeface="Malgun Gothic" pitchFamily="34" charset="0"/>
                <a:ea typeface="Malgun Gothic" pitchFamily="34" charset="-122"/>
                <a:cs typeface="Malgun Gothic" pitchFamily="34" charset="-120"/>
              </a:rPr>
              <a:t>0x300035 파일 끝</a:t>
            </a:r>
            <a:endParaRPr lang="en-US" sz="1300" dirty="0"/>
          </a:p>
        </p:txBody>
      </p:sp>
      <p:sp>
        <p:nvSpPr>
          <p:cNvPr id="11" name="Text 9"/>
          <p:cNvSpPr txBox="1"/>
          <p:nvPr/>
        </p:nvSpPr>
        <p:spPr>
          <a:xfrm>
            <a:off x="9628632" y="1737360"/>
            <a:ext cx="2011680" cy="274320"/>
          </a:xfrm>
          <a:prstGeom prst="rect">
            <a:avLst/>
          </a:prstGeom>
          <a:noFill/>
          <a:ln/>
        </p:spPr>
        <p:txBody>
          <a:bodyPr wrap="square" lIns="0" tIns="0" rIns="0" bIns="0" rtlCol="0" anchor="t"/>
          <a:lstStyle/>
          <a:p>
            <a:pPr marL="0" indent="0" algn="r">
              <a:buNone/>
            </a:pPr>
            <a:r>
              <a:rPr lang="en-US" sz="1300" dirty="0">
                <a:solidFill>
                  <a:srgbClr val="5F6B7A"/>
                </a:solidFill>
                <a:latin typeface="Malgun Gothic" pitchFamily="34" charset="0"/>
                <a:ea typeface="Malgun Gothic" pitchFamily="34" charset="-122"/>
                <a:cs typeface="Malgun Gothic" pitchFamily="34" charset="-120"/>
              </a:rPr>
              <a:t>0x3FFFFF (4 MiB)</a:t>
            </a:r>
            <a:endParaRPr lang="en-US" sz="1300" dirty="0"/>
          </a:p>
        </p:txBody>
      </p:sp>
      <p:sp>
        <p:nvSpPr>
          <p:cNvPr id="12" name="Shape 10"/>
          <p:cNvSpPr/>
          <p:nvPr/>
        </p:nvSpPr>
        <p:spPr>
          <a:xfrm>
            <a:off x="548640" y="3063240"/>
            <a:ext cx="8492061" cy="0"/>
          </a:xfrm>
          <a:prstGeom prst="line">
            <a:avLst/>
          </a:prstGeom>
          <a:noFill/>
          <a:ln w="19050">
            <a:solidFill>
              <a:srgbClr val="0F766E"/>
            </a:solidFill>
            <a:prstDash val="solid"/>
          </a:ln>
        </p:spPr>
        <p:txBody>
          <a:bodyPr/>
          <a:lstStyle/>
          <a:p>
            <a:endParaRPr lang="ko-KR" altLang="en-US"/>
          </a:p>
        </p:txBody>
      </p:sp>
      <p:sp>
        <p:nvSpPr>
          <p:cNvPr id="13" name="Shape 11"/>
          <p:cNvSpPr/>
          <p:nvPr/>
        </p:nvSpPr>
        <p:spPr>
          <a:xfrm>
            <a:off x="548640" y="2971800"/>
            <a:ext cx="0" cy="182880"/>
          </a:xfrm>
          <a:prstGeom prst="line">
            <a:avLst/>
          </a:prstGeom>
          <a:noFill/>
          <a:ln w="19050">
            <a:solidFill>
              <a:srgbClr val="0F766E"/>
            </a:solidFill>
            <a:prstDash val="solid"/>
          </a:ln>
        </p:spPr>
        <p:txBody>
          <a:bodyPr/>
          <a:lstStyle/>
          <a:p>
            <a:endParaRPr lang="ko-KR" altLang="en-US"/>
          </a:p>
        </p:txBody>
      </p:sp>
      <p:sp>
        <p:nvSpPr>
          <p:cNvPr id="14" name="Shape 12"/>
          <p:cNvSpPr/>
          <p:nvPr/>
        </p:nvSpPr>
        <p:spPr>
          <a:xfrm>
            <a:off x="9040701" y="2971800"/>
            <a:ext cx="0" cy="182880"/>
          </a:xfrm>
          <a:prstGeom prst="line">
            <a:avLst/>
          </a:prstGeom>
          <a:noFill/>
          <a:ln w="19050">
            <a:solidFill>
              <a:srgbClr val="0F766E"/>
            </a:solidFill>
            <a:prstDash val="solid"/>
          </a:ln>
        </p:spPr>
        <p:txBody>
          <a:bodyPr/>
          <a:lstStyle/>
          <a:p>
            <a:endParaRPr lang="ko-KR" altLang="en-US"/>
          </a:p>
        </p:txBody>
      </p:sp>
      <p:sp>
        <p:nvSpPr>
          <p:cNvPr id="15" name="Text 13"/>
          <p:cNvSpPr txBox="1"/>
          <p:nvPr/>
        </p:nvSpPr>
        <p:spPr>
          <a:xfrm>
            <a:off x="548640" y="3200400"/>
            <a:ext cx="7772400" cy="320040"/>
          </a:xfrm>
          <a:prstGeom prst="rect">
            <a:avLst/>
          </a:prstGeom>
          <a:noFill/>
          <a:ln/>
        </p:spPr>
        <p:txBody>
          <a:bodyPr wrap="square" lIns="0" tIns="0" rIns="0" bIns="0" rtlCol="0" anchor="t"/>
          <a:lstStyle/>
          <a:p>
            <a:pPr marL="0" indent="0">
              <a:buNone/>
            </a:pPr>
            <a:r>
              <a:rPr lang="en-US" sz="1400" b="1" dirty="0">
                <a:solidFill>
                  <a:srgbClr val="0F766E"/>
                </a:solidFill>
                <a:latin typeface="Malgun Gothic" pitchFamily="34" charset="0"/>
                <a:ea typeface="Malgun Gothic" pitchFamily="34" charset="-122"/>
                <a:cs typeface="Malgun Gothic" pitchFamily="34" charset="-120"/>
              </a:rPr>
              <a:t>삭제 범위 3,211,264 B = 64 KiB × 49블록 (0x000000–0x30FFFF)</a:t>
            </a:r>
            <a:endParaRPr lang="en-US" sz="1400" dirty="0"/>
          </a:p>
        </p:txBody>
      </p:sp>
      <p:sp>
        <p:nvSpPr>
          <p:cNvPr id="16" name="Text 14"/>
          <p:cNvSpPr txBox="1"/>
          <p:nvPr/>
        </p:nvSpPr>
        <p:spPr>
          <a:xfrm>
            <a:off x="8897112" y="2926080"/>
            <a:ext cx="2606040" cy="274320"/>
          </a:xfrm>
          <a:prstGeom prst="rect">
            <a:avLst/>
          </a:prstGeom>
          <a:noFill/>
          <a:ln/>
        </p:spPr>
        <p:txBody>
          <a:bodyPr wrap="square" lIns="0" tIns="0" rIns="0" bIns="0" rtlCol="0" anchor="t"/>
          <a:lstStyle/>
          <a:p>
            <a:pPr marL="0" indent="0" algn="r">
              <a:buNone/>
            </a:pPr>
            <a:r>
              <a:rPr lang="en-US" sz="1300" dirty="0">
                <a:solidFill>
                  <a:srgbClr val="5F6B7A"/>
                </a:solidFill>
                <a:latin typeface="Malgun Gothic" pitchFamily="34" charset="0"/>
                <a:ea typeface="Malgun Gothic" pitchFamily="34" charset="-122"/>
                <a:cs typeface="Malgun Gothic" pitchFamily="34" charset="-120"/>
              </a:rPr>
              <a:t>0x3EFFFF 이미지 영역 끝</a:t>
            </a:r>
            <a:endParaRPr lang="en-US" sz="1300" dirty="0"/>
          </a:p>
        </p:txBody>
      </p:sp>
      <p:sp>
        <p:nvSpPr>
          <p:cNvPr id="17" name="Text 15"/>
          <p:cNvSpPr txBox="1"/>
          <p:nvPr/>
        </p:nvSpPr>
        <p:spPr>
          <a:xfrm>
            <a:off x="548640" y="4069080"/>
            <a:ext cx="2651760" cy="548640"/>
          </a:xfrm>
          <a:prstGeom prst="rect">
            <a:avLst/>
          </a:prstGeom>
          <a:noFill/>
          <a:ln/>
        </p:spPr>
        <p:txBody>
          <a:bodyPr wrap="square" lIns="0" tIns="0" rIns="0" bIns="0" rtlCol="0" anchor="t"/>
          <a:lstStyle/>
          <a:p>
            <a:pPr marL="0" indent="0">
              <a:buNone/>
            </a:pPr>
            <a:r>
              <a:rPr lang="en-US" sz="2800" b="1" dirty="0">
                <a:solidFill>
                  <a:srgbClr val="0F766E"/>
                </a:solidFill>
                <a:latin typeface="Malgun Gothic" pitchFamily="34" charset="0"/>
                <a:ea typeface="Malgun Gothic" pitchFamily="34" charset="-122"/>
                <a:cs typeface="Malgun Gothic" pitchFamily="34" charset="-120"/>
              </a:rPr>
              <a:t>12,289회</a:t>
            </a:r>
            <a:endParaRPr lang="en-US" sz="2800" dirty="0"/>
          </a:p>
        </p:txBody>
      </p:sp>
      <p:sp>
        <p:nvSpPr>
          <p:cNvPr id="18" name="Text 16"/>
          <p:cNvSpPr txBox="1"/>
          <p:nvPr/>
        </p:nvSpPr>
        <p:spPr>
          <a:xfrm>
            <a:off x="548640" y="4663440"/>
            <a:ext cx="2651760" cy="731520"/>
          </a:xfrm>
          <a:prstGeom prst="rect">
            <a:avLst/>
          </a:prstGeom>
          <a:noFill/>
          <a:ln/>
        </p:spPr>
        <p:txBody>
          <a:bodyPr wrap="square" lIns="0" tIns="0" rIns="0" bIns="0" rtlCol="0" anchor="t"/>
          <a:lstStyle/>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256 B 페이지 쓰기</a:t>
            </a:r>
            <a:endParaRPr lang="en-US" sz="1400" dirty="0"/>
          </a:p>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(3,145,782 ÷ 256, 올림)</a:t>
            </a:r>
            <a:endParaRPr lang="en-US" sz="1400" dirty="0"/>
          </a:p>
        </p:txBody>
      </p:sp>
      <p:sp>
        <p:nvSpPr>
          <p:cNvPr id="19" name="Text 17"/>
          <p:cNvSpPr txBox="1"/>
          <p:nvPr/>
        </p:nvSpPr>
        <p:spPr>
          <a:xfrm>
            <a:off x="3383280" y="4069080"/>
            <a:ext cx="2651760" cy="548640"/>
          </a:xfrm>
          <a:prstGeom prst="rect">
            <a:avLst/>
          </a:prstGeom>
          <a:noFill/>
          <a:ln/>
        </p:spPr>
        <p:txBody>
          <a:bodyPr wrap="square" lIns="0" tIns="0" rIns="0" bIns="0" rtlCol="0" anchor="t"/>
          <a:lstStyle/>
          <a:p>
            <a:pPr marL="0" indent="0">
              <a:buNone/>
            </a:pPr>
            <a:r>
              <a:rPr lang="en-US" sz="2800" b="1" dirty="0">
                <a:solidFill>
                  <a:srgbClr val="0F766E"/>
                </a:solidFill>
                <a:latin typeface="Malgun Gothic" pitchFamily="34" charset="0"/>
                <a:ea typeface="Malgun Gothic" pitchFamily="34" charset="-122"/>
                <a:cs typeface="Malgun Gothic" pitchFamily="34" charset="-120"/>
              </a:rPr>
              <a:t>49블록</a:t>
            </a:r>
            <a:endParaRPr lang="en-US" sz="2800" dirty="0"/>
          </a:p>
        </p:txBody>
      </p:sp>
      <p:sp>
        <p:nvSpPr>
          <p:cNvPr id="20" name="Text 18"/>
          <p:cNvSpPr txBox="1"/>
          <p:nvPr/>
        </p:nvSpPr>
        <p:spPr>
          <a:xfrm>
            <a:off x="3383280" y="4663440"/>
            <a:ext cx="2651760" cy="731520"/>
          </a:xfrm>
          <a:prstGeom prst="rect">
            <a:avLst/>
          </a:prstGeom>
          <a:noFill/>
          <a:ln/>
        </p:spPr>
        <p:txBody>
          <a:bodyPr wrap="square" lIns="0" tIns="0" rIns="0" bIns="0" rtlCol="0" anchor="t"/>
          <a:lstStyle/>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64 KiB 경계에 닿을 때마다</a:t>
            </a:r>
            <a:endParaRPr lang="en-US" sz="1400" dirty="0"/>
          </a:p>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수신 중에 삭제</a:t>
            </a:r>
            <a:endParaRPr lang="en-US" sz="1400" dirty="0"/>
          </a:p>
        </p:txBody>
      </p:sp>
      <p:sp>
        <p:nvSpPr>
          <p:cNvPr id="21" name="Text 19"/>
          <p:cNvSpPr txBox="1"/>
          <p:nvPr/>
        </p:nvSpPr>
        <p:spPr>
          <a:xfrm>
            <a:off x="6217920" y="4069080"/>
            <a:ext cx="2651760" cy="548640"/>
          </a:xfrm>
          <a:prstGeom prst="rect">
            <a:avLst/>
          </a:prstGeom>
          <a:noFill/>
          <a:ln/>
        </p:spPr>
        <p:txBody>
          <a:bodyPr wrap="square" lIns="0" tIns="0" rIns="0" bIns="0" rtlCol="0" anchor="t"/>
          <a:lstStyle/>
          <a:p>
            <a:pPr marL="0" indent="0">
              <a:buNone/>
            </a:pPr>
            <a:r>
              <a:rPr lang="en-US" sz="2800" b="1" dirty="0">
                <a:solidFill>
                  <a:srgbClr val="0F766E"/>
                </a:solidFill>
                <a:latin typeface="Malgun Gothic" pitchFamily="34" charset="0"/>
                <a:ea typeface="Malgun Gothic" pitchFamily="34" charset="-122"/>
                <a:cs typeface="Malgun Gothic" pitchFamily="34" charset="-120"/>
              </a:rPr>
              <a:t>4 KiB × 2</a:t>
            </a:r>
            <a:endParaRPr lang="en-US" sz="2800" dirty="0"/>
          </a:p>
        </p:txBody>
      </p:sp>
      <p:sp>
        <p:nvSpPr>
          <p:cNvPr id="22" name="Text 20"/>
          <p:cNvSpPr txBox="1"/>
          <p:nvPr/>
        </p:nvSpPr>
        <p:spPr>
          <a:xfrm>
            <a:off x="6217920" y="4663440"/>
            <a:ext cx="2651760" cy="731520"/>
          </a:xfrm>
          <a:prstGeom prst="rect">
            <a:avLst/>
          </a:prstGeom>
          <a:noFill/>
          <a:ln/>
        </p:spPr>
        <p:txBody>
          <a:bodyPr wrap="square" lIns="0" tIns="0" rIns="0" bIns="0" rtlCol="0" anchor="t"/>
          <a:lstStyle/>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RAM에는 청크 버퍼만 둠</a:t>
            </a:r>
            <a:endParaRPr lang="en-US" sz="1400" dirty="0"/>
          </a:p>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SRAM 320 KiB &lt; 이미지 3 MiB</a:t>
            </a:r>
            <a:endParaRPr lang="en-US" sz="1400" dirty="0"/>
          </a:p>
        </p:txBody>
      </p:sp>
      <p:sp>
        <p:nvSpPr>
          <p:cNvPr id="23" name="Text 21"/>
          <p:cNvSpPr txBox="1"/>
          <p:nvPr/>
        </p:nvSpPr>
        <p:spPr>
          <a:xfrm>
            <a:off x="9052560" y="4069080"/>
            <a:ext cx="2651760" cy="548640"/>
          </a:xfrm>
          <a:prstGeom prst="rect">
            <a:avLst/>
          </a:prstGeom>
          <a:noFill/>
          <a:ln/>
        </p:spPr>
        <p:txBody>
          <a:bodyPr wrap="square" lIns="0" tIns="0" rIns="0" bIns="0" rtlCol="0" anchor="t"/>
          <a:lstStyle/>
          <a:p>
            <a:pPr marL="0" indent="0">
              <a:buNone/>
            </a:pPr>
            <a:r>
              <a:rPr lang="en-US" sz="2800" b="1" dirty="0">
                <a:solidFill>
                  <a:srgbClr val="0F766E"/>
                </a:solidFill>
                <a:latin typeface="Malgun Gothic" pitchFamily="34" charset="0"/>
                <a:ea typeface="Malgun Gothic" pitchFamily="34" charset="-122"/>
                <a:cs typeface="Malgun Gothic" pitchFamily="34" charset="-120"/>
              </a:rPr>
              <a:t>0x3F0000</a:t>
            </a:r>
            <a:endParaRPr lang="en-US" sz="2800" dirty="0"/>
          </a:p>
        </p:txBody>
      </p:sp>
      <p:sp>
        <p:nvSpPr>
          <p:cNvPr id="24" name="Text 22"/>
          <p:cNvSpPr txBox="1"/>
          <p:nvPr/>
        </p:nvSpPr>
        <p:spPr>
          <a:xfrm>
            <a:off x="9052560" y="4663440"/>
            <a:ext cx="2651760" cy="731520"/>
          </a:xfrm>
          <a:prstGeom prst="rect">
            <a:avLst/>
          </a:prstGeom>
          <a:noFill/>
          <a:ln/>
        </p:spPr>
        <p:txBody>
          <a:bodyPr wrap="square" lIns="0" tIns="0" rIns="0" bIns="0" rtlCol="0" anchor="t"/>
          <a:lstStyle/>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이미지 영역 상한</a:t>
            </a:r>
            <a:endParaRPr lang="en-US" sz="1400" dirty="0"/>
          </a:p>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(IMAGE_LIMIT, 4 MiB 안)</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7340"/>
            <a:ext cx="11091672" cy="868680"/>
          </a:xfrm>
          <a:prstGeom prst="rect">
            <a:avLst/>
          </a:prstGeom>
          <a:noFill/>
          <a:ln/>
        </p:spPr>
        <p:txBody>
          <a:bodyPr wrap="square" lIns="0" tIns="0" rIns="0" bIns="0" rtlCol="0" anchor="ctr"/>
          <a:lstStyle/>
          <a:p>
            <a:r>
              <a:rPr lang="ko-KR" altLang="en-US" dirty="0" err="1"/>
              <a:t>청크</a:t>
            </a:r>
            <a:r>
              <a:rPr lang="ko-KR" altLang="en-US" dirty="0"/>
              <a:t> 저장 및 검증 과정</a:t>
            </a:r>
            <a:endParaRPr lang="en-US" sz="2600" dirty="0"/>
          </a:p>
        </p:txBody>
      </p:sp>
      <p:sp>
        <p:nvSpPr>
          <p:cNvPr id="3" name="Shape 1"/>
          <p:cNvSpPr/>
          <p:nvPr/>
        </p:nvSpPr>
        <p:spPr>
          <a:xfrm>
            <a:off x="548640" y="1371600"/>
            <a:ext cx="7589520" cy="4800600"/>
          </a:xfrm>
          <a:prstGeom prst="rect">
            <a:avLst/>
          </a:prstGeom>
          <a:solidFill>
            <a:srgbClr val="F3F5F7"/>
          </a:solidFill>
          <a:ln w="12700">
            <a:solidFill>
              <a:srgbClr val="F3F5F7"/>
            </a:solidFill>
            <a:prstDash val="solid"/>
          </a:ln>
        </p:spPr>
        <p:txBody>
          <a:bodyPr/>
          <a:lstStyle/>
          <a:p>
            <a:endParaRPr lang="ko-KR" altLang="en-US"/>
          </a:p>
        </p:txBody>
      </p:sp>
      <p:sp>
        <p:nvSpPr>
          <p:cNvPr id="4" name="code"/>
          <p:cNvSpPr txBox="1"/>
          <p:nvPr/>
        </p:nvSpPr>
        <p:spPr>
          <a:xfrm>
            <a:off x="685800" y="1481328"/>
            <a:ext cx="7315200" cy="4581144"/>
          </a:xfrm>
          <a:prstGeom prst="rect">
            <a:avLst/>
          </a:prstGeom>
          <a:noFill/>
          <a:ln/>
        </p:spPr>
        <p:txBody>
          <a:bodyPr wrap="none" lIns="0" tIns="0" rIns="0" bIns="0" rtlCol="0" anchor="t"/>
          <a:lstStyle/>
          <a:p>
            <a:pPr marL="0" indent="0">
              <a:lnSpc>
                <a:spcPct val="120000"/>
              </a:lnSpc>
              <a:buNone/>
            </a:pPr>
            <a:r>
              <a:rPr lang="en-US" sz="1050" b="1" dirty="0">
                <a:solidFill>
                  <a:srgbClr val="5F6B7A"/>
                </a:solidFill>
                <a:latin typeface="Malgun Gothic" pitchFamily="34" charset="0"/>
                <a:ea typeface="Malgun Gothic" pitchFamily="34" charset="-122"/>
                <a:cs typeface="Malgun Gothic" pitchFamily="34" charset="-120"/>
              </a:rPr>
              <a:t>Core/Src/uart_flash_test.c — receive_file()</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257  </a:t>
            </a:r>
            <a:r>
              <a:rPr lang="en-US" sz="1050" b="1" dirty="0">
                <a:solidFill>
                  <a:srgbClr val="0F766E"/>
                </a:solidFill>
                <a:latin typeface="Consolas" pitchFamily="34" charset="0"/>
                <a:ea typeface="Consolas" pitchFamily="34" charset="-122"/>
                <a:cs typeface="Consolas" pitchFamily="34" charset="-120"/>
              </a:rPr>
              <a:t>  if (UartDmaRx_Read(crc_header, 4, 5000) != HAL_OK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258  </a:t>
            </a:r>
            <a:r>
              <a:rPr lang="en-US" sz="1050" b="1" dirty="0">
                <a:solidFill>
                  <a:srgbClr val="0F766E"/>
                </a:solidFill>
                <a:latin typeface="Consolas" pitchFamily="34" charset="0"/>
                <a:ea typeface="Consolas" pitchFamily="34" charset="-122"/>
                <a:cs typeface="Consolas" pitchFamily="34" charset="-120"/>
              </a:rPr>
              <a:t>      UartDmaRx_Read(file_buffer, count, 5000) != HAL_OK)</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260  </a:t>
            </a:r>
            <a:r>
              <a:rPr lang="en-US" sz="1050" dirty="0">
                <a:solidFill>
                  <a:srgbClr val="1F2933"/>
                </a:solidFill>
                <a:latin typeface="Consolas" pitchFamily="34" charset="0"/>
                <a:ea typeface="Consolas" pitchFamily="34" charset="-122"/>
                <a:cs typeface="Consolas" pitchFamily="34" charset="-120"/>
              </a:rPr>
              <a:t>    send_line("ERROR file receive timeout or DMA overrun\n");</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263  </a:t>
            </a:r>
            <a:r>
              <a:rPr lang="en-US" sz="1050" b="1" dirty="0">
                <a:solidFill>
                  <a:srgbClr val="0F766E"/>
                </a:solidFill>
                <a:latin typeface="Consolas" pitchFamily="34" charset="0"/>
                <a:ea typeface="Consolas" pitchFamily="34" charset="-122"/>
                <a:cs typeface="Consolas" pitchFamily="34" charset="-120"/>
              </a:rPr>
              <a:t>  if (crc32(file_buffer, count) != get_u32(crc_header))</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265  </a:t>
            </a:r>
            <a:r>
              <a:rPr lang="en-US" sz="1050" dirty="0">
                <a:solidFill>
                  <a:srgbClr val="1F2933"/>
                </a:solidFill>
                <a:latin typeface="Consolas" pitchFamily="34" charset="0"/>
                <a:ea typeface="Consolas" pitchFamily="34" charset="-122"/>
                <a:cs typeface="Consolas" pitchFamily="34" charset="-120"/>
              </a:rPr>
              <a:t>    send_line("ERROR file chunk CRC\n");</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268  </a:t>
            </a:r>
            <a:r>
              <a:rPr lang="en-US" sz="1050" b="1" dirty="0">
                <a:solidFill>
                  <a:srgbClr val="0F766E"/>
                </a:solidFill>
                <a:latin typeface="Consolas" pitchFamily="34" charset="0"/>
                <a:ea typeface="Consolas" pitchFamily="34" charset="-122"/>
                <a:cs typeface="Consolas" pitchFamily="34" charset="-120"/>
              </a:rPr>
              <a:t>  if ((offset &amp; (BLOCK_BYTES - 1U)) == 0 &amp;&amp;</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269  </a:t>
            </a:r>
            <a:r>
              <a:rPr lang="en-US" sz="1050" b="1" dirty="0">
                <a:solidFill>
                  <a:srgbClr val="0F766E"/>
                </a:solidFill>
                <a:latin typeface="Consolas" pitchFamily="34" charset="0"/>
                <a:ea typeface="Consolas" pitchFamily="34" charset="-122"/>
                <a:cs typeface="Consolas" pitchFamily="34" charset="-120"/>
              </a:rPr>
              <a:t>      FlashTest_EraseBlock64(flash, offset) != HAL_OK)</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279  </a:t>
            </a:r>
            <a:r>
              <a:rPr lang="en-US" sz="1050" dirty="0">
                <a:solidFill>
                  <a:srgbClr val="1F2933"/>
                </a:solidFill>
                <a:latin typeface="Consolas" pitchFamily="34" charset="0"/>
                <a:ea typeface="Consolas" pitchFamily="34" charset="-122"/>
                <a:cs typeface="Consolas" pitchFamily="34" charset="-120"/>
              </a:rPr>
              <a:t>    if (</a:t>
            </a:r>
            <a:r>
              <a:rPr lang="en-US" sz="1050" dirty="0" err="1">
                <a:solidFill>
                  <a:srgbClr val="1F2933"/>
                </a:solidFill>
                <a:latin typeface="Consolas" pitchFamily="34" charset="0"/>
                <a:ea typeface="Consolas" pitchFamily="34" charset="-122"/>
                <a:cs typeface="Consolas" pitchFamily="34" charset="-120"/>
              </a:rPr>
              <a:t>FlashTest_ProgramPage</a:t>
            </a:r>
            <a:r>
              <a:rPr lang="en-US" sz="1050" dirty="0">
                <a:solidFill>
                  <a:srgbClr val="1F2933"/>
                </a:solidFill>
                <a:latin typeface="Consolas" pitchFamily="34" charset="0"/>
                <a:ea typeface="Consolas" pitchFamily="34" charset="-122"/>
                <a:cs typeface="Consolas" pitchFamily="34" charset="-120"/>
              </a:rPr>
              <a:t>(flash, offset + page, </a:t>
            </a:r>
            <a:r>
              <a:rPr lang="en-US" sz="1050" dirty="0" err="1">
                <a:solidFill>
                  <a:srgbClr val="1F2933"/>
                </a:solidFill>
                <a:latin typeface="Consolas" pitchFamily="34" charset="0"/>
                <a:ea typeface="Consolas" pitchFamily="34" charset="-122"/>
                <a:cs typeface="Consolas" pitchFamily="34" charset="-120"/>
              </a:rPr>
              <a:t>file_buffer</a:t>
            </a:r>
            <a:r>
              <a:rPr lang="en-US" sz="1050" dirty="0">
                <a:solidFill>
                  <a:srgbClr val="1F2933"/>
                </a:solidFill>
                <a:latin typeface="Consolas" pitchFamily="34" charset="0"/>
                <a:ea typeface="Consolas" pitchFamily="34" charset="-122"/>
                <a:cs typeface="Consolas" pitchFamily="34" charset="-120"/>
              </a:rPr>
              <a:t> + page, n) != HAL_OK)</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285  </a:t>
            </a:r>
            <a:r>
              <a:rPr lang="en-US" sz="1050" b="1" dirty="0">
                <a:solidFill>
                  <a:srgbClr val="0F766E"/>
                </a:solidFill>
                <a:latin typeface="Consolas" pitchFamily="34" charset="0"/>
                <a:ea typeface="Consolas" pitchFamily="34" charset="-122"/>
                <a:cs typeface="Consolas" pitchFamily="34" charset="-120"/>
              </a:rPr>
              <a:t>  if (FlashTest_Read(flash, offset, sector, count) != HAL_OK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286  </a:t>
            </a:r>
            <a:r>
              <a:rPr lang="en-US" sz="1050" b="1" dirty="0">
                <a:solidFill>
                  <a:srgbClr val="0F766E"/>
                </a:solidFill>
                <a:latin typeface="Consolas" pitchFamily="34" charset="0"/>
                <a:ea typeface="Consolas" pitchFamily="34" charset="-122"/>
                <a:cs typeface="Consolas" pitchFamily="34" charset="-120"/>
              </a:rPr>
              <a:t>      memcmp(file_buffer, sector, count) != 0)</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288  </a:t>
            </a:r>
            <a:r>
              <a:rPr lang="en-US" sz="1050" dirty="0">
                <a:solidFill>
                  <a:srgbClr val="1F2933"/>
                </a:solidFill>
                <a:latin typeface="Consolas" pitchFamily="34" charset="0"/>
                <a:ea typeface="Consolas" pitchFamily="34" charset="-122"/>
                <a:cs typeface="Consolas" pitchFamily="34" charset="-120"/>
              </a:rPr>
              <a:t>    send_line("ERROR file flash verification\n");</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291  </a:t>
            </a:r>
            <a:r>
              <a:rPr lang="en-US" sz="1050" dirty="0">
                <a:solidFill>
                  <a:srgbClr val="1F2933"/>
                </a:solidFill>
                <a:latin typeface="Consolas" pitchFamily="34" charset="0"/>
                <a:ea typeface="Consolas" pitchFamily="34" charset="-122"/>
                <a:cs typeface="Consolas" pitchFamily="34" charset="-120"/>
              </a:rPr>
              <a:t>  crc = crc32_update(crc, sector, count);</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293  </a:t>
            </a:r>
            <a:r>
              <a:rPr lang="en-US" sz="1050" b="1" dirty="0">
                <a:solidFill>
                  <a:srgbClr val="0F766E"/>
                </a:solidFill>
                <a:latin typeface="Consolas" pitchFamily="34" charset="0"/>
                <a:ea typeface="Consolas" pitchFamily="34" charset="-122"/>
                <a:cs typeface="Consolas" pitchFamily="34" charset="-120"/>
              </a:rPr>
              <a:t>  snprintf(line, sizeof(line), "ACK %lu\n", (unsigned long)(offset + count));</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297  </a:t>
            </a:r>
            <a:r>
              <a:rPr lang="en-US" sz="1050" b="1" dirty="0">
                <a:solidFill>
                  <a:srgbClr val="0F766E"/>
                </a:solidFill>
                <a:latin typeface="Consolas" pitchFamily="34" charset="0"/>
                <a:ea typeface="Consolas" pitchFamily="34" charset="-122"/>
                <a:cs typeface="Consolas" pitchFamily="34" charset="-120"/>
              </a:rPr>
              <a:t>if (crc != expected_crc)</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299  </a:t>
            </a:r>
            <a:r>
              <a:rPr lang="en-US" sz="1050" dirty="0">
                <a:solidFill>
                  <a:srgbClr val="1F2933"/>
                </a:solidFill>
                <a:latin typeface="Consolas" pitchFamily="34" charset="0"/>
                <a:ea typeface="Consolas" pitchFamily="34" charset="-122"/>
                <a:cs typeface="Consolas" pitchFamily="34" charset="-120"/>
              </a:rPr>
              <a:t>  </a:t>
            </a:r>
            <a:r>
              <a:rPr lang="en-US" sz="1050" dirty="0" err="1">
                <a:solidFill>
                  <a:srgbClr val="1F2933"/>
                </a:solidFill>
                <a:latin typeface="Consolas" pitchFamily="34" charset="0"/>
                <a:ea typeface="Consolas" pitchFamily="34" charset="-122"/>
                <a:cs typeface="Consolas" pitchFamily="34" charset="-120"/>
              </a:rPr>
              <a:t>send_line</a:t>
            </a:r>
            <a:r>
              <a:rPr lang="en-US" sz="1050" dirty="0">
                <a:solidFill>
                  <a:srgbClr val="1F2933"/>
                </a:solidFill>
                <a:latin typeface="Consolas" pitchFamily="34" charset="0"/>
                <a:ea typeface="Consolas" pitchFamily="34" charset="-122"/>
                <a:cs typeface="Consolas" pitchFamily="34" charset="-120"/>
              </a:rPr>
              <a:t>("ERROR complete file CRC\n");</a:t>
            </a:r>
            <a:endParaRPr lang="en-US" sz="1050" dirty="0"/>
          </a:p>
        </p:txBody>
      </p:sp>
      <p:sp>
        <p:nvSpPr>
          <p:cNvPr id="5" name="Text 3"/>
          <p:cNvSpPr txBox="1"/>
          <p:nvPr/>
        </p:nvSpPr>
        <p:spPr>
          <a:xfrm>
            <a:off x="8412480" y="1417320"/>
            <a:ext cx="3227832" cy="4572000"/>
          </a:xfrm>
          <a:prstGeom prst="rect">
            <a:avLst/>
          </a:prstGeom>
          <a:noFill/>
          <a:ln/>
        </p:spPr>
        <p:txBody>
          <a:bodyPr wrap="square" lIns="0" tIns="0" rIns="0" bIns="0" rtlCol="0" anchor="t"/>
          <a:lstStyle/>
          <a:p>
            <a:pPr marL="0" indent="0">
              <a:lnSpc>
                <a:spcPct val="120000"/>
              </a:lnSpc>
              <a:buNone/>
            </a:pPr>
            <a:r>
              <a:rPr lang="en-US" sz="1300" b="1" dirty="0">
                <a:solidFill>
                  <a:srgbClr val="0F766E"/>
                </a:solidFill>
                <a:latin typeface="Malgun Gothic" pitchFamily="34" charset="0"/>
                <a:ea typeface="Malgun Gothic" pitchFamily="34" charset="-122"/>
                <a:cs typeface="Malgun Gothic" pitchFamily="34" charset="-120"/>
              </a:rPr>
              <a:t>257–258행</a:t>
            </a:r>
            <a:endParaRPr lang="en-US" sz="1300" dirty="0"/>
          </a:p>
          <a:p>
            <a:pPr marL="0" indent="0">
              <a:lnSpc>
                <a:spcPct val="120000"/>
              </a:lnSpc>
              <a:spcAft>
                <a:spcPts val="900"/>
              </a:spcAft>
              <a:buNone/>
            </a:pPr>
            <a:r>
              <a:rPr lang="ko-KR" altLang="en-US" sz="1300" dirty="0">
                <a:solidFill>
                  <a:srgbClr val="1F2933"/>
                </a:solidFill>
                <a:latin typeface="Malgun Gothic" pitchFamily="34" charset="0"/>
                <a:ea typeface="Malgun Gothic" pitchFamily="34" charset="-122"/>
                <a:cs typeface="Malgun Gothic" pitchFamily="34" charset="-120"/>
              </a:rPr>
              <a:t>데이터 꺼낼 때 </a:t>
            </a:r>
            <a:r>
              <a:rPr lang="en-US" sz="1300" dirty="0">
                <a:solidFill>
                  <a:srgbClr val="1F2933"/>
                </a:solidFill>
                <a:latin typeface="Malgun Gothic" pitchFamily="34" charset="0"/>
                <a:ea typeface="Malgun Gothic" pitchFamily="34" charset="-122"/>
                <a:cs typeface="Malgun Gothic" pitchFamily="34" charset="-120"/>
              </a:rPr>
              <a:t>DMA </a:t>
            </a:r>
            <a:r>
              <a:rPr lang="en-US" sz="1300" dirty="0" err="1">
                <a:solidFill>
                  <a:srgbClr val="1F2933"/>
                </a:solidFill>
                <a:latin typeface="Malgun Gothic" pitchFamily="34" charset="0"/>
                <a:ea typeface="Malgun Gothic" pitchFamily="34" charset="-122"/>
                <a:cs typeface="Malgun Gothic" pitchFamily="34" charset="-120"/>
              </a:rPr>
              <a:t>수신시간</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초과나</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버퍼</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초과면</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중단</a:t>
            </a:r>
            <a:endParaRPr lang="en-US" sz="1300" dirty="0"/>
          </a:p>
          <a:p>
            <a:pPr marL="0" indent="0">
              <a:lnSpc>
                <a:spcPct val="120000"/>
              </a:lnSpc>
              <a:buNone/>
            </a:pPr>
            <a:r>
              <a:rPr lang="en-US" sz="1300" b="1" dirty="0">
                <a:solidFill>
                  <a:srgbClr val="0F766E"/>
                </a:solidFill>
                <a:latin typeface="Malgun Gothic" pitchFamily="34" charset="0"/>
                <a:ea typeface="Malgun Gothic" pitchFamily="34" charset="-122"/>
                <a:cs typeface="Malgun Gothic" pitchFamily="34" charset="-120"/>
              </a:rPr>
              <a:t>263행</a:t>
            </a:r>
            <a:endParaRPr lang="en-US" altLang="ko-KR" sz="1300" dirty="0">
              <a:solidFill>
                <a:srgbClr val="1F2933"/>
              </a:solidFill>
              <a:latin typeface="Malgun Gothic" pitchFamily="34" charset="0"/>
              <a:ea typeface="Malgun Gothic" pitchFamily="34" charset="-122"/>
              <a:cs typeface="Malgun Gothic" pitchFamily="34" charset="-120"/>
            </a:endParaRPr>
          </a:p>
          <a:p>
            <a:pPr marL="0" indent="0">
              <a:lnSpc>
                <a:spcPct val="120000"/>
              </a:lnSpc>
              <a:buNone/>
            </a:pPr>
            <a:r>
              <a:rPr lang="en-US" sz="1300" dirty="0" err="1">
                <a:solidFill>
                  <a:srgbClr val="1F2933"/>
                </a:solidFill>
                <a:latin typeface="Malgun Gothic" pitchFamily="34" charset="0"/>
                <a:ea typeface="Malgun Gothic" pitchFamily="34" charset="-122"/>
                <a:cs typeface="Malgun Gothic" pitchFamily="34" charset="-120"/>
              </a:rPr>
              <a:t>청크</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CRC가</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다르면</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Flash에</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쓰기</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전에</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중단</a:t>
            </a:r>
            <a:endParaRPr lang="en-US" sz="1300" dirty="0"/>
          </a:p>
          <a:p>
            <a:pPr marL="0" indent="0">
              <a:lnSpc>
                <a:spcPct val="120000"/>
              </a:lnSpc>
              <a:buNone/>
            </a:pPr>
            <a:endParaRPr lang="en-US" sz="1300" b="1" dirty="0">
              <a:solidFill>
                <a:srgbClr val="0F766E"/>
              </a:solidFill>
              <a:latin typeface="Malgun Gothic" pitchFamily="34" charset="0"/>
              <a:ea typeface="Malgun Gothic" pitchFamily="34" charset="-122"/>
              <a:cs typeface="Malgun Gothic" pitchFamily="34" charset="-120"/>
            </a:endParaRPr>
          </a:p>
          <a:p>
            <a:pPr marL="0" indent="0">
              <a:lnSpc>
                <a:spcPct val="120000"/>
              </a:lnSpc>
              <a:buNone/>
            </a:pPr>
            <a:r>
              <a:rPr lang="en-US" sz="1300" b="1" dirty="0">
                <a:solidFill>
                  <a:srgbClr val="0F766E"/>
                </a:solidFill>
                <a:latin typeface="Malgun Gothic" pitchFamily="34" charset="0"/>
                <a:ea typeface="Malgun Gothic" pitchFamily="34" charset="-122"/>
                <a:cs typeface="Malgun Gothic" pitchFamily="34" charset="-120"/>
              </a:rPr>
              <a:t>268–269</a:t>
            </a:r>
            <a:endParaRPr lang="en-US" sz="1300" dirty="0"/>
          </a:p>
          <a:p>
            <a:pPr marL="0" indent="0">
              <a:lnSpc>
                <a:spcPct val="120000"/>
              </a:lnSpc>
              <a:spcAft>
                <a:spcPts val="900"/>
              </a:spcAft>
              <a:buNone/>
            </a:pPr>
            <a:r>
              <a:rPr lang="ko-KR" altLang="en-US" sz="1300" dirty="0">
                <a:solidFill>
                  <a:srgbClr val="1F2933"/>
                </a:solidFill>
                <a:latin typeface="Malgun Gothic" pitchFamily="34" charset="0"/>
                <a:ea typeface="Malgun Gothic" pitchFamily="34" charset="-122"/>
                <a:cs typeface="Malgun Gothic" pitchFamily="34" charset="-120"/>
              </a:rPr>
              <a:t>지울 때 </a:t>
            </a:r>
            <a:r>
              <a:rPr lang="en-US" sz="1300" dirty="0">
                <a:solidFill>
                  <a:srgbClr val="1F2933"/>
                </a:solidFill>
                <a:latin typeface="Malgun Gothic" pitchFamily="34" charset="0"/>
                <a:ea typeface="Malgun Gothic" pitchFamily="34" charset="-122"/>
                <a:cs typeface="Malgun Gothic" pitchFamily="34" charset="-120"/>
              </a:rPr>
              <a:t>64 KiB 경계에 </a:t>
            </a:r>
            <a:r>
              <a:rPr lang="en-US" sz="1300" dirty="0" err="1">
                <a:solidFill>
                  <a:srgbClr val="1F2933"/>
                </a:solidFill>
                <a:latin typeface="Malgun Gothic" pitchFamily="34" charset="0"/>
                <a:ea typeface="Malgun Gothic" pitchFamily="34" charset="-122"/>
                <a:cs typeface="Malgun Gothic" pitchFamily="34" charset="-120"/>
              </a:rPr>
              <a:t>닿을</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때만</a:t>
            </a:r>
            <a:r>
              <a:rPr lang="ko-KR" altLang="en-US" sz="1300" dirty="0">
                <a:solidFill>
                  <a:srgbClr val="1F2933"/>
                </a:solidFill>
                <a:latin typeface="Malgun Gothic" pitchFamily="34" charset="0"/>
                <a:ea typeface="Malgun Gothic" pitchFamily="34" charset="-122"/>
                <a:cs typeface="Malgun Gothic" pitchFamily="34" charset="-120"/>
              </a:rPr>
              <a:t> 시작</a:t>
            </a:r>
            <a:endParaRPr lang="en-US" sz="1300" dirty="0"/>
          </a:p>
          <a:p>
            <a:pPr marL="0" indent="0">
              <a:lnSpc>
                <a:spcPct val="120000"/>
              </a:lnSpc>
              <a:buNone/>
            </a:pPr>
            <a:r>
              <a:rPr lang="en-US" sz="1300" b="1" dirty="0">
                <a:solidFill>
                  <a:srgbClr val="0F766E"/>
                </a:solidFill>
                <a:latin typeface="Malgun Gothic" pitchFamily="34" charset="0"/>
                <a:ea typeface="Malgun Gothic" pitchFamily="34" charset="-122"/>
                <a:cs typeface="Malgun Gothic" pitchFamily="34" charset="-120"/>
              </a:rPr>
              <a:t>285–286행</a:t>
            </a:r>
            <a:endParaRPr lang="en-US" sz="1300" dirty="0"/>
          </a:p>
          <a:p>
            <a:pPr marL="0" indent="0">
              <a:lnSpc>
                <a:spcPct val="120000"/>
              </a:lnSpc>
              <a:spcAft>
                <a:spcPts val="900"/>
              </a:spcAft>
              <a:buNone/>
            </a:pPr>
            <a:r>
              <a:rPr lang="en-US" sz="1300" dirty="0">
                <a:solidFill>
                  <a:srgbClr val="1F2933"/>
                </a:solidFill>
                <a:latin typeface="Malgun Gothic" pitchFamily="34" charset="0"/>
                <a:ea typeface="Malgun Gothic" pitchFamily="34" charset="-122"/>
                <a:cs typeface="Malgun Gothic" pitchFamily="34" charset="-120"/>
              </a:rPr>
              <a:t>Flash</a:t>
            </a:r>
            <a:r>
              <a:rPr lang="ko-KR" altLang="en-US" sz="1300" dirty="0" err="1">
                <a:solidFill>
                  <a:srgbClr val="1F2933"/>
                </a:solidFill>
                <a:latin typeface="Malgun Gothic" pitchFamily="34" charset="0"/>
                <a:ea typeface="Malgun Gothic" pitchFamily="34" charset="-122"/>
                <a:cs typeface="Malgun Gothic" pitchFamily="34" charset="-120"/>
              </a:rPr>
              <a:t>에</a:t>
            </a:r>
            <a:r>
              <a:rPr lang="ko-KR" alt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쓴</a:t>
            </a:r>
            <a:r>
              <a:rPr lang="en-US" sz="1300" dirty="0">
                <a:solidFill>
                  <a:srgbClr val="1F2933"/>
                </a:solidFill>
                <a:latin typeface="Malgun Gothic" pitchFamily="34" charset="0"/>
                <a:ea typeface="Malgun Gothic" pitchFamily="34" charset="-122"/>
                <a:cs typeface="Malgun Gothic" pitchFamily="34" charset="-120"/>
              </a:rPr>
              <a:t> 영역을 다시 읽어 받은 </a:t>
            </a:r>
            <a:r>
              <a:rPr lang="en-US" sz="1300" dirty="0" err="1">
                <a:solidFill>
                  <a:srgbClr val="1F2933"/>
                </a:solidFill>
                <a:latin typeface="Malgun Gothic" pitchFamily="34" charset="0"/>
                <a:ea typeface="Malgun Gothic" pitchFamily="34" charset="-122"/>
                <a:cs typeface="Malgun Gothic" pitchFamily="34" charset="-120"/>
              </a:rPr>
              <a:t>데이터와</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memcmp</a:t>
            </a:r>
            <a:r>
              <a:rPr lang="ko-KR" altLang="en-US" sz="1300" dirty="0">
                <a:solidFill>
                  <a:srgbClr val="1F2933"/>
                </a:solidFill>
                <a:latin typeface="Malgun Gothic" pitchFamily="34" charset="0"/>
                <a:ea typeface="Malgun Gothic" pitchFamily="34" charset="-122"/>
                <a:cs typeface="Malgun Gothic" pitchFamily="34" charset="-120"/>
              </a:rPr>
              <a:t>비교</a:t>
            </a:r>
            <a:endParaRPr lang="en-US" sz="1300" dirty="0"/>
          </a:p>
          <a:p>
            <a:pPr marL="0" indent="0">
              <a:lnSpc>
                <a:spcPct val="120000"/>
              </a:lnSpc>
              <a:buNone/>
            </a:pPr>
            <a:r>
              <a:rPr lang="en-US" sz="1300" b="1" dirty="0">
                <a:solidFill>
                  <a:srgbClr val="0F766E"/>
                </a:solidFill>
                <a:latin typeface="Malgun Gothic" pitchFamily="34" charset="0"/>
                <a:ea typeface="Malgun Gothic" pitchFamily="34" charset="-122"/>
                <a:cs typeface="Malgun Gothic" pitchFamily="34" charset="-120"/>
              </a:rPr>
              <a:t>291–293행</a:t>
            </a:r>
            <a:r>
              <a:rPr lang="en-US" altLang="ko-KR" sz="1300" b="1" dirty="0">
                <a:solidFill>
                  <a:srgbClr val="0F766E"/>
                </a:solidFill>
                <a:latin typeface="Malgun Gothic" pitchFamily="34" charset="0"/>
                <a:ea typeface="Malgun Gothic" pitchFamily="34" charset="-122"/>
                <a:cs typeface="Malgun Gothic" pitchFamily="34" charset="-120"/>
              </a:rPr>
              <a:t>:</a:t>
            </a:r>
            <a:r>
              <a:rPr lang="ko-KR" altLang="en-US" sz="1300" b="1" dirty="0">
                <a:solidFill>
                  <a:srgbClr val="0F766E"/>
                </a:solidFill>
                <a:latin typeface="Malgun Gothic" pitchFamily="34" charset="0"/>
                <a:ea typeface="Malgun Gothic" pitchFamily="34" charset="-122"/>
                <a:cs typeface="Malgun Gothic" pitchFamily="34" charset="-120"/>
              </a:rPr>
              <a:t> </a:t>
            </a:r>
            <a:r>
              <a:rPr lang="en-US" altLang="ko-KR" sz="1300" b="1" dirty="0">
                <a:solidFill>
                  <a:srgbClr val="0F766E"/>
                </a:solidFill>
                <a:latin typeface="Malgun Gothic" pitchFamily="34" charset="0"/>
                <a:ea typeface="Malgun Gothic" pitchFamily="34" charset="-122"/>
                <a:cs typeface="Malgun Gothic" pitchFamily="34" charset="-120"/>
              </a:rPr>
              <a:t>ACK</a:t>
            </a:r>
            <a:endParaRPr lang="en-US" sz="1300" dirty="0"/>
          </a:p>
          <a:p>
            <a:pPr marL="0" indent="0">
              <a:lnSpc>
                <a:spcPct val="120000"/>
              </a:lnSpc>
              <a:spcAft>
                <a:spcPts val="900"/>
              </a:spcAft>
              <a:buNone/>
            </a:pPr>
            <a:r>
              <a:rPr lang="en-US" sz="1300" dirty="0">
                <a:solidFill>
                  <a:srgbClr val="1F2933"/>
                </a:solidFill>
                <a:latin typeface="Malgun Gothic" pitchFamily="34" charset="0"/>
                <a:ea typeface="Malgun Gothic" pitchFamily="34" charset="-122"/>
                <a:cs typeface="Malgun Gothic" pitchFamily="34" charset="-120"/>
              </a:rPr>
              <a:t>재읽은 데이터로 CRC를 </a:t>
            </a:r>
            <a:r>
              <a:rPr lang="en-US" sz="1300" dirty="0" err="1">
                <a:solidFill>
                  <a:srgbClr val="1F2933"/>
                </a:solidFill>
                <a:latin typeface="Malgun Gothic" pitchFamily="34" charset="0"/>
                <a:ea typeface="Malgun Gothic" pitchFamily="34" charset="-122"/>
                <a:cs typeface="Malgun Gothic" pitchFamily="34" charset="-120"/>
              </a:rPr>
              <a:t>누적하고</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통과</a:t>
            </a:r>
            <a:r>
              <a:rPr lang="ko-KR" altLang="en-US" sz="1300" dirty="0">
                <a:solidFill>
                  <a:srgbClr val="1F2933"/>
                </a:solidFill>
                <a:latin typeface="Malgun Gothic" pitchFamily="34" charset="0"/>
                <a:ea typeface="Malgun Gothic" pitchFamily="34" charset="-122"/>
                <a:cs typeface="Malgun Gothic" pitchFamily="34" charset="-120"/>
              </a:rPr>
              <a:t>하면</a:t>
            </a:r>
            <a:r>
              <a:rPr lang="en-US" sz="1300" dirty="0">
                <a:solidFill>
                  <a:srgbClr val="1F2933"/>
                </a:solidFill>
                <a:latin typeface="Malgun Gothic" pitchFamily="34" charset="0"/>
                <a:ea typeface="Malgun Gothic" pitchFamily="34" charset="-122"/>
                <a:cs typeface="Malgun Gothic" pitchFamily="34" charset="-120"/>
              </a:rPr>
              <a:t> ACK 송신</a:t>
            </a:r>
            <a:endParaRPr lang="en-US" sz="1300" dirty="0"/>
          </a:p>
          <a:p>
            <a:pPr marL="0" indent="0">
              <a:lnSpc>
                <a:spcPct val="120000"/>
              </a:lnSpc>
              <a:buNone/>
            </a:pPr>
            <a:r>
              <a:rPr lang="en-US" sz="1300" b="1" dirty="0">
                <a:solidFill>
                  <a:srgbClr val="0F766E"/>
                </a:solidFill>
                <a:latin typeface="Malgun Gothic" pitchFamily="34" charset="0"/>
                <a:ea typeface="Malgun Gothic" pitchFamily="34" charset="-122"/>
                <a:cs typeface="Malgun Gothic" pitchFamily="34" charset="-120"/>
              </a:rPr>
              <a:t>297행</a:t>
            </a:r>
            <a:r>
              <a:rPr lang="en-US" altLang="ko-KR" sz="1300" b="1" dirty="0">
                <a:solidFill>
                  <a:srgbClr val="0F766E"/>
                </a:solidFill>
                <a:latin typeface="Malgun Gothic" pitchFamily="34" charset="0"/>
                <a:ea typeface="Malgun Gothic" pitchFamily="34" charset="-122"/>
                <a:cs typeface="Malgun Gothic" pitchFamily="34" charset="-120"/>
              </a:rPr>
              <a:t>:</a:t>
            </a:r>
            <a:r>
              <a:rPr lang="ko-KR" altLang="en-US" sz="1300" b="1" dirty="0">
                <a:solidFill>
                  <a:srgbClr val="0F766E"/>
                </a:solidFill>
                <a:latin typeface="Malgun Gothic" pitchFamily="34" charset="0"/>
                <a:ea typeface="Malgun Gothic" pitchFamily="34" charset="-122"/>
                <a:cs typeface="Malgun Gothic" pitchFamily="34" charset="-120"/>
              </a:rPr>
              <a:t> 최종검증</a:t>
            </a:r>
            <a:endParaRPr lang="en-US" sz="1300" dirty="0"/>
          </a:p>
          <a:p>
            <a:pPr marL="0" indent="0">
              <a:lnSpc>
                <a:spcPct val="120000"/>
              </a:lnSpc>
              <a:spcAft>
                <a:spcPts val="900"/>
              </a:spcAft>
              <a:buNone/>
            </a:pPr>
            <a:r>
              <a:rPr lang="en-US" sz="1300" dirty="0">
                <a:solidFill>
                  <a:srgbClr val="1F2933"/>
                </a:solidFill>
                <a:latin typeface="Malgun Gothic" pitchFamily="34" charset="0"/>
                <a:ea typeface="Malgun Gothic" pitchFamily="34" charset="-122"/>
                <a:cs typeface="Malgun Gothic" pitchFamily="34" charset="-120"/>
              </a:rPr>
              <a:t>마지막에 파일 전체 CRC를 PC가 보낸 </a:t>
            </a:r>
            <a:r>
              <a:rPr lang="en-US" sz="1300" dirty="0" err="1">
                <a:solidFill>
                  <a:srgbClr val="1F2933"/>
                </a:solidFill>
                <a:latin typeface="Malgun Gothic" pitchFamily="34" charset="0"/>
                <a:ea typeface="Malgun Gothic" pitchFamily="34" charset="-122"/>
                <a:cs typeface="Malgun Gothic" pitchFamily="34" charset="-120"/>
              </a:rPr>
              <a:t>값과</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비교</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r>
              <a:rPr lang="en" altLang="ko-KR" dirty="0"/>
              <a:t>DMA </a:t>
            </a:r>
            <a:r>
              <a:rPr lang="ko-KR" altLang="en-US" dirty="0"/>
              <a:t>버퍼 초과 감지</a:t>
            </a:r>
            <a:endParaRPr lang="en-US" sz="2600" dirty="0"/>
          </a:p>
        </p:txBody>
      </p:sp>
      <p:sp>
        <p:nvSpPr>
          <p:cNvPr id="3" name="Shape 1"/>
          <p:cNvSpPr/>
          <p:nvPr/>
        </p:nvSpPr>
        <p:spPr>
          <a:xfrm>
            <a:off x="548640" y="1360967"/>
            <a:ext cx="7589520" cy="4800600"/>
          </a:xfrm>
          <a:prstGeom prst="rect">
            <a:avLst/>
          </a:prstGeom>
          <a:solidFill>
            <a:srgbClr val="F3F5F7"/>
          </a:solidFill>
          <a:ln w="12700">
            <a:solidFill>
              <a:srgbClr val="F3F5F7"/>
            </a:solidFill>
            <a:prstDash val="solid"/>
          </a:ln>
        </p:spPr>
        <p:txBody>
          <a:bodyPr/>
          <a:lstStyle/>
          <a:p>
            <a:endParaRPr lang="ko-KR" altLang="en-US"/>
          </a:p>
        </p:txBody>
      </p:sp>
      <p:sp>
        <p:nvSpPr>
          <p:cNvPr id="4" name="code"/>
          <p:cNvSpPr txBox="1"/>
          <p:nvPr/>
        </p:nvSpPr>
        <p:spPr>
          <a:xfrm>
            <a:off x="685800" y="1481328"/>
            <a:ext cx="7315200" cy="4581144"/>
          </a:xfrm>
          <a:prstGeom prst="rect">
            <a:avLst/>
          </a:prstGeom>
          <a:noFill/>
          <a:ln/>
        </p:spPr>
        <p:txBody>
          <a:bodyPr wrap="none" lIns="0" tIns="0" rIns="0" bIns="0" rtlCol="0" anchor="t"/>
          <a:lstStyle/>
          <a:p>
            <a:pPr marL="0" indent="0">
              <a:lnSpc>
                <a:spcPct val="120000"/>
              </a:lnSpc>
              <a:buNone/>
            </a:pPr>
            <a:r>
              <a:rPr lang="en-US" sz="1150" b="1" dirty="0">
                <a:solidFill>
                  <a:srgbClr val="5F6B7A"/>
                </a:solidFill>
                <a:latin typeface="Malgun Gothic" pitchFamily="34" charset="0"/>
                <a:ea typeface="Malgun Gothic" pitchFamily="34" charset="-122"/>
                <a:cs typeface="Malgun Gothic" pitchFamily="34" charset="-120"/>
              </a:rPr>
              <a:t>Core/Src/uart_dma_rx.c</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54  </a:t>
            </a:r>
            <a:r>
              <a:rPr lang="en-US" sz="1150" b="1" dirty="0">
                <a:solidFill>
                  <a:srgbClr val="0F766E"/>
                </a:solidFill>
                <a:latin typeface="Consolas" pitchFamily="34" charset="0"/>
                <a:ea typeface="Consolas" pitchFamily="34" charset="-122"/>
                <a:cs typeface="Consolas" pitchFamily="34" charset="-120"/>
              </a:rPr>
              <a:t>if (bank != (completed_blocks &amp; 1U))</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55  </a:t>
            </a:r>
            <a:r>
              <a:rPr lang="en-US" sz="1150" dirty="0">
                <a:solidFill>
                  <a:srgbClr val="1F2933"/>
                </a:solidFill>
                <a:latin typeface="Consolas" pitchFamily="34" charset="0"/>
                <a:ea typeface="Consolas" pitchFamily="34" charset="-122"/>
                <a:cs typeface="Consolas" pitchFamily="34" charset="-120"/>
              </a:rPr>
              <a:t>{</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56  </a:t>
            </a:r>
            <a:r>
              <a:rPr lang="en-US" sz="1150" dirty="0">
                <a:solidFill>
                  <a:srgbClr val="1F2933"/>
                </a:solidFill>
                <a:latin typeface="Consolas" pitchFamily="34" charset="0"/>
                <a:ea typeface="Consolas" pitchFamily="34" charset="-122"/>
                <a:cs typeface="Consolas" pitchFamily="34" charset="-120"/>
              </a:rPr>
              <a:t>  rx_error = 1;</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57  </a:t>
            </a:r>
            <a:r>
              <a:rPr lang="en-US" sz="1150" dirty="0">
                <a:solidFill>
                  <a:srgbClr val="1F2933"/>
                </a:solidFill>
                <a:latin typeface="Consolas" pitchFamily="34" charset="0"/>
                <a:ea typeface="Consolas" pitchFamily="34" charset="-122"/>
                <a:cs typeface="Consolas" pitchFamily="34" charset="-120"/>
              </a:rPr>
              <a:t>  ++overrun_count;</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58  </a:t>
            </a:r>
            <a:r>
              <a:rPr lang="en-US" sz="1150" dirty="0">
                <a:solidFill>
                  <a:srgbClr val="1F2933"/>
                </a:solidFill>
                <a:latin typeface="Consolas" pitchFamily="34" charset="0"/>
                <a:ea typeface="Consolas" pitchFamily="34" charset="-122"/>
                <a:cs typeface="Consolas" pitchFamily="34" charset="-120"/>
              </a:rPr>
              <a:t>}</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131  </a:t>
            </a:r>
            <a:r>
              <a:rPr lang="en-US" sz="1150" dirty="0">
                <a:solidFill>
                  <a:srgbClr val="1F2933"/>
                </a:solidFill>
                <a:latin typeface="Consolas" pitchFamily="34" charset="0"/>
                <a:ea typeface="Consolas" pitchFamily="34" charset="-122"/>
                <a:cs typeface="Consolas" pitchFamily="34" charset="-120"/>
              </a:rPr>
              <a:t>  uint32_t available = produced_count() - consumed;</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134  </a:t>
            </a:r>
            <a:r>
              <a:rPr lang="en-US" sz="1150" b="1" dirty="0">
                <a:solidFill>
                  <a:srgbClr val="0F766E"/>
                </a:solidFill>
                <a:latin typeface="Consolas" pitchFamily="34" charset="0"/>
                <a:ea typeface="Consolas" pitchFamily="34" charset="-122"/>
                <a:cs typeface="Consolas" pitchFamily="34" charset="-120"/>
              </a:rPr>
              <a:t>  if (available &gt; TOTAL_BYTES)</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136  </a:t>
            </a:r>
            <a:r>
              <a:rPr lang="en-US" sz="1150" dirty="0">
                <a:solidFill>
                  <a:srgbClr val="1F2933"/>
                </a:solidFill>
                <a:latin typeface="Consolas" pitchFamily="34" charset="0"/>
                <a:ea typeface="Consolas" pitchFamily="34" charset="-122"/>
                <a:cs typeface="Consolas" pitchFamily="34" charset="-120"/>
              </a:rPr>
              <a:t>    rx_error = 1;</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137  </a:t>
            </a:r>
            <a:r>
              <a:rPr lang="en-US" sz="1150" dirty="0">
                <a:solidFill>
                  <a:srgbClr val="1F2933"/>
                </a:solidFill>
                <a:latin typeface="Consolas" pitchFamily="34" charset="0"/>
                <a:ea typeface="Consolas" pitchFamily="34" charset="-122"/>
                <a:cs typeface="Consolas" pitchFamily="34" charset="-120"/>
              </a:rPr>
              <a:t>    ++overrun_count;</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151  </a:t>
            </a:r>
            <a:r>
              <a:rPr lang="en-US" sz="1150" dirty="0">
                <a:solidFill>
                  <a:srgbClr val="1F2933"/>
                </a:solidFill>
                <a:latin typeface="Consolas" pitchFamily="34" charset="0"/>
                <a:ea typeface="Consolas" pitchFamily="34" charset="-122"/>
                <a:cs typeface="Consolas" pitchFamily="34" charset="-120"/>
              </a:rPr>
              <a:t>    /* Fail rather than accept a copy that DMA may have overwritten. */</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152  </a:t>
            </a:r>
            <a:r>
              <a:rPr lang="en-US" sz="1150" b="1" dirty="0">
                <a:solidFill>
                  <a:srgbClr val="0F766E"/>
                </a:solidFill>
                <a:latin typeface="Consolas" pitchFamily="34" charset="0"/>
                <a:ea typeface="Consolas" pitchFamily="34" charset="-122"/>
                <a:cs typeface="Consolas" pitchFamily="34" charset="-120"/>
              </a:rPr>
              <a:t>    if (produced_count() - consumed &gt; TOTAL_BYTES)</a:t>
            </a:r>
            <a:endParaRPr lang="en-US" sz="1150" dirty="0"/>
          </a:p>
          <a:p>
            <a:pPr marL="0" indent="0">
              <a:lnSpc>
                <a:spcPct val="120000"/>
              </a:lnSpc>
              <a:buNone/>
            </a:pPr>
            <a:r>
              <a:rPr lang="en-US" sz="600" dirty="0">
                <a:solidFill>
                  <a:srgbClr val="000000"/>
                </a:solidFill>
              </a:rPr>
              <a:t> </a:t>
            </a:r>
            <a:endParaRPr lang="en-US" sz="1150" dirty="0"/>
          </a:p>
          <a:p>
            <a:pPr marL="0" indent="0">
              <a:lnSpc>
                <a:spcPct val="120000"/>
              </a:lnSpc>
              <a:buNone/>
            </a:pPr>
            <a:r>
              <a:rPr lang="en-US" sz="1150" b="1" dirty="0">
                <a:solidFill>
                  <a:srgbClr val="5F6B7A"/>
                </a:solidFill>
                <a:latin typeface="Malgun Gothic" pitchFamily="34" charset="0"/>
                <a:ea typeface="Malgun Gothic" pitchFamily="34" charset="-122"/>
                <a:cs typeface="Malgun Gothic" pitchFamily="34" charset="-120"/>
              </a:rPr>
              <a:t>pc/demo_roundtrip.py</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54  </a:t>
            </a:r>
            <a:r>
              <a:rPr lang="en-US" sz="1150" dirty="0">
                <a:solidFill>
                  <a:srgbClr val="1F2933"/>
                </a:solidFill>
                <a:latin typeface="Consolas" pitchFamily="34" charset="0"/>
                <a:ea typeface="Consolas" pitchFamily="34" charset="-122"/>
                <a:cs typeface="Consolas" pitchFamily="34" charset="-120"/>
              </a:rPr>
              <a:t>a, b, overruns = dma_stats(port)</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55  </a:t>
            </a:r>
            <a:r>
              <a:rPr lang="en-US" sz="1150" b="1" dirty="0">
                <a:solidFill>
                  <a:srgbClr val="0F766E"/>
                </a:solidFill>
                <a:latin typeface="Consolas" pitchFamily="34" charset="0"/>
                <a:ea typeface="Consolas" pitchFamily="34" charset="-122"/>
                <a:cs typeface="Consolas" pitchFamily="34" charset="-120"/>
              </a:rPr>
              <a:t>if overruns: raise TestError("DMA 버퍼 초과가 발생했습니다.")</a:t>
            </a:r>
            <a:endParaRPr lang="en-US" sz="1150" dirty="0"/>
          </a:p>
        </p:txBody>
      </p:sp>
      <p:sp>
        <p:nvSpPr>
          <p:cNvPr id="5" name="Text 3"/>
          <p:cNvSpPr txBox="1"/>
          <p:nvPr/>
        </p:nvSpPr>
        <p:spPr>
          <a:xfrm>
            <a:off x="8412480" y="1417320"/>
            <a:ext cx="3227832" cy="4572000"/>
          </a:xfrm>
          <a:prstGeom prst="rect">
            <a:avLst/>
          </a:prstGeom>
          <a:noFill/>
          <a:ln/>
        </p:spPr>
        <p:txBody>
          <a:bodyPr wrap="square" lIns="0" tIns="0" rIns="0" bIns="0" rtlCol="0" anchor="t"/>
          <a:lstStyle/>
          <a:p>
            <a:pPr marL="0" indent="0">
              <a:lnSpc>
                <a:spcPct val="120000"/>
              </a:lnSpc>
              <a:buNone/>
            </a:pPr>
            <a:r>
              <a:rPr lang="en-US" sz="1300" b="1" dirty="0">
                <a:solidFill>
                  <a:srgbClr val="0F766E"/>
                </a:solidFill>
                <a:latin typeface="Malgun Gothic" pitchFamily="34" charset="0"/>
                <a:ea typeface="Malgun Gothic" pitchFamily="34" charset="-122"/>
                <a:cs typeface="Malgun Gothic" pitchFamily="34" charset="-120"/>
              </a:rPr>
              <a:t>54행</a:t>
            </a:r>
            <a:endParaRPr lang="en-US" sz="1300" dirty="0"/>
          </a:p>
          <a:p>
            <a:pPr>
              <a:lnSpc>
                <a:spcPct val="120000"/>
              </a:lnSpc>
            </a:pPr>
            <a:r>
              <a:rPr lang="ko-KR" altLang="en-US" sz="1300" dirty="0" err="1">
                <a:solidFill>
                  <a:srgbClr val="1F2933"/>
                </a:solidFill>
                <a:latin typeface="Malgun Gothic" pitchFamily="34" charset="0"/>
                <a:ea typeface="Malgun Gothic" pitchFamily="34" charset="-122"/>
                <a:cs typeface="Malgun Gothic" pitchFamily="34" charset="-120"/>
              </a:rPr>
              <a:t>더블버퍼의</a:t>
            </a:r>
            <a:r>
              <a:rPr lang="ko-KR" altLang="en-US" sz="1300" dirty="0">
                <a:solidFill>
                  <a:srgbClr val="1F2933"/>
                </a:solidFill>
                <a:latin typeface="Malgun Gothic" pitchFamily="34" charset="0"/>
                <a:ea typeface="Malgun Gothic" pitchFamily="34" charset="-122"/>
                <a:cs typeface="Malgun Gothic" pitchFamily="34" charset="-120"/>
              </a:rPr>
              <a:t> </a:t>
            </a:r>
            <a:r>
              <a:rPr lang="en-US" altLang="ko-KR" sz="1300" dirty="0">
                <a:solidFill>
                  <a:srgbClr val="1F2933"/>
                </a:solidFill>
                <a:latin typeface="Malgun Gothic" pitchFamily="34" charset="0"/>
                <a:ea typeface="Malgun Gothic" pitchFamily="34" charset="-122"/>
                <a:cs typeface="Malgun Gothic" pitchFamily="34" charset="-120"/>
              </a:rPr>
              <a:t>DMA </a:t>
            </a:r>
            <a:r>
              <a:rPr lang="en-US" altLang="ko-KR" sz="1300" dirty="0" err="1">
                <a:solidFill>
                  <a:srgbClr val="1F2933"/>
                </a:solidFill>
                <a:latin typeface="Malgun Gothic" pitchFamily="34" charset="0"/>
                <a:ea typeface="Malgun Gothic" pitchFamily="34" charset="-122"/>
                <a:cs typeface="Malgun Gothic" pitchFamily="34" charset="-120"/>
              </a:rPr>
              <a:t>완료</a:t>
            </a:r>
            <a:r>
              <a:rPr lang="en-US" altLang="ko-KR" sz="1300" dirty="0">
                <a:solidFill>
                  <a:srgbClr val="1F2933"/>
                </a:solidFill>
                <a:latin typeface="Malgun Gothic" pitchFamily="34" charset="0"/>
                <a:ea typeface="Malgun Gothic" pitchFamily="34" charset="-122"/>
                <a:cs typeface="Malgun Gothic" pitchFamily="34" charset="-120"/>
              </a:rPr>
              <a:t> Bank </a:t>
            </a:r>
            <a:r>
              <a:rPr lang="en-US" altLang="ko-KR" sz="1300" dirty="0" err="1">
                <a:solidFill>
                  <a:srgbClr val="1F2933"/>
                </a:solidFill>
                <a:latin typeface="Malgun Gothic" pitchFamily="34" charset="0"/>
                <a:ea typeface="Malgun Gothic" pitchFamily="34" charset="-122"/>
                <a:cs typeface="Malgun Gothic" pitchFamily="34" charset="-120"/>
              </a:rPr>
              <a:t>순서가</a:t>
            </a:r>
            <a:r>
              <a:rPr lang="en-US" altLang="ko-KR" sz="1300" dirty="0">
                <a:solidFill>
                  <a:srgbClr val="1F2933"/>
                </a:solidFill>
                <a:latin typeface="Malgun Gothic" pitchFamily="34" charset="0"/>
                <a:ea typeface="Malgun Gothic" pitchFamily="34" charset="-122"/>
                <a:cs typeface="Malgun Gothic" pitchFamily="34" charset="-120"/>
              </a:rPr>
              <a:t> </a:t>
            </a:r>
            <a:r>
              <a:rPr lang="en-US" altLang="ko-KR" sz="1300" dirty="0" err="1">
                <a:solidFill>
                  <a:srgbClr val="1F2933"/>
                </a:solidFill>
                <a:latin typeface="Malgun Gothic" pitchFamily="34" charset="0"/>
                <a:ea typeface="Malgun Gothic" pitchFamily="34" charset="-122"/>
                <a:cs typeface="Malgun Gothic" pitchFamily="34" charset="-120"/>
              </a:rPr>
              <a:t>어긋나면</a:t>
            </a:r>
            <a:r>
              <a:rPr lang="ko-KR" altLang="en-US" sz="1300" dirty="0">
                <a:solidFill>
                  <a:srgbClr val="1F2933"/>
                </a:solidFill>
                <a:latin typeface="Malgun Gothic" pitchFamily="34" charset="0"/>
                <a:ea typeface="Malgun Gothic" pitchFamily="34" charset="-122"/>
                <a:cs typeface="Malgun Gothic" pitchFamily="34" charset="-120"/>
              </a:rPr>
              <a:t> 중단</a:t>
            </a:r>
            <a:r>
              <a:rPr lang="en-US" altLang="ko-KR" sz="1300" dirty="0">
                <a:solidFill>
                  <a:srgbClr val="1F2933"/>
                </a:solidFill>
                <a:latin typeface="Malgun Gothic" pitchFamily="34" charset="0"/>
                <a:ea typeface="Malgun Gothic" pitchFamily="34" charset="-122"/>
                <a:cs typeface="Malgun Gothic" pitchFamily="34" charset="-120"/>
              </a:rPr>
              <a:t>,</a:t>
            </a:r>
            <a:r>
              <a:rPr lang="ko-KR" altLang="en-US" sz="1300" dirty="0">
                <a:solidFill>
                  <a:srgbClr val="1F2933"/>
                </a:solidFill>
                <a:latin typeface="Malgun Gothic" pitchFamily="34" charset="0"/>
                <a:ea typeface="Malgun Gothic" pitchFamily="34" charset="-122"/>
                <a:cs typeface="Malgun Gothic" pitchFamily="34" charset="-120"/>
              </a:rPr>
              <a:t> 기록</a:t>
            </a:r>
            <a:endParaRPr lang="en-US" altLang="ko-KR" sz="1300" dirty="0">
              <a:solidFill>
                <a:srgbClr val="1F2933"/>
              </a:solidFill>
              <a:latin typeface="Malgun Gothic" pitchFamily="34" charset="0"/>
              <a:ea typeface="Malgun Gothic" pitchFamily="34" charset="-122"/>
              <a:cs typeface="Malgun Gothic" pitchFamily="34" charset="-120"/>
            </a:endParaRPr>
          </a:p>
          <a:p>
            <a:pPr>
              <a:lnSpc>
                <a:spcPct val="120000"/>
              </a:lnSpc>
            </a:pPr>
            <a:endParaRPr lang="en-US" altLang="ko-KR" sz="1300" dirty="0"/>
          </a:p>
          <a:p>
            <a:pPr marL="0" indent="0">
              <a:lnSpc>
                <a:spcPct val="120000"/>
              </a:lnSpc>
              <a:buNone/>
            </a:pPr>
            <a:r>
              <a:rPr lang="en-US" altLang="ko-KR" sz="1300" b="1" dirty="0">
                <a:solidFill>
                  <a:srgbClr val="0F766E"/>
                </a:solidFill>
                <a:latin typeface="Malgun Gothic" pitchFamily="34" charset="0"/>
                <a:ea typeface="Malgun Gothic" pitchFamily="34" charset="-122"/>
                <a:cs typeface="Malgun Gothic" pitchFamily="34" charset="-120"/>
              </a:rPr>
              <a:t>134,15</a:t>
            </a:r>
            <a:r>
              <a:rPr lang="en-US" sz="1300" b="1" dirty="0">
                <a:solidFill>
                  <a:srgbClr val="0F766E"/>
                </a:solidFill>
                <a:latin typeface="Malgun Gothic" pitchFamily="34" charset="0"/>
                <a:ea typeface="Malgun Gothic" pitchFamily="34" charset="-122"/>
                <a:cs typeface="Malgun Gothic" pitchFamily="34" charset="-120"/>
              </a:rPr>
              <a:t>2행</a:t>
            </a:r>
            <a:endParaRPr lang="en-US" sz="1300" dirty="0"/>
          </a:p>
          <a:p>
            <a:pPr marL="0" indent="0">
              <a:lnSpc>
                <a:spcPct val="120000"/>
              </a:lnSpc>
              <a:spcAft>
                <a:spcPts val="900"/>
              </a:spcAft>
              <a:buNone/>
            </a:pPr>
            <a:r>
              <a:rPr lang="en-US" sz="1300" dirty="0">
                <a:solidFill>
                  <a:srgbClr val="1F2933"/>
                </a:solidFill>
                <a:latin typeface="Malgun Gothic" pitchFamily="34" charset="0"/>
                <a:ea typeface="Malgun Gothic" pitchFamily="34" charset="-122"/>
                <a:cs typeface="Malgun Gothic" pitchFamily="34" charset="-120"/>
              </a:rPr>
              <a:t>읽지 않은 데이터가 버퍼 전체(8 KiB)를 넘으면 오류. 복사 후에도 한 번 더 확인</a:t>
            </a:r>
            <a:endParaRPr lang="en-US" sz="1300" dirty="0"/>
          </a:p>
          <a:p>
            <a:pPr marL="0" indent="0">
              <a:lnSpc>
                <a:spcPct val="120000"/>
              </a:lnSpc>
              <a:buNone/>
            </a:pPr>
            <a:r>
              <a:rPr lang="en-US" sz="1300" b="1" dirty="0">
                <a:solidFill>
                  <a:srgbClr val="0F766E"/>
                </a:solidFill>
                <a:latin typeface="Malgun Gothic" pitchFamily="34" charset="0"/>
                <a:ea typeface="Malgun Gothic" pitchFamily="34" charset="-122"/>
                <a:cs typeface="Malgun Gothic" pitchFamily="34" charset="-120"/>
              </a:rPr>
              <a:t>demo_roundtrip.py 55행</a:t>
            </a:r>
            <a:endParaRPr lang="en-US" sz="1300" dirty="0"/>
          </a:p>
          <a:p>
            <a:pPr marL="0" indent="0">
              <a:lnSpc>
                <a:spcPct val="120000"/>
              </a:lnSpc>
              <a:spcAft>
                <a:spcPts val="900"/>
              </a:spcAft>
              <a:buNone/>
            </a:pPr>
            <a:r>
              <a:rPr lang="en-US" sz="1300" dirty="0">
                <a:solidFill>
                  <a:srgbClr val="1F2933"/>
                </a:solidFill>
                <a:latin typeface="Malgun Gothic" pitchFamily="34" charset="0"/>
                <a:ea typeface="Malgun Gothic" pitchFamily="34" charset="-122"/>
                <a:cs typeface="Malgun Gothic" pitchFamily="34" charset="-120"/>
              </a:rPr>
              <a:t>Demo 끝에 통계를 요청해 초과가 1회라도 있으면 실패</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r>
              <a:rPr lang="en" altLang="ko-KR" dirty="0"/>
              <a:t>Flash </a:t>
            </a:r>
            <a:r>
              <a:rPr lang="ko-KR" altLang="en-US" dirty="0"/>
              <a:t>명령 순서</a:t>
            </a:r>
            <a:endParaRPr lang="en-US" sz="2600" dirty="0"/>
          </a:p>
        </p:txBody>
      </p:sp>
      <p:sp>
        <p:nvSpPr>
          <p:cNvPr id="3" name="Shape 1"/>
          <p:cNvSpPr/>
          <p:nvPr/>
        </p:nvSpPr>
        <p:spPr>
          <a:xfrm>
            <a:off x="548640" y="1371600"/>
            <a:ext cx="7589520" cy="4800600"/>
          </a:xfrm>
          <a:prstGeom prst="rect">
            <a:avLst/>
          </a:prstGeom>
          <a:solidFill>
            <a:srgbClr val="F3F5F7"/>
          </a:solidFill>
          <a:ln w="12700">
            <a:solidFill>
              <a:srgbClr val="F3F5F7"/>
            </a:solidFill>
            <a:prstDash val="solid"/>
          </a:ln>
        </p:spPr>
        <p:txBody>
          <a:bodyPr/>
          <a:lstStyle/>
          <a:p>
            <a:endParaRPr lang="ko-KR" altLang="en-US"/>
          </a:p>
        </p:txBody>
      </p:sp>
      <p:sp>
        <p:nvSpPr>
          <p:cNvPr id="4" name="code"/>
          <p:cNvSpPr txBox="1"/>
          <p:nvPr/>
        </p:nvSpPr>
        <p:spPr>
          <a:xfrm>
            <a:off x="685800" y="1481328"/>
            <a:ext cx="7315200" cy="4581144"/>
          </a:xfrm>
          <a:prstGeom prst="rect">
            <a:avLst/>
          </a:prstGeom>
          <a:noFill/>
          <a:ln/>
        </p:spPr>
        <p:txBody>
          <a:bodyPr wrap="none" lIns="0" tIns="0" rIns="0" bIns="0" rtlCol="0" anchor="t"/>
          <a:lstStyle/>
          <a:p>
            <a:pPr marL="0" indent="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Core/Src/flash_test.c</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66  </a:t>
            </a:r>
            <a:r>
              <a:rPr lang="en-US" sz="1100" dirty="0">
                <a:solidFill>
                  <a:srgbClr val="1F2933"/>
                </a:solidFill>
                <a:latin typeface="Consolas" pitchFamily="34" charset="0"/>
                <a:ea typeface="Consolas" pitchFamily="34" charset="-122"/>
                <a:cs typeface="Consolas" pitchFamily="34" charset="-120"/>
              </a:rPr>
              <a:t>  HAL_StatusTypeDef status = read_data(qspi, 0x05, 0, &amp;sr1, 1, 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69  </a:t>
            </a:r>
            <a:r>
              <a:rPr lang="en-US" sz="1100" b="1" dirty="0">
                <a:solidFill>
                  <a:srgbClr val="0F766E"/>
                </a:solidFill>
                <a:latin typeface="Consolas" pitchFamily="34" charset="0"/>
                <a:ea typeface="Consolas" pitchFamily="34" charset="-122"/>
                <a:cs typeface="Consolas" pitchFamily="34" charset="-120"/>
              </a:rPr>
              <a:t>  if ((sr1 &amp; 0x01U) == 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70  </a:t>
            </a:r>
            <a:r>
              <a:rPr lang="en-US" sz="1100" dirty="0">
                <a:solidFill>
                  <a:srgbClr val="1F2933"/>
                </a:solidFill>
                <a:latin typeface="Consolas" pitchFamily="34" charset="0"/>
                <a:ea typeface="Consolas" pitchFamily="34" charset="-122"/>
                <a:cs typeface="Consolas" pitchFamily="34" charset="-120"/>
              </a:rPr>
              <a:t>    return HAL_OK;</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79  </a:t>
            </a:r>
            <a:r>
              <a:rPr lang="en-US" sz="1100" dirty="0">
                <a:solidFill>
                  <a:srgbClr val="1F2933"/>
                </a:solidFill>
                <a:latin typeface="Consolas" pitchFamily="34" charset="0"/>
                <a:ea typeface="Consolas" pitchFamily="34" charset="-122"/>
                <a:cs typeface="Consolas" pitchFamily="34" charset="-120"/>
              </a:rPr>
              <a:t>HAL_StatusTypeDef status = send_command(qspi, 0x06, 0, 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83  </a:t>
            </a:r>
            <a:r>
              <a:rPr lang="en-US" sz="1100" dirty="0">
                <a:solidFill>
                  <a:srgbClr val="1F2933"/>
                </a:solidFill>
                <a:latin typeface="Consolas" pitchFamily="34" charset="0"/>
                <a:ea typeface="Consolas" pitchFamily="34" charset="-122"/>
                <a:cs typeface="Consolas" pitchFamily="34" charset="-120"/>
              </a:rPr>
              <a:t>status = read_data(qspi, 0x05, 0, &amp;sr1, 1, 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86  </a:t>
            </a:r>
            <a:r>
              <a:rPr lang="en-US" sz="1100" b="1" dirty="0">
                <a:solidFill>
                  <a:srgbClr val="0F766E"/>
                </a:solidFill>
                <a:latin typeface="Consolas" pitchFamily="34" charset="0"/>
                <a:ea typeface="Consolas" pitchFamily="34" charset="-122"/>
                <a:cs typeface="Consolas" pitchFamily="34" charset="-120"/>
              </a:rPr>
              <a:t>return ((sr1 &amp; 0x03U) == 0x02U) ? HAL_OK : HAL_ERROR;</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102  </a:t>
            </a:r>
            <a:r>
              <a:rPr lang="en-US" sz="1100" b="1" dirty="0">
                <a:solidFill>
                  <a:schemeClr val="accent6">
                    <a:lumMod val="50000"/>
                  </a:schemeClr>
                </a:solidFill>
                <a:latin typeface="Consolas" pitchFamily="34" charset="0"/>
                <a:ea typeface="Consolas" pitchFamily="34" charset="-122"/>
                <a:cs typeface="Consolas" pitchFamily="34" charset="-120"/>
              </a:rPr>
              <a:t>if (count == 0 || count &gt; PAGE_BYTES || address &gt;= 0x1000000U ||</a:t>
            </a:r>
            <a:endParaRPr lang="en-US" sz="1100" b="1" dirty="0">
              <a:solidFill>
                <a:schemeClr val="accent6">
                  <a:lumMod val="50000"/>
                </a:schemeClr>
              </a:solidFill>
            </a:endParaRPr>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103  </a:t>
            </a:r>
            <a:r>
              <a:rPr lang="en-US" sz="1100" dirty="0">
                <a:solidFill>
                  <a:srgbClr val="1F2933"/>
                </a:solidFill>
                <a:latin typeface="Consolas" pitchFamily="34" charset="0"/>
                <a:ea typeface="Consolas" pitchFamily="34" charset="-122"/>
                <a:cs typeface="Consolas" pitchFamily="34" charset="-120"/>
              </a:rPr>
              <a:t>    </a:t>
            </a:r>
            <a:r>
              <a:rPr lang="en-US" sz="1100" b="1" dirty="0">
                <a:solidFill>
                  <a:schemeClr val="accent6">
                    <a:lumMod val="50000"/>
                  </a:schemeClr>
                </a:solidFill>
                <a:latin typeface="Consolas" pitchFamily="34" charset="0"/>
                <a:ea typeface="Consolas" pitchFamily="34" charset="-122"/>
                <a:cs typeface="Consolas" pitchFamily="34" charset="-120"/>
              </a:rPr>
              <a:t>count &gt; 0x1000000U - address ||</a:t>
            </a:r>
            <a:endParaRPr lang="en-US" sz="1100" b="1" dirty="0">
              <a:solidFill>
                <a:schemeClr val="accent6">
                  <a:lumMod val="50000"/>
                </a:schemeClr>
              </a:solidFill>
            </a:endParaRPr>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104  </a:t>
            </a:r>
            <a:r>
              <a:rPr lang="en-US" sz="1100" b="1" dirty="0">
                <a:solidFill>
                  <a:srgbClr val="0F766E"/>
                </a:solidFill>
                <a:latin typeface="Consolas" pitchFamily="34" charset="0"/>
                <a:ea typeface="Consolas" pitchFamily="34" charset="-122"/>
                <a:cs typeface="Consolas" pitchFamily="34" charset="-120"/>
              </a:rPr>
              <a:t>    (address &amp; (PAGE_BYTES - 1U)) + count &gt; PAGE_BYTES)</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105  </a:t>
            </a:r>
            <a:r>
              <a:rPr lang="en-US" sz="1100" dirty="0">
                <a:solidFill>
                  <a:srgbClr val="1F2933"/>
                </a:solidFill>
                <a:latin typeface="Consolas" pitchFamily="34" charset="0"/>
                <a:ea typeface="Consolas" pitchFamily="34" charset="-122"/>
                <a:cs typeface="Consolas" pitchFamily="34" charset="-120"/>
              </a:rPr>
              <a:t>  return HAL_ERROR;</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118  </a:t>
            </a:r>
            <a:r>
              <a:rPr lang="en-US" sz="1100" b="1" dirty="0">
                <a:solidFill>
                  <a:srgbClr val="0F766E"/>
                </a:solidFill>
                <a:latin typeface="Consolas" pitchFamily="34" charset="0"/>
                <a:ea typeface="Consolas" pitchFamily="34" charset="-122"/>
                <a:cs typeface="Consolas" pitchFamily="34" charset="-120"/>
              </a:rPr>
              <a:t>return wait_ready(qspi, 100);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231  </a:t>
            </a:r>
            <a:r>
              <a:rPr lang="en-US" sz="1100" b="1" dirty="0">
                <a:solidFill>
                  <a:srgbClr val="0F766E"/>
                </a:solidFill>
                <a:latin typeface="Consolas" pitchFamily="34" charset="0"/>
                <a:ea typeface="Consolas" pitchFamily="34" charset="-122"/>
                <a:cs typeface="Consolas" pitchFamily="34" charset="-120"/>
              </a:rPr>
              <a:t>HAL_StatusTypeDef status = wait_ready(qspi, 5000);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233  </a:t>
            </a:r>
            <a:r>
              <a:rPr lang="en-US" sz="1100" dirty="0">
                <a:solidFill>
                  <a:srgbClr val="1F2933"/>
                </a:solidFill>
                <a:latin typeface="Consolas" pitchFamily="34" charset="0"/>
                <a:ea typeface="Consolas" pitchFamily="34" charset="-122"/>
                <a:cs typeface="Consolas" pitchFamily="34" charset="-120"/>
              </a:rPr>
              <a:t>  status = write_enable(qspi);</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235  </a:t>
            </a:r>
            <a:r>
              <a:rPr lang="en-US" sz="1100" dirty="0">
                <a:solidFill>
                  <a:srgbClr val="1F2933"/>
                </a:solidFill>
                <a:latin typeface="Consolas" pitchFamily="34" charset="0"/>
                <a:ea typeface="Consolas" pitchFamily="34" charset="-122"/>
                <a:cs typeface="Consolas" pitchFamily="34" charset="-120"/>
              </a:rPr>
              <a:t>  status = send_command(qspi, 0xD8, address, 1);</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237  </a:t>
            </a:r>
            <a:r>
              <a:rPr lang="en-US" sz="1100" b="1" dirty="0">
                <a:solidFill>
                  <a:srgbClr val="0F766E"/>
                </a:solidFill>
                <a:latin typeface="Consolas" pitchFamily="34" charset="0"/>
                <a:ea typeface="Consolas" pitchFamily="34" charset="-122"/>
                <a:cs typeface="Consolas" pitchFamily="34" charset="-120"/>
              </a:rPr>
              <a:t>  status = wait_ready(qspi, 5000);</a:t>
            </a:r>
            <a:endParaRPr lang="en-US" sz="1100" dirty="0"/>
          </a:p>
        </p:txBody>
      </p:sp>
      <p:sp>
        <p:nvSpPr>
          <p:cNvPr id="5" name="Text 3"/>
          <p:cNvSpPr txBox="1"/>
          <p:nvPr/>
        </p:nvSpPr>
        <p:spPr>
          <a:xfrm>
            <a:off x="8412480" y="1417320"/>
            <a:ext cx="3227832" cy="960120"/>
          </a:xfrm>
          <a:prstGeom prst="rect">
            <a:avLst/>
          </a:prstGeom>
          <a:noFill/>
          <a:ln/>
        </p:spPr>
        <p:txBody>
          <a:bodyPr wrap="square" lIns="0" tIns="0" rIns="0" bIns="0" rtlCol="0" anchor="t"/>
          <a:lstStyle/>
          <a:p>
            <a:pPr marL="0" indent="0">
              <a:lnSpc>
                <a:spcPct val="125000"/>
              </a:lnSpc>
              <a:buNone/>
            </a:pPr>
            <a:r>
              <a:rPr lang="en-US" sz="1300" b="1" dirty="0">
                <a:solidFill>
                  <a:srgbClr val="1F2933"/>
                </a:solidFill>
                <a:latin typeface="Malgun Gothic" pitchFamily="34" charset="0"/>
                <a:ea typeface="Malgun Gothic" pitchFamily="34" charset="-122"/>
                <a:cs typeface="Malgun Gothic" pitchFamily="34" charset="-120"/>
              </a:rPr>
              <a:t>삭제  </a:t>
            </a:r>
            <a:r>
              <a:rPr lang="en-US" sz="1300" dirty="0">
                <a:solidFill>
                  <a:srgbClr val="1F2933"/>
                </a:solidFill>
                <a:latin typeface="Consolas" pitchFamily="34" charset="0"/>
                <a:ea typeface="Consolas" pitchFamily="34" charset="-122"/>
                <a:cs typeface="Consolas" pitchFamily="34" charset="-120"/>
              </a:rPr>
              <a:t>05h → 06h·WEL → D8h → 05h</a:t>
            </a:r>
            <a:endParaRPr lang="en-US" sz="1300" dirty="0"/>
          </a:p>
          <a:p>
            <a:pPr marL="0" indent="0">
              <a:lnSpc>
                <a:spcPct val="125000"/>
              </a:lnSpc>
              <a:buNone/>
            </a:pPr>
            <a:r>
              <a:rPr lang="en-US" sz="1300" b="1" dirty="0">
                <a:solidFill>
                  <a:srgbClr val="1F2933"/>
                </a:solidFill>
                <a:latin typeface="Malgun Gothic" pitchFamily="34" charset="0"/>
                <a:ea typeface="Malgun Gothic" pitchFamily="34" charset="-122"/>
                <a:cs typeface="Malgun Gothic" pitchFamily="34" charset="-120"/>
              </a:rPr>
              <a:t>쓰기  </a:t>
            </a:r>
            <a:r>
              <a:rPr lang="en-US" sz="1300" dirty="0">
                <a:solidFill>
                  <a:srgbClr val="1F2933"/>
                </a:solidFill>
                <a:latin typeface="Consolas" pitchFamily="34" charset="0"/>
                <a:ea typeface="Consolas" pitchFamily="34" charset="-122"/>
                <a:cs typeface="Consolas" pitchFamily="34" charset="-120"/>
              </a:rPr>
              <a:t>06h·WEL → 02h → 05h</a:t>
            </a:r>
            <a:endParaRPr lang="en-US" sz="1300" dirty="0"/>
          </a:p>
          <a:p>
            <a:pPr marL="0" indent="0">
              <a:lnSpc>
                <a:spcPct val="125000"/>
              </a:lnSpc>
              <a:buNone/>
            </a:pPr>
            <a:r>
              <a:rPr lang="en-US" sz="1300" b="1" dirty="0">
                <a:solidFill>
                  <a:srgbClr val="1F2933"/>
                </a:solidFill>
                <a:latin typeface="Malgun Gothic" pitchFamily="34" charset="0"/>
                <a:ea typeface="Malgun Gothic" pitchFamily="34" charset="-122"/>
                <a:cs typeface="Malgun Gothic" pitchFamily="34" charset="-120"/>
              </a:rPr>
              <a:t>읽기  </a:t>
            </a:r>
            <a:r>
              <a:rPr lang="en-US" sz="1300" dirty="0">
                <a:solidFill>
                  <a:srgbClr val="1F2933"/>
                </a:solidFill>
                <a:latin typeface="Consolas" pitchFamily="34" charset="0"/>
                <a:ea typeface="Consolas" pitchFamily="34" charset="-122"/>
                <a:cs typeface="Consolas" pitchFamily="34" charset="-120"/>
              </a:rPr>
              <a:t>05h → 03h</a:t>
            </a:r>
            <a:endParaRPr lang="en-US" sz="1300" dirty="0"/>
          </a:p>
        </p:txBody>
      </p:sp>
      <p:sp>
        <p:nvSpPr>
          <p:cNvPr id="6" name="Text 4"/>
          <p:cNvSpPr txBox="1"/>
          <p:nvPr/>
        </p:nvSpPr>
        <p:spPr>
          <a:xfrm>
            <a:off x="8412480" y="2606040"/>
            <a:ext cx="3227832" cy="4572000"/>
          </a:xfrm>
          <a:prstGeom prst="rect">
            <a:avLst/>
          </a:prstGeom>
          <a:noFill/>
          <a:ln/>
        </p:spPr>
        <p:txBody>
          <a:bodyPr wrap="square" lIns="0" tIns="0" rIns="0" bIns="0" rtlCol="0" anchor="t"/>
          <a:lstStyle/>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69행</a:t>
            </a:r>
            <a:endParaRPr lang="en-US" sz="1300" dirty="0"/>
          </a:p>
          <a:p>
            <a:pPr marL="0" indent="0">
              <a:lnSpc>
                <a:spcPct val="110000"/>
              </a:lnSpc>
              <a:spcAft>
                <a:spcPts val="900"/>
              </a:spcAft>
              <a:buNone/>
            </a:pPr>
            <a:r>
              <a:rPr lang="en-US" sz="1300" dirty="0">
                <a:solidFill>
                  <a:srgbClr val="1F2933"/>
                </a:solidFill>
                <a:latin typeface="Malgun Gothic" pitchFamily="34" charset="0"/>
                <a:ea typeface="Malgun Gothic" pitchFamily="34" charset="-122"/>
                <a:cs typeface="Malgun Gothic" pitchFamily="34" charset="-120"/>
              </a:rPr>
              <a:t>05h로 BUSY(bit 0)가 0이 될 </a:t>
            </a:r>
            <a:r>
              <a:rPr lang="en-US" sz="1300" dirty="0" err="1">
                <a:solidFill>
                  <a:srgbClr val="1F2933"/>
                </a:solidFill>
                <a:latin typeface="Malgun Gothic" pitchFamily="34" charset="0"/>
                <a:ea typeface="Malgun Gothic" pitchFamily="34" charset="-122"/>
                <a:cs typeface="Malgun Gothic" pitchFamily="34" charset="-120"/>
              </a:rPr>
              <a:t>때까지</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대기</a:t>
            </a:r>
            <a:endParaRPr lang="en-US" sz="1300" dirty="0">
              <a:solidFill>
                <a:srgbClr val="1F2933"/>
              </a:solidFill>
              <a:latin typeface="Malgun Gothic" pitchFamily="34" charset="0"/>
              <a:ea typeface="Malgun Gothic" pitchFamily="34" charset="-122"/>
              <a:cs typeface="Malgun Gothic" pitchFamily="34" charset="-120"/>
            </a:endParaRPr>
          </a:p>
          <a:p>
            <a:pPr marL="0" indent="0">
              <a:lnSpc>
                <a:spcPct val="110000"/>
              </a:lnSpc>
              <a:spcAft>
                <a:spcPts val="900"/>
              </a:spcAft>
              <a:buNone/>
            </a:pPr>
            <a:r>
              <a:rPr lang="en-US" sz="1300" b="1" dirty="0">
                <a:solidFill>
                  <a:srgbClr val="0F766E"/>
                </a:solidFill>
                <a:latin typeface="Malgun Gothic" pitchFamily="34" charset="0"/>
                <a:ea typeface="Malgun Gothic" pitchFamily="34" charset="-122"/>
                <a:cs typeface="Malgun Gothic" pitchFamily="34" charset="-120"/>
              </a:rPr>
              <a:t>86행</a:t>
            </a:r>
            <a:br>
              <a:rPr lang="en-US" sz="1300" b="1" dirty="0"/>
            </a:br>
            <a:r>
              <a:rPr lang="en-US" sz="1300" dirty="0">
                <a:solidFill>
                  <a:srgbClr val="1F2933"/>
                </a:solidFill>
                <a:latin typeface="Malgun Gothic" pitchFamily="34" charset="0"/>
                <a:ea typeface="Malgun Gothic" pitchFamily="34" charset="-122"/>
                <a:cs typeface="Malgun Gothic" pitchFamily="34" charset="-120"/>
              </a:rPr>
              <a:t>06h </a:t>
            </a:r>
            <a:r>
              <a:rPr lang="en-US" sz="1300" dirty="0" err="1">
                <a:solidFill>
                  <a:srgbClr val="1F2933"/>
                </a:solidFill>
                <a:latin typeface="Malgun Gothic" pitchFamily="34" charset="0"/>
                <a:ea typeface="Malgun Gothic" pitchFamily="34" charset="-122"/>
                <a:cs typeface="Malgun Gothic" pitchFamily="34" charset="-120"/>
              </a:rPr>
              <a:t>뒤</a:t>
            </a:r>
            <a:r>
              <a:rPr lang="en-US" sz="1300" dirty="0">
                <a:solidFill>
                  <a:srgbClr val="1F2933"/>
                </a:solidFill>
                <a:latin typeface="Malgun Gothic" pitchFamily="34" charset="0"/>
                <a:ea typeface="Malgun Gothic" pitchFamily="34" charset="-122"/>
                <a:cs typeface="Malgun Gothic" pitchFamily="34" charset="-120"/>
              </a:rPr>
              <a:t> WEL=1, BUSY=0</a:t>
            </a:r>
            <a:r>
              <a:rPr lang="ko-KR" altLang="en-US" sz="1300" dirty="0">
                <a:solidFill>
                  <a:srgbClr val="1F2933"/>
                </a:solidFill>
                <a:latin typeface="Malgun Gothic" pitchFamily="34" charset="0"/>
                <a:ea typeface="Malgun Gothic" pitchFamily="34" charset="-122"/>
                <a:cs typeface="Malgun Gothic" pitchFamily="34" charset="-120"/>
              </a:rPr>
              <a:t> 확인 </a:t>
            </a:r>
            <a:r>
              <a:rPr lang="en-US" altLang="ko-KR" sz="1300" dirty="0">
                <a:solidFill>
                  <a:srgbClr val="1F2933"/>
                </a:solidFill>
                <a:latin typeface="Malgun Gothic" pitchFamily="34" charset="0"/>
                <a:ea typeface="Malgun Gothic" pitchFamily="34" charset="-122"/>
                <a:cs typeface="Malgun Gothic" pitchFamily="34" charset="-120"/>
              </a:rPr>
              <a:t>(</a:t>
            </a:r>
            <a:r>
              <a:rPr lang="ko-KR" altLang="en-US" sz="1300" dirty="0">
                <a:solidFill>
                  <a:srgbClr val="1F2933"/>
                </a:solidFill>
                <a:latin typeface="Malgun Gothic" pitchFamily="34" charset="0"/>
                <a:ea typeface="Malgun Gothic" pitchFamily="34" charset="-122"/>
                <a:cs typeface="Malgun Gothic" pitchFamily="34" charset="-120"/>
              </a:rPr>
              <a:t>쓰기 허락</a:t>
            </a:r>
            <a:r>
              <a:rPr lang="en-US" altLang="ko-KR" sz="1300" dirty="0">
                <a:solidFill>
                  <a:srgbClr val="1F2933"/>
                </a:solidFill>
                <a:latin typeface="Malgun Gothic" pitchFamily="34" charset="0"/>
                <a:ea typeface="Malgun Gothic" pitchFamily="34" charset="-122"/>
                <a:cs typeface="Malgun Gothic" pitchFamily="34" charset="-120"/>
              </a:rPr>
              <a:t>)</a:t>
            </a:r>
            <a:endParaRPr lang="en-US" sz="1300" dirty="0"/>
          </a:p>
          <a:p>
            <a:pPr marL="0" indent="0">
              <a:lnSpc>
                <a:spcPct val="110000"/>
              </a:lnSpc>
              <a:buNone/>
            </a:pPr>
            <a:r>
              <a:rPr lang="en-US" altLang="ko-KR" sz="1300" b="1" dirty="0">
                <a:solidFill>
                  <a:srgbClr val="0F766E"/>
                </a:solidFill>
                <a:latin typeface="Malgun Gothic" pitchFamily="34" charset="0"/>
                <a:ea typeface="Malgun Gothic" pitchFamily="34" charset="-122"/>
                <a:cs typeface="Malgun Gothic" pitchFamily="34" charset="-120"/>
              </a:rPr>
              <a:t>102-</a:t>
            </a:r>
            <a:r>
              <a:rPr lang="en-US" sz="1300" b="1" dirty="0">
                <a:solidFill>
                  <a:srgbClr val="0F766E"/>
                </a:solidFill>
                <a:latin typeface="Malgun Gothic" pitchFamily="34" charset="0"/>
                <a:ea typeface="Malgun Gothic" pitchFamily="34" charset="-122"/>
                <a:cs typeface="Malgun Gothic" pitchFamily="34" charset="-120"/>
              </a:rPr>
              <a:t>10</a:t>
            </a:r>
            <a:r>
              <a:rPr lang="en-US" altLang="ko-KR" sz="1300" b="1" dirty="0">
                <a:solidFill>
                  <a:srgbClr val="0F766E"/>
                </a:solidFill>
                <a:latin typeface="Malgun Gothic" pitchFamily="34" charset="0"/>
                <a:ea typeface="Malgun Gothic" pitchFamily="34" charset="-122"/>
                <a:cs typeface="Malgun Gothic" pitchFamily="34" charset="-120"/>
              </a:rPr>
              <a:t>5</a:t>
            </a:r>
            <a:r>
              <a:rPr lang="en-US" sz="1300" b="1" dirty="0">
                <a:solidFill>
                  <a:srgbClr val="0F766E"/>
                </a:solidFill>
                <a:latin typeface="Malgun Gothic" pitchFamily="34" charset="0"/>
                <a:ea typeface="Malgun Gothic" pitchFamily="34" charset="-122"/>
                <a:cs typeface="Malgun Gothic" pitchFamily="34" charset="-120"/>
              </a:rPr>
              <a:t>행</a:t>
            </a:r>
            <a:endParaRPr lang="en-US" sz="1300" dirty="0"/>
          </a:p>
          <a:p>
            <a:pPr marL="0" indent="0">
              <a:lnSpc>
                <a:spcPct val="110000"/>
              </a:lnSpc>
              <a:spcAft>
                <a:spcPts val="900"/>
              </a:spcAft>
              <a:buNone/>
            </a:pPr>
            <a:r>
              <a:rPr lang="ko-KR" altLang="en-US" sz="1300" dirty="0">
                <a:solidFill>
                  <a:srgbClr val="1F2933"/>
                </a:solidFill>
                <a:latin typeface="Malgun Gothic" pitchFamily="34" charset="0"/>
                <a:ea typeface="Malgun Gothic" pitchFamily="34" charset="-122"/>
                <a:cs typeface="Malgun Gothic" pitchFamily="34" charset="-120"/>
              </a:rPr>
              <a:t>잘못된 </a:t>
            </a:r>
            <a:r>
              <a:rPr lang="en-US" sz="1300" dirty="0" err="1">
                <a:solidFill>
                  <a:srgbClr val="1F2933"/>
                </a:solidFill>
                <a:latin typeface="Malgun Gothic" pitchFamily="34" charset="0"/>
                <a:ea typeface="Malgun Gothic" pitchFamily="34" charset="-122"/>
                <a:cs typeface="Malgun Gothic" pitchFamily="34" charset="-120"/>
              </a:rPr>
              <a:t>쓰기는</a:t>
            </a:r>
            <a:r>
              <a:rPr lang="en-US" sz="1300" dirty="0">
                <a:solidFill>
                  <a:srgbClr val="1F2933"/>
                </a:solidFill>
                <a:latin typeface="Malgun Gothic" pitchFamily="34" charset="0"/>
                <a:ea typeface="Malgun Gothic" pitchFamily="34" charset="-122"/>
                <a:cs typeface="Malgun Gothic" pitchFamily="34" charset="-120"/>
              </a:rPr>
              <a:t> </a:t>
            </a:r>
            <a:r>
              <a:rPr lang="en-US" sz="1300" dirty="0" err="1">
                <a:solidFill>
                  <a:srgbClr val="1F2933"/>
                </a:solidFill>
                <a:latin typeface="Malgun Gothic" pitchFamily="34" charset="0"/>
                <a:ea typeface="Malgun Gothic" pitchFamily="34" charset="-122"/>
                <a:cs typeface="Malgun Gothic" pitchFamily="34" charset="-120"/>
              </a:rPr>
              <a:t>거부</a:t>
            </a:r>
            <a:endParaRPr lang="en-US" sz="1300" dirty="0">
              <a:solidFill>
                <a:srgbClr val="1F2933"/>
              </a:solidFill>
              <a:latin typeface="Malgun Gothic" pitchFamily="34" charset="0"/>
              <a:ea typeface="Malgun Gothic" pitchFamily="34" charset="-122"/>
              <a:cs typeface="Malgun Gothic" pitchFamily="34" charset="-120"/>
            </a:endParaRPr>
          </a:p>
          <a:p>
            <a:pPr marL="0" indent="0">
              <a:lnSpc>
                <a:spcPct val="110000"/>
              </a:lnSpc>
              <a:spcAft>
                <a:spcPts val="900"/>
              </a:spcAft>
              <a:buNone/>
            </a:pPr>
            <a:r>
              <a:rPr lang="en-US" altLang="ko-KR" sz="1300" b="1" dirty="0">
                <a:solidFill>
                  <a:srgbClr val="0F766E"/>
                </a:solidFill>
                <a:latin typeface="Malgun Gothic" pitchFamily="34" charset="0"/>
                <a:ea typeface="Malgun Gothic" pitchFamily="34" charset="-122"/>
                <a:cs typeface="Malgun Gothic" pitchFamily="34" charset="-120"/>
              </a:rPr>
              <a:t>118</a:t>
            </a:r>
            <a:r>
              <a:rPr lang="ko-KR" altLang="en-US" sz="1300" b="1" dirty="0">
                <a:solidFill>
                  <a:srgbClr val="0F766E"/>
                </a:solidFill>
                <a:latin typeface="Malgun Gothic" pitchFamily="34" charset="0"/>
                <a:ea typeface="Malgun Gothic" pitchFamily="34" charset="-122"/>
                <a:cs typeface="Malgun Gothic" pitchFamily="34" charset="-120"/>
              </a:rPr>
              <a:t>행</a:t>
            </a:r>
            <a:br>
              <a:rPr lang="en-US" altLang="ko-KR" sz="1300" b="1" dirty="0">
                <a:solidFill>
                  <a:srgbClr val="0F766E"/>
                </a:solidFill>
                <a:latin typeface="Malgun Gothic" pitchFamily="34" charset="0"/>
                <a:ea typeface="Malgun Gothic" pitchFamily="34" charset="-122"/>
                <a:cs typeface="Malgun Gothic" pitchFamily="34" charset="-120"/>
              </a:rPr>
            </a:br>
            <a:r>
              <a:rPr lang="ko-KR" altLang="en-US" sz="1300" dirty="0">
                <a:latin typeface="Malgun Gothic" pitchFamily="34" charset="0"/>
                <a:ea typeface="Malgun Gothic" pitchFamily="34" charset="-122"/>
                <a:cs typeface="Malgun Gothic" pitchFamily="34" charset="-120"/>
              </a:rPr>
              <a:t>쓰기완료 대기</a:t>
            </a:r>
            <a:r>
              <a:rPr lang="en-US" altLang="ko-KR" sz="1300" dirty="0">
                <a:latin typeface="Malgun Gothic" pitchFamily="34" charset="0"/>
                <a:ea typeface="Malgun Gothic" pitchFamily="34" charset="-122"/>
                <a:cs typeface="Malgun Gothic" pitchFamily="34" charset="-120"/>
              </a:rPr>
              <a:t>(</a:t>
            </a:r>
            <a:r>
              <a:rPr lang="ko-KR" altLang="en-US" sz="1300" dirty="0">
                <a:latin typeface="Malgun Gothic" pitchFamily="34" charset="0"/>
                <a:ea typeface="Malgun Gothic" pitchFamily="34" charset="-122"/>
                <a:cs typeface="Malgun Gothic" pitchFamily="34" charset="-120"/>
              </a:rPr>
              <a:t>쓰기함수의 마무리</a:t>
            </a:r>
            <a:r>
              <a:rPr lang="en-US" altLang="ko-KR" sz="1300" dirty="0">
                <a:latin typeface="Malgun Gothic" pitchFamily="34" charset="0"/>
                <a:ea typeface="Malgun Gothic" pitchFamily="34" charset="-122"/>
                <a:cs typeface="Malgun Gothic" pitchFamily="34" charset="-120"/>
              </a:rPr>
              <a:t>)</a:t>
            </a:r>
            <a:endParaRPr lang="en-US" sz="1300" dirty="0">
              <a:latin typeface="Malgun Gothic" pitchFamily="34" charset="0"/>
              <a:ea typeface="Malgun Gothic" pitchFamily="34" charset="-122"/>
              <a:cs typeface="Malgun Gothic" pitchFamily="34" charset="-120"/>
            </a:endParaRPr>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231–237행</a:t>
            </a:r>
            <a:endParaRPr lang="en-US" sz="1300" dirty="0"/>
          </a:p>
          <a:p>
            <a:pPr marL="0" indent="0">
              <a:lnSpc>
                <a:spcPct val="110000"/>
              </a:lnSpc>
              <a:spcAft>
                <a:spcPts val="900"/>
              </a:spcAft>
              <a:buNone/>
            </a:pPr>
            <a:r>
              <a:rPr lang="ko-KR" altLang="en-US" sz="1300" dirty="0">
                <a:solidFill>
                  <a:srgbClr val="1F2933"/>
                </a:solidFill>
                <a:latin typeface="Malgun Gothic" pitchFamily="34" charset="0"/>
                <a:ea typeface="Malgun Gothic" pitchFamily="34" charset="-122"/>
                <a:cs typeface="Malgun Gothic" pitchFamily="34" charset="-120"/>
              </a:rPr>
              <a:t>지우기 순서 </a:t>
            </a:r>
            <a:r>
              <a:rPr lang="en-US" altLang="ko-KR" sz="1300" dirty="0">
                <a:solidFill>
                  <a:srgbClr val="1F2933"/>
                </a:solidFill>
                <a:latin typeface="Malgun Gothic" pitchFamily="34" charset="0"/>
                <a:ea typeface="Malgun Gothic" pitchFamily="34" charset="-122"/>
                <a:cs typeface="Malgun Gothic" pitchFamily="34" charset="-120"/>
              </a:rPr>
              <a:t>(</a:t>
            </a:r>
            <a:r>
              <a:rPr lang="ko-KR" altLang="en-US" sz="1300" dirty="0">
                <a:solidFill>
                  <a:srgbClr val="1F2933"/>
                </a:solidFill>
                <a:latin typeface="Malgun Gothic" pitchFamily="34" charset="0"/>
                <a:ea typeface="Malgun Gothic" pitchFamily="34" charset="-122"/>
                <a:cs typeface="Malgun Gothic" pitchFamily="34" charset="-120"/>
              </a:rPr>
              <a:t>대기 → 쓰기 허락 → 지우기 → 끝날 때까지 대기</a:t>
            </a:r>
            <a:r>
              <a:rPr lang="en-US" altLang="ko-KR" sz="1300" dirty="0">
                <a:solidFill>
                  <a:srgbClr val="1F2933"/>
                </a:solidFill>
                <a:latin typeface="Malgun Gothic" pitchFamily="34" charset="0"/>
                <a:ea typeface="Malgun Gothic" pitchFamily="34" charset="-122"/>
                <a:cs typeface="Malgun Gothic" pitchFamily="34" charset="-120"/>
              </a:rPr>
              <a: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Demo는 바이트·CRC32·SHA-256이 모두 같아야 PASS를 출력합니다</a:t>
            </a:r>
            <a:endParaRPr lang="en-US" sz="2600" dirty="0"/>
          </a:p>
        </p:txBody>
      </p:sp>
      <p:sp>
        <p:nvSpPr>
          <p:cNvPr id="3" name="Shape 1"/>
          <p:cNvSpPr/>
          <p:nvPr/>
        </p:nvSpPr>
        <p:spPr>
          <a:xfrm>
            <a:off x="548640" y="1371600"/>
            <a:ext cx="7589520" cy="4800600"/>
          </a:xfrm>
          <a:prstGeom prst="rect">
            <a:avLst/>
          </a:prstGeom>
          <a:solidFill>
            <a:srgbClr val="F3F5F7"/>
          </a:solidFill>
          <a:ln w="12700">
            <a:solidFill>
              <a:srgbClr val="F3F5F7"/>
            </a:solidFill>
            <a:prstDash val="solid"/>
          </a:ln>
        </p:spPr>
        <p:txBody>
          <a:bodyPr/>
          <a:lstStyle/>
          <a:p>
            <a:endParaRPr lang="ko-KR" altLang="en-US"/>
          </a:p>
        </p:txBody>
      </p:sp>
      <p:sp>
        <p:nvSpPr>
          <p:cNvPr id="4" name="code"/>
          <p:cNvSpPr txBox="1"/>
          <p:nvPr/>
        </p:nvSpPr>
        <p:spPr>
          <a:xfrm>
            <a:off x="685800" y="1481328"/>
            <a:ext cx="7315200" cy="4581144"/>
          </a:xfrm>
          <a:prstGeom prst="rect">
            <a:avLst/>
          </a:prstGeom>
          <a:noFill/>
          <a:ln/>
        </p:spPr>
        <p:txBody>
          <a:bodyPr wrap="none" lIns="0" tIns="0" rIns="0" bIns="0" rtlCol="0" anchor="t"/>
          <a:lstStyle/>
          <a:p>
            <a:pPr marL="0" indent="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pc/demo_roundtrip.py — main()</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30  </a:t>
            </a:r>
            <a:r>
              <a:rPr lang="en-US" sz="1100" dirty="0">
                <a:solidFill>
                  <a:srgbClr val="1F2933"/>
                </a:solidFill>
                <a:latin typeface="Consolas" pitchFamily="34" charset="0"/>
                <a:ea typeface="Consolas" pitchFamily="34" charset="-122"/>
                <a:cs typeface="Consolas" pitchFamily="34" charset="-120"/>
              </a:rPr>
              <a:t>expected_crc = zlib.crc32(source) &amp; 0xFFFFFFFF</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31  </a:t>
            </a:r>
            <a:r>
              <a:rPr lang="en-US" sz="1100" dirty="0">
                <a:solidFill>
                  <a:srgbClr val="1F2933"/>
                </a:solidFill>
                <a:latin typeface="Consolas" pitchFamily="34" charset="0"/>
                <a:ea typeface="Consolas" pitchFamily="34" charset="-122"/>
                <a:cs typeface="Consolas" pitchFamily="34" charset="-120"/>
              </a:rPr>
              <a:t>expected_sha = hashlib.sha256(source).hexdigest()</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45  </a:t>
            </a:r>
            <a:r>
              <a:rPr lang="en-US" sz="1100" b="1" dirty="0">
                <a:solidFill>
                  <a:srgbClr val="0F766E"/>
                </a:solidFill>
                <a:latin typeface="Consolas" pitchFamily="34" charset="0"/>
                <a:ea typeface="Consolas" pitchFamily="34" charset="-122"/>
                <a:cs typeface="Consolas" pitchFamily="34" charset="-120"/>
              </a:rPr>
              <a:t>if not args.read_only: store_ms = send_file(port, source)</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47  </a:t>
            </a:r>
            <a:r>
              <a:rPr lang="en-US" sz="1100" dirty="0">
                <a:solidFill>
                  <a:srgbClr val="1F2933"/>
                </a:solidFill>
                <a:latin typeface="Consolas" pitchFamily="34" charset="0"/>
                <a:ea typeface="Consolas" pitchFamily="34" charset="-122"/>
                <a:cs typeface="Consolas" pitchFamily="34" charset="-120"/>
              </a:rPr>
              <a:t>actual_crc = read_flash_file(port, len(source), destination)</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48  </a:t>
            </a:r>
            <a:r>
              <a:rPr lang="en-US" sz="1100" dirty="0">
                <a:solidFill>
                  <a:srgbClr val="1F2933"/>
                </a:solidFill>
                <a:latin typeface="Consolas" pitchFamily="34" charset="0"/>
                <a:ea typeface="Consolas" pitchFamily="34" charset="-122"/>
                <a:cs typeface="Consolas" pitchFamily="34" charset="-120"/>
              </a:rPr>
              <a:t>restored = destination.read_bytes()</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49  </a:t>
            </a:r>
            <a:r>
              <a:rPr lang="en-US" sz="1100" dirty="0">
                <a:solidFill>
                  <a:srgbClr val="1F2933"/>
                </a:solidFill>
                <a:latin typeface="Consolas" pitchFamily="34" charset="0"/>
                <a:ea typeface="Consolas" pitchFamily="34" charset="-122"/>
                <a:cs typeface="Consolas" pitchFamily="34" charset="-120"/>
              </a:rPr>
              <a:t>actual_sha = hashlib.sha256(restored).hexdigest()</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50  </a:t>
            </a:r>
            <a:r>
              <a:rPr lang="en-US" sz="1100" b="1" dirty="0">
                <a:solidFill>
                  <a:srgbClr val="0F766E"/>
                </a:solidFill>
                <a:latin typeface="Consolas" pitchFamily="34" charset="0"/>
                <a:ea typeface="Consolas" pitchFamily="34" charset="-122"/>
                <a:cs typeface="Consolas" pitchFamily="34" charset="-120"/>
              </a:rPr>
              <a:t>equal = source == restored</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51  </a:t>
            </a:r>
            <a:r>
              <a:rPr lang="en-US" sz="1100" b="1" dirty="0">
                <a:solidFill>
                  <a:srgbClr val="0F766E"/>
                </a:solidFill>
                <a:latin typeface="Consolas" pitchFamily="34" charset="0"/>
                <a:ea typeface="Consolas" pitchFamily="34" charset="-122"/>
                <a:cs typeface="Consolas" pitchFamily="34" charset="-120"/>
              </a:rPr>
              <a:t>if not equal or actual_crc != expected_crc or actual_sha != expected_sha:</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52  </a:t>
            </a:r>
            <a:r>
              <a:rPr lang="en-US" sz="1100" dirty="0">
                <a:solidFill>
                  <a:srgbClr val="1F2933"/>
                </a:solidFill>
                <a:latin typeface="Consolas" pitchFamily="34" charset="0"/>
                <a:ea typeface="Consolas" pitchFamily="34" charset="-122"/>
                <a:cs typeface="Consolas" pitchFamily="34" charset="-120"/>
              </a:rPr>
              <a:t>    raise TestError("원본과 복원 파일의 내용이 다릅니다.")</a:t>
            </a:r>
            <a:endParaRPr lang="en-US" sz="1100" dirty="0"/>
          </a:p>
          <a:p>
            <a:pPr marL="0" indent="0">
              <a:lnSpc>
                <a:spcPct val="120000"/>
              </a:lnSpc>
              <a:buNone/>
            </a:pPr>
            <a:r>
              <a:rPr lang="en-US" sz="600" dirty="0">
                <a:solidFill>
                  <a:srgbClr val="000000"/>
                </a:solidFill>
              </a:rPr>
              <a:t> </a:t>
            </a:r>
            <a:endParaRPr lang="en-US" sz="1100" dirty="0"/>
          </a:p>
          <a:p>
            <a:pPr marL="0" indent="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Core/Src/uart_flash_test.c — stream_flash()</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221  </a:t>
            </a:r>
            <a:r>
              <a:rPr lang="en-US" sz="1100" b="1" dirty="0">
                <a:solidFill>
                  <a:srgbClr val="0F766E"/>
                </a:solidFill>
                <a:latin typeface="Consolas" pitchFamily="34" charset="0"/>
                <a:ea typeface="Consolas" pitchFamily="34" charset="-122"/>
                <a:cs typeface="Consolas" pitchFamily="34" charset="-120"/>
              </a:rPr>
              <a:t>  crc = crc32_update(crc, file_buffer, count);</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228  </a:t>
            </a:r>
            <a:r>
              <a:rPr lang="en-US" sz="1100" dirty="0">
                <a:solidFill>
                  <a:srgbClr val="1F2933"/>
                </a:solidFill>
                <a:latin typeface="Consolas" pitchFamily="34" charset="0"/>
                <a:ea typeface="Consolas" pitchFamily="34" charset="-122"/>
                <a:cs typeface="Consolas" pitchFamily="34" charset="-120"/>
              </a:rPr>
              <a:t>snprintf(line, sizeof(line), "FILE DATA DONE %08lX\n",</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229  </a:t>
            </a:r>
            <a:r>
              <a:rPr lang="en-US" sz="1100" dirty="0">
                <a:solidFill>
                  <a:srgbClr val="1F2933"/>
                </a:solidFill>
                <a:latin typeface="Consolas" pitchFamily="34" charset="0"/>
                <a:ea typeface="Consolas" pitchFamily="34" charset="-122"/>
                <a:cs typeface="Consolas" pitchFamily="34" charset="-120"/>
              </a:rPr>
              <a:t>         (unsigned long)(crc ^ 0xFFFFFFFFU));</a:t>
            </a:r>
            <a:endParaRPr lang="en-US" sz="1100" dirty="0"/>
          </a:p>
          <a:p>
            <a:pPr marL="0" indent="0">
              <a:lnSpc>
                <a:spcPct val="120000"/>
              </a:lnSpc>
              <a:buNone/>
            </a:pPr>
            <a:r>
              <a:rPr lang="en-US" sz="600" dirty="0">
                <a:solidFill>
                  <a:srgbClr val="000000"/>
                </a:solidFill>
              </a:rPr>
              <a:t> </a:t>
            </a:r>
            <a:endParaRPr lang="en-US" sz="1100" dirty="0"/>
          </a:p>
          <a:p>
            <a:pPr marL="0" indent="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pc/bmp_store.py — read_flash_file()</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85  </a:t>
            </a:r>
            <a:r>
              <a:rPr lang="en-US" sz="1100" b="1" dirty="0">
                <a:solidFill>
                  <a:srgbClr val="0F766E"/>
                </a:solidFill>
                <a:latin typeface="Consolas" pitchFamily="34" charset="0"/>
                <a:ea typeface="Consolas" pitchFamily="34" charset="-122"/>
                <a:cs typeface="Consolas" pitchFamily="34" charset="-120"/>
              </a:rPr>
              <a:t>if line != f"FILE DATA DONE {crc &amp; 0xFFFFFFFF:08X}":</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86  </a:t>
            </a:r>
            <a:r>
              <a:rPr lang="en-US" sz="1100" dirty="0">
                <a:solidFill>
                  <a:srgbClr val="1F2933"/>
                </a:solidFill>
                <a:latin typeface="Consolas" pitchFamily="34" charset="0"/>
                <a:ea typeface="Consolas" pitchFamily="34" charset="-122"/>
                <a:cs typeface="Consolas" pitchFamily="34" charset="-120"/>
              </a:rPr>
              <a:t>    raise TestError("Flash 읽기 CRC가 다릅니다: " + line)</a:t>
            </a:r>
            <a:endParaRPr lang="en-US" sz="1100" dirty="0"/>
          </a:p>
        </p:txBody>
      </p:sp>
      <p:sp>
        <p:nvSpPr>
          <p:cNvPr id="5" name="Text 3"/>
          <p:cNvSpPr txBox="1"/>
          <p:nvPr/>
        </p:nvSpPr>
        <p:spPr>
          <a:xfrm>
            <a:off x="8412480" y="1417320"/>
            <a:ext cx="3227832" cy="4572000"/>
          </a:xfrm>
          <a:prstGeom prst="rect">
            <a:avLst/>
          </a:prstGeom>
          <a:noFill/>
          <a:ln/>
        </p:spPr>
        <p:txBody>
          <a:bodyPr wrap="square" lIns="0" tIns="0" rIns="0" bIns="0" rtlCol="0" anchor="t"/>
          <a:lstStyle/>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45행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--read-only면 원본을 보내지 않고 Flash만 읽음</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221 · 228행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MCU가 Flash에서 읽어 보낸 데이터의 CRC를 마지막 줄로 보고</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85행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PC가 받은 데이터의 CRC와 MCU 보고값 비교</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50–51행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원본과 복원 파일의 바이트, CRC32, SHA-256이 모두 같아야 통과</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칩 직접 덤프와 RAM을 덮어쓴 뒤 복원 모두 원본과 일치했습니다</a:t>
            </a:r>
            <a:endParaRPr lang="en-US" sz="2600" dirty="0"/>
          </a:p>
        </p:txBody>
      </p:sp>
      <p:sp>
        <p:nvSpPr>
          <p:cNvPr id="3" name="Shape 1"/>
          <p:cNvSpPr/>
          <p:nvPr/>
        </p:nvSpPr>
        <p:spPr>
          <a:xfrm>
            <a:off x="548640" y="1325880"/>
            <a:ext cx="11091672" cy="3108960"/>
          </a:xfrm>
          <a:prstGeom prst="rect">
            <a:avLst/>
          </a:prstGeom>
          <a:solidFill>
            <a:srgbClr val="F3F5F7"/>
          </a:solidFill>
          <a:ln w="12700">
            <a:solidFill>
              <a:srgbClr val="F3F5F7"/>
            </a:solidFill>
            <a:prstDash val="solid"/>
          </a:ln>
        </p:spPr>
        <p:txBody>
          <a:bodyPr/>
          <a:lstStyle/>
          <a:p>
            <a:endParaRPr lang="ko-KR" altLang="en-US"/>
          </a:p>
        </p:txBody>
      </p:sp>
      <p:sp>
        <p:nvSpPr>
          <p:cNvPr id="4" name="code"/>
          <p:cNvSpPr txBox="1"/>
          <p:nvPr/>
        </p:nvSpPr>
        <p:spPr>
          <a:xfrm>
            <a:off x="685800" y="1435608"/>
            <a:ext cx="10817352" cy="2889504"/>
          </a:xfrm>
          <a:prstGeom prst="rect">
            <a:avLst/>
          </a:prstGeom>
          <a:noFill/>
          <a:ln/>
        </p:spPr>
        <p:txBody>
          <a:bodyPr wrap="none" lIns="0" tIns="0" rIns="0" bIns="0" rtlCol="0" anchor="t"/>
          <a:lstStyle/>
          <a:p>
            <a:pPr marL="0" indent="0">
              <a:lnSpc>
                <a:spcPct val="120000"/>
              </a:lnSpc>
              <a:buNone/>
            </a:pPr>
            <a:r>
              <a:rPr lang="en-US" sz="1000" b="1" dirty="0">
                <a:solidFill>
                  <a:srgbClr val="5F6B7A"/>
                </a:solidFill>
                <a:latin typeface="Malgun Gothic" pitchFamily="34" charset="0"/>
                <a:ea typeface="Malgun Gothic" pitchFamily="34" charset="-122"/>
                <a:cs typeface="Malgun Gothic" pitchFamily="34" charset="-120"/>
              </a:rPr>
              <a:t>run_all.py — 8단계: ST 외부 로더로 QSPI Flash 칩 직접 덤프</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199  </a:t>
            </a:r>
            <a:r>
              <a:rPr lang="en-US" sz="1000" b="1" dirty="0">
                <a:solidFill>
                  <a:srgbClr val="0F766E"/>
                </a:solidFill>
                <a:latin typeface="Consolas" pitchFamily="34" charset="0"/>
                <a:ea typeface="Consolas" pitchFamily="34" charset="-122"/>
                <a:cs typeface="Consolas" pitchFamily="34" charset="-120"/>
              </a:rPr>
              <a:t>capture([programmer, "-c", "port=SWD", "mode=UR", "-el", tools["ExternalLoader"],</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200  </a:t>
            </a:r>
            <a:r>
              <a:rPr lang="en-US" sz="1000" b="1" dirty="0">
                <a:solidFill>
                  <a:srgbClr val="0F766E"/>
                </a:solidFill>
                <a:latin typeface="Consolas" pitchFamily="34" charset="0"/>
                <a:ea typeface="Consolas" pitchFamily="34" charset="-122"/>
                <a:cs typeface="Consolas" pitchFamily="34" charset="-120"/>
              </a:rPr>
              <a:t>         "-u", "0x90000000", size, dump])</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205  </a:t>
            </a:r>
            <a:r>
              <a:rPr lang="en-US" sz="1000" b="1" dirty="0">
                <a:solidFill>
                  <a:srgbClr val="0F766E"/>
                </a:solidFill>
                <a:latin typeface="Consolas" pitchFamily="34" charset="0"/>
                <a:ea typeface="Consolas" pitchFamily="34" charset="-122"/>
                <a:cs typeface="Consolas" pitchFamily="34" charset="-120"/>
              </a:rPr>
              <a:t>if dumped != original:</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206  </a:t>
            </a:r>
            <a:r>
              <a:rPr lang="en-US" sz="1000" dirty="0">
                <a:solidFill>
                  <a:srgbClr val="1F2933"/>
                </a:solidFill>
                <a:latin typeface="Consolas" pitchFamily="34" charset="0"/>
                <a:ea typeface="Consolas" pitchFamily="34" charset="-122"/>
                <a:cs typeface="Consolas" pitchFamily="34" charset="-120"/>
              </a:rPr>
              <a:t>    raise StepFailed("Flash 칩 내용이 원본과 다릅니다")</a:t>
            </a:r>
            <a:endParaRPr lang="en-US" sz="1000" dirty="0"/>
          </a:p>
          <a:p>
            <a:pPr marL="0" indent="0">
              <a:lnSpc>
                <a:spcPct val="120000"/>
              </a:lnSpc>
              <a:buNone/>
            </a:pPr>
            <a:r>
              <a:rPr lang="en-US" sz="600" dirty="0">
                <a:solidFill>
                  <a:srgbClr val="000000"/>
                </a:solidFill>
              </a:rPr>
              <a:t> </a:t>
            </a:r>
            <a:endParaRPr lang="en-US" sz="1000" dirty="0"/>
          </a:p>
          <a:p>
            <a:pPr marL="0" indent="0">
              <a:lnSpc>
                <a:spcPct val="120000"/>
              </a:lnSpc>
              <a:buNone/>
            </a:pPr>
            <a:r>
              <a:rPr lang="en-US" sz="1000" b="1" dirty="0">
                <a:solidFill>
                  <a:srgbClr val="5F6B7A"/>
                </a:solidFill>
                <a:latin typeface="Malgun Gothic" pitchFamily="34" charset="0"/>
                <a:ea typeface="Malgun Gothic" pitchFamily="34" charset="-122"/>
                <a:cs typeface="Malgun Gothic" pitchFamily="34" charset="-120"/>
              </a:rPr>
              <a:t>run_all.py — 9단계: RAM 320 KB를 0xA5로 덮어쓴 뒤 Flash에서만 복원</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210  </a:t>
            </a:r>
            <a:r>
              <a:rPr lang="en-US" sz="1000" b="1" dirty="0">
                <a:solidFill>
                  <a:srgbClr val="0F766E"/>
                </a:solidFill>
                <a:latin typeface="Consolas" pitchFamily="34" charset="0"/>
                <a:ea typeface="Consolas" pitchFamily="34" charset="-122"/>
                <a:cs typeface="Consolas" pitchFamily="34" charset="-120"/>
              </a:rPr>
              <a:t>output = capture([programmer, "-c", "port=SWD", "mode=UR", "-fillmemory", "0x20000000", "size=0x50000",</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211  </a:t>
            </a:r>
            <a:r>
              <a:rPr lang="en-US" sz="1000" dirty="0">
                <a:solidFill>
                  <a:srgbClr val="1F2933"/>
                </a:solidFill>
                <a:latin typeface="Consolas" pitchFamily="34" charset="0"/>
                <a:ea typeface="Consolas" pitchFamily="34" charset="-122"/>
                <a:cs typeface="Consolas" pitchFamily="34" charset="-120"/>
              </a:rPr>
              <a:t>                  "pattern=0xA5A5A5A5", "dataWidth=32", "-r32", "0x20000000", "0x10",</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212  </a:t>
            </a:r>
            <a:r>
              <a:rPr lang="en-US" sz="1000" dirty="0">
                <a:solidFill>
                  <a:srgbClr val="1F2933"/>
                </a:solidFill>
                <a:latin typeface="Consolas" pitchFamily="34" charset="0"/>
                <a:ea typeface="Consolas" pitchFamily="34" charset="-122"/>
                <a:cs typeface="Consolas" pitchFamily="34" charset="-120"/>
              </a:rPr>
              <a:t>                  "-r32", "0x20027FF0", "0x10", "-r32", "0x2004FFF0", "0x10"])</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213  </a:t>
            </a:r>
            <a:r>
              <a:rPr lang="en-US" sz="1000" b="1" dirty="0">
                <a:solidFill>
                  <a:srgbClr val="0F766E"/>
                </a:solidFill>
                <a:latin typeface="Consolas" pitchFamily="34" charset="0"/>
                <a:ea typeface="Consolas" pitchFamily="34" charset="-122"/>
                <a:cs typeface="Consolas" pitchFamily="34" charset="-120"/>
              </a:rPr>
              <a:t>if output.count("A5A5A5A5 A5A5A5A5 A5A5A5A5 A5A5A5A5") != 3:</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216  </a:t>
            </a:r>
            <a:r>
              <a:rPr lang="en-US" sz="1000" dirty="0">
                <a:solidFill>
                  <a:srgbClr val="1F2933"/>
                </a:solidFill>
                <a:latin typeface="Consolas" pitchFamily="34" charset="0"/>
                <a:ea typeface="Consolas" pitchFamily="34" charset="-122"/>
                <a:cs typeface="Consolas" pitchFamily="34" charset="-120"/>
              </a:rPr>
              <a:t>capture([programmer, "-c", "port=SWD", "mode=HOTPLUG", "-rst"])</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218  </a:t>
            </a:r>
            <a:r>
              <a:rPr lang="en-US" sz="1000" b="1" dirty="0">
                <a:solidFill>
                  <a:srgbClr val="0F766E"/>
                </a:solidFill>
                <a:latin typeface="Consolas" pitchFamily="34" charset="0"/>
                <a:ea typeface="Consolas" pitchFamily="34" charset="-122"/>
                <a:cs typeface="Consolas" pitchFamily="34" charset="-120"/>
              </a:rPr>
              <a:t>run([sys.executable, "pc/demo_roundtrip.py", "--read-only"])</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219  </a:t>
            </a:r>
            <a:r>
              <a:rPr lang="en-US" sz="1000" dirty="0">
                <a:solidFill>
                  <a:srgbClr val="1F2933"/>
                </a:solidFill>
                <a:latin typeface="Consolas" pitchFamily="34" charset="0"/>
                <a:ea typeface="Consolas" pitchFamily="34" charset="-122"/>
                <a:cs typeface="Consolas" pitchFamily="34" charset="-120"/>
              </a:rPr>
              <a:t>run([sys.executable, "pc/bmp_gray.py", "--convert-only"])</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553712"/>
          <a:ext cx="6949440" cy="1691640"/>
        </p:xfrm>
        <a:graphic>
          <a:graphicData uri="http://schemas.openxmlformats.org/drawingml/2006/table">
            <a:tbl>
              <a:tblPr/>
              <a:tblGrid>
                <a:gridCol w="18288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338328">
                <a:tc>
                  <a:txBody>
                    <a:bodyPr/>
                    <a:lstStyle/>
                    <a:p>
                      <a:pPr marL="0" indent="0">
                        <a:buNone/>
                      </a:pPr>
                      <a:r>
                        <a:rPr lang="en-US" sz="1300" b="1" dirty="0">
                          <a:solidFill>
                            <a:srgbClr val="1F2933"/>
                          </a:solidFill>
                          <a:latin typeface="Malgun Gothic" pitchFamily="34" charset="0"/>
                          <a:ea typeface="Malgun Gothic" pitchFamily="34" charset="-122"/>
                          <a:cs typeface="Malgun Gothic" pitchFamily="34" charset="-120"/>
                        </a:rPr>
                        <a:t>확인</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300" b="1" dirty="0">
                          <a:solidFill>
                            <a:srgbClr val="1F2933"/>
                          </a:solidFill>
                          <a:latin typeface="Malgun Gothic" pitchFamily="34" charset="0"/>
                          <a:ea typeface="Malgun Gothic" pitchFamily="34" charset="-122"/>
                          <a:cs typeface="Malgun Gothic" pitchFamily="34" charset="-120"/>
                        </a:rPr>
                        <a:t>결과</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extLst>
                  <a:ext uri="{0D108BD9-81ED-4DB2-BD59-A6C34878D82A}">
                    <a16:rowId xmlns:a16="http://schemas.microsoft.com/office/drawing/2014/main" val="10000"/>
                  </a:ext>
                </a:extLst>
              </a:tr>
              <a:tr h="338328">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칩 직접 덤프</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0x90000000부터 3,145,782 B = 원본 BMP</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RAM 덮어쓰기</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처음·중간·끝 모두 0xA5 확인</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읽기 전용 복원</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전체 바이트 일치, 34.6 s</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Gray 변환만</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기준 변환과 일치, 20.9 s</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txBox="1"/>
          <p:nvPr/>
        </p:nvSpPr>
        <p:spPr>
          <a:xfrm>
            <a:off x="7863840" y="4553712"/>
            <a:ext cx="3776472" cy="1005840"/>
          </a:xfrm>
          <a:prstGeom prst="rect">
            <a:avLst/>
          </a:prstGeom>
          <a:noFill/>
          <a:ln/>
        </p:spPr>
        <p:txBody>
          <a:bodyPr wrap="square" lIns="0" tIns="0" rIns="0" bIns="0" rtlCol="0" anchor="t"/>
          <a:lstStyle/>
          <a:p>
            <a:pPr marL="0" indent="0">
              <a:lnSpc>
                <a:spcPct val="120000"/>
              </a:lnSpc>
              <a:buNone/>
            </a:pPr>
            <a:r>
              <a:rPr lang="en-US" sz="1400" dirty="0">
                <a:solidFill>
                  <a:srgbClr val="1F2933"/>
                </a:solidFill>
                <a:latin typeface="Malgun Gothic" pitchFamily="34" charset="0"/>
                <a:ea typeface="Malgun Gothic" pitchFamily="34" charset="-122"/>
                <a:cs typeface="Malgun Gothic" pitchFamily="34" charset="-120"/>
              </a:rPr>
              <a:t>이미지 3,145,782 B는 MCU RAM 320 KB보다 큽니다. 보드의 SDRAM은 초기화하지 않으며 MPU로 막혀 있습니다.</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최신 실행에서 원본과 3,145,782 B가 모두 일치했습니다</a:t>
            </a:r>
            <a:endParaRPr lang="en-US" sz="2600" dirty="0"/>
          </a:p>
        </p:txBody>
      </p:sp>
      <p:sp>
        <p:nvSpPr>
          <p:cNvPr id="3" name="Text 1"/>
          <p:cNvSpPr txBox="1"/>
          <p:nvPr/>
        </p:nvSpPr>
        <p:spPr>
          <a:xfrm>
            <a:off x="548640" y="1417320"/>
            <a:ext cx="2743200" cy="320040"/>
          </a:xfrm>
          <a:prstGeom prst="rect">
            <a:avLst/>
          </a:prstGeom>
          <a:noFill/>
          <a:ln/>
        </p:spPr>
        <p:txBody>
          <a:bodyPr wrap="square" lIns="0" tIns="0" rIns="0" bIns="0" rtlCol="0" anchor="t"/>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PC 원본</a:t>
            </a:r>
            <a:endParaRPr lang="en-US" sz="1500" dirty="0"/>
          </a:p>
        </p:txBody>
      </p:sp>
      <p:sp>
        <p:nvSpPr>
          <p:cNvPr id="4" name="Text 2"/>
          <p:cNvSpPr txBox="1"/>
          <p:nvPr/>
        </p:nvSpPr>
        <p:spPr>
          <a:xfrm>
            <a:off x="3291840" y="1417320"/>
            <a:ext cx="2743200" cy="320040"/>
          </a:xfrm>
          <a:prstGeom prst="rect">
            <a:avLst/>
          </a:prstGeom>
          <a:noFill/>
          <a:ln/>
        </p:spPr>
        <p:txBody>
          <a:bodyPr wrap="square" lIns="0" tIns="0" rIns="0" bIns="0" rtlCol="0" anchor="t"/>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Flash 재읽기 파일</a:t>
            </a:r>
            <a:endParaRPr lang="en-US" sz="1500" dirty="0"/>
          </a:p>
        </p:txBody>
      </p:sp>
      <p:pic>
        <p:nvPicPr>
          <p:cNvPr id="5" name="Image 0" descr="PC 원본 BMP"/>
          <p:cNvPicPr>
            <a:picLocks noChangeAspect="1"/>
          </p:cNvPicPr>
          <p:nvPr/>
        </p:nvPicPr>
        <p:blipFill>
          <a:blip r:embed="rId3"/>
          <a:stretch>
            <a:fillRect/>
          </a:stretch>
        </p:blipFill>
        <p:spPr>
          <a:xfrm>
            <a:off x="548640" y="1828800"/>
            <a:ext cx="2560320" cy="2560320"/>
          </a:xfrm>
          <a:prstGeom prst="rect">
            <a:avLst/>
          </a:prstGeom>
        </p:spPr>
      </p:pic>
      <p:pic>
        <p:nvPicPr>
          <p:cNvPr id="6" name="Image 1" descr="Flash에서 재읽기한 BMP"/>
          <p:cNvPicPr>
            <a:picLocks noChangeAspect="1"/>
          </p:cNvPicPr>
          <p:nvPr/>
        </p:nvPicPr>
        <p:blipFill>
          <a:blip r:embed="rId3"/>
          <a:stretch>
            <a:fillRect/>
          </a:stretch>
        </p:blipFill>
        <p:spPr>
          <a:xfrm>
            <a:off x="3291840" y="1828800"/>
            <a:ext cx="2560320" cy="2560320"/>
          </a:xfrm>
          <a:prstGeom prst="rect">
            <a:avLst/>
          </a:prstGeom>
        </p:spPr>
      </p:pic>
      <p:sp>
        <p:nvSpPr>
          <p:cNvPr id="7" name="Text 3"/>
          <p:cNvSpPr txBox="1"/>
          <p:nvPr/>
        </p:nvSpPr>
        <p:spPr>
          <a:xfrm>
            <a:off x="548640" y="4572000"/>
            <a:ext cx="5303520" cy="685800"/>
          </a:xfrm>
          <a:prstGeom prst="rect">
            <a:avLst/>
          </a:prstGeom>
          <a:noFill/>
          <a:ln/>
        </p:spPr>
        <p:txBody>
          <a:bodyPr wrap="square" lIns="0" tIns="0" rIns="0" bIns="0" rtlCol="0" anchor="t"/>
          <a:lstStyle/>
          <a:p>
            <a:pPr marL="0" indent="0">
              <a:lnSpc>
                <a:spcPct val="130000"/>
              </a:lnSpc>
              <a:buNone/>
            </a:pPr>
            <a:r>
              <a:rPr lang="en-US" sz="1400" b="1" dirty="0">
                <a:solidFill>
                  <a:srgbClr val="1F2933"/>
                </a:solidFill>
                <a:latin typeface="Malgun Gothic" pitchFamily="34" charset="0"/>
                <a:ea typeface="Malgun Gothic" pitchFamily="34" charset="-122"/>
                <a:cs typeface="Malgun Gothic" pitchFamily="34" charset="-120"/>
              </a:rPr>
              <a:t>CRC32  </a:t>
            </a:r>
            <a:r>
              <a:rPr lang="en-US" sz="1400" dirty="0">
                <a:solidFill>
                  <a:srgbClr val="1F2933"/>
                </a:solidFill>
                <a:latin typeface="Consolas" pitchFamily="34" charset="0"/>
                <a:ea typeface="Consolas" pitchFamily="34" charset="-122"/>
                <a:cs typeface="Consolas" pitchFamily="34" charset="-120"/>
              </a:rPr>
              <a:t>978AB7D9 = 978AB7D9</a:t>
            </a:r>
            <a:endParaRPr lang="en-US" sz="1400" dirty="0"/>
          </a:p>
          <a:p>
            <a:pPr marL="0" indent="0">
              <a:lnSpc>
                <a:spcPct val="130000"/>
              </a:lnSpc>
              <a:buNone/>
            </a:pPr>
            <a:r>
              <a:rPr lang="en-US" sz="1400" b="1" dirty="0">
                <a:solidFill>
                  <a:srgbClr val="1F2933"/>
                </a:solidFill>
                <a:latin typeface="Malgun Gothic" pitchFamily="34" charset="0"/>
                <a:ea typeface="Malgun Gothic" pitchFamily="34" charset="-122"/>
                <a:cs typeface="Malgun Gothic" pitchFamily="34" charset="-120"/>
              </a:rPr>
              <a:t>SHA-256  </a:t>
            </a:r>
            <a:r>
              <a:rPr lang="en-US" sz="1400" dirty="0">
                <a:solidFill>
                  <a:srgbClr val="1F2933"/>
                </a:solidFill>
                <a:latin typeface="Consolas" pitchFamily="34" charset="0"/>
                <a:ea typeface="Consolas" pitchFamily="34" charset="-122"/>
                <a:cs typeface="Consolas" pitchFamily="34" charset="-120"/>
              </a:rPr>
              <a:t>0bfd1da3… = 0bfd1da3…</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63640" y="1828800"/>
          <a:ext cx="5376672" cy="2267712"/>
        </p:xfrm>
        <a:graphic>
          <a:graphicData uri="http://schemas.openxmlformats.org/drawingml/2006/table">
            <a:tbl>
              <a:tblPr/>
              <a:tblGrid>
                <a:gridCol w="17830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실행</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결과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시간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저장 → 복원</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b="1" dirty="0">
                          <a:solidFill>
                            <a:srgbClr val="0F766E"/>
                          </a:solidFill>
                          <a:latin typeface="Malgun Gothic" pitchFamily="34" charset="0"/>
                          <a:ea typeface="Malgun Gothic" pitchFamily="34" charset="-122"/>
                          <a:cs typeface="Malgun Gothic" pitchFamily="34" charset="-120"/>
                        </a:rPr>
                        <a:t>전체 바이트 일치</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86.5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읽기 전용 복원</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b="1" dirty="0">
                          <a:solidFill>
                            <a:srgbClr val="0F766E"/>
                          </a:solidFill>
                          <a:latin typeface="Malgun Gothic" pitchFamily="34" charset="0"/>
                          <a:ea typeface="Malgun Gothic" pitchFamily="34" charset="-122"/>
                          <a:cs typeface="Malgun Gothic" pitchFamily="34" charset="-120"/>
                        </a:rPr>
                        <a:t>전체 바이트 일치</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34.6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DMA 버퍼 초과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b="1" dirty="0">
                          <a:solidFill>
                            <a:srgbClr val="0F766E"/>
                          </a:solidFill>
                          <a:latin typeface="Malgun Gothic" pitchFamily="34" charset="0"/>
                          <a:ea typeface="Malgun Gothic" pitchFamily="34" charset="-122"/>
                          <a:cs typeface="Malgun Gothic" pitchFamily="34" charset="-120"/>
                        </a:rPr>
                        <a:t>0회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M0·M1 각 384</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 4"/>
          <p:cNvSpPr txBox="1"/>
          <p:nvPr/>
        </p:nvSpPr>
        <p:spPr>
          <a:xfrm>
            <a:off x="6263640" y="4251960"/>
            <a:ext cx="5376672" cy="685800"/>
          </a:xfrm>
          <a:prstGeom prst="rect">
            <a:avLst/>
          </a:prstGeom>
          <a:noFill/>
          <a:ln/>
        </p:spPr>
        <p:txBody>
          <a:bodyPr wrap="square" lIns="0" tIns="0" rIns="0" bIns="0" rtlCol="0" anchor="t"/>
          <a:lstStyle/>
          <a:p>
            <a:pPr marL="0" indent="0">
              <a:lnSpc>
                <a:spcPct val="120000"/>
              </a:lnSpc>
              <a:buNone/>
            </a:pPr>
            <a:r>
              <a:rPr lang="en-US" sz="1300" dirty="0">
                <a:solidFill>
                  <a:srgbClr val="5F6B7A"/>
                </a:solidFill>
                <a:latin typeface="Malgun Gothic" pitchFamily="34" charset="0"/>
                <a:ea typeface="Malgun Gothic" pitchFamily="34" charset="-122"/>
                <a:cs typeface="Malgun Gothic" pitchFamily="34" charset="-120"/>
              </a:rPr>
              <a:t>시간: 전송 시작부터 PC 비교 완료까지, 921600 baud</a:t>
            </a:r>
            <a:endParaRPr lang="en-US" sz="1300" dirty="0"/>
          </a:p>
          <a:p>
            <a:pPr marL="0" indent="0">
              <a:lnSpc>
                <a:spcPct val="120000"/>
              </a:lnSpc>
              <a:buNone/>
            </a:pPr>
            <a:r>
              <a:rPr lang="en-US" sz="1300" dirty="0">
                <a:solidFill>
                  <a:srgbClr val="5F6B7A"/>
                </a:solidFill>
                <a:latin typeface="Malgun Gothic" pitchFamily="34" charset="0"/>
                <a:ea typeface="Malgun Gothic" pitchFamily="34" charset="-122"/>
                <a:cs typeface="Malgun Gothic" pitchFamily="34" charset="-120"/>
              </a:rPr>
              <a:t>프로젝트 스크립트와 별도로 shasum·cmp로도 복원 파일을 비교해 일치</a:t>
            </a:r>
            <a:endParaRPr lang="en-US" sz="1300" dirty="0"/>
          </a:p>
        </p:txBody>
      </p:sp>
      <p:sp>
        <p:nvSpPr>
          <p:cNvPr id="10" name="Text 5"/>
          <p:cNvSpPr txBox="1"/>
          <p:nvPr/>
        </p:nvSpPr>
        <p:spPr>
          <a:xfrm>
            <a:off x="548640" y="5669280"/>
            <a:ext cx="11091672" cy="320040"/>
          </a:xfrm>
          <a:prstGeom prst="rect">
            <a:avLst/>
          </a:prstGeom>
          <a:noFill/>
          <a:ln/>
        </p:spPr>
        <p:txBody>
          <a:bodyPr wrap="square" lIns="0" tIns="0" rIns="0" bIns="0" rtlCol="0" anchor="t"/>
          <a:lstStyle/>
          <a:p>
            <a:pPr marL="0" indent="0">
              <a:buNone/>
            </a:pPr>
            <a:r>
              <a:rPr lang="en-US" sz="1200" dirty="0">
                <a:solidFill>
                  <a:srgbClr val="5F6B7A"/>
                </a:solidFill>
                <a:latin typeface="Malgun Gothic" pitchFamily="34" charset="0"/>
                <a:ea typeface="Malgun Gothic" pitchFamily="34" charset="-122"/>
                <a:cs typeface="Malgun Gothic" pitchFamily="34" charset="-120"/>
              </a:rPr>
              <a:t>SHA-256 앞 8자리 표시, 전체 값은 발표자 노트 · 출처: pc/results/demo_report_20261015_200146·200453.json, README.md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현장 Demo: run_all.py 한 번으로 9단계를 차례로 실행합니다</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721077744"/>
              </p:ext>
            </p:extLst>
          </p:nvPr>
        </p:nvGraphicFramePr>
        <p:xfrm>
          <a:off x="548640" y="1417320"/>
          <a:ext cx="6949440" cy="4297680"/>
        </p:xfrm>
        <a:graphic>
          <a:graphicData uri="http://schemas.openxmlformats.org/drawingml/2006/table">
            <a:tbl>
              <a:tblPr/>
              <a:tblGrid>
                <a:gridCol w="6858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29768">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단계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내용</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10-15 결과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extLst>
                  <a:ext uri="{0D108BD9-81ED-4DB2-BD59-A6C34878D82A}">
                    <a16:rowId xmlns:a16="http://schemas.microsoft.com/office/drawing/2014/main" val="10000"/>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1</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PC 단위 테스트</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18개 PASS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2</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C 모의 테스트 (DMA RX·TX, Gray)</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3개 PASS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3</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펌웨어 빌드</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경고 0, FLASH 38,164 B</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4</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보드에 다운로드</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Download verified</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5</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원본 BMP 저장 → 복원</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전체 일치, 86.5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6</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Gray 전체 과정</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기준 변환 일치, 72.8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6"/>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7</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1 KiB 반복 저장·재읽기</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12회 PASS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7"/>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8</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Flash 칩 직접 덤프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원본과 같음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8"/>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9</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RAM 덮어쓴 뒤 복원·변환</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일치, 34.6 s · 20.9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4" name="Shape 1"/>
          <p:cNvSpPr/>
          <p:nvPr/>
        </p:nvSpPr>
        <p:spPr>
          <a:xfrm>
            <a:off x="7863840" y="1417320"/>
            <a:ext cx="3776472" cy="2240280"/>
          </a:xfrm>
          <a:prstGeom prst="rect">
            <a:avLst/>
          </a:prstGeom>
          <a:solidFill>
            <a:srgbClr val="1F2933"/>
          </a:solidFill>
          <a:ln w="12700">
            <a:solidFill>
              <a:srgbClr val="1F2933"/>
            </a:solidFill>
            <a:prstDash val="solid"/>
          </a:ln>
        </p:spPr>
        <p:txBody>
          <a:bodyPr/>
          <a:lstStyle/>
          <a:p>
            <a:endParaRPr lang="ko-KR" altLang="en-US"/>
          </a:p>
        </p:txBody>
      </p:sp>
      <p:sp>
        <p:nvSpPr>
          <p:cNvPr id="5" name="Text 2"/>
          <p:cNvSpPr txBox="1"/>
          <p:nvPr/>
        </p:nvSpPr>
        <p:spPr>
          <a:xfrm>
            <a:off x="8092440" y="1600200"/>
            <a:ext cx="3474720" cy="365760"/>
          </a:xfrm>
          <a:prstGeom prst="rect">
            <a:avLst/>
          </a:prstGeom>
          <a:noFill/>
          <a:ln/>
        </p:spPr>
        <p:txBody>
          <a:bodyPr wrap="square" lIns="0" tIns="0" rIns="0" bIns="0" rtlCol="0" anchor="t"/>
          <a:lstStyle/>
          <a:p>
            <a:pPr marL="0" indent="0">
              <a:buNone/>
            </a:pPr>
            <a:r>
              <a:rPr lang="en-US" sz="1700" dirty="0">
                <a:solidFill>
                  <a:srgbClr val="FFFFFF"/>
                </a:solidFill>
                <a:latin typeface="Consolas" pitchFamily="34" charset="0"/>
                <a:ea typeface="Consolas" pitchFamily="34" charset="-122"/>
                <a:cs typeface="Consolas" pitchFamily="34" charset="-120"/>
              </a:rPr>
              <a:t>$ python3 run_all.py</a:t>
            </a:r>
            <a:endParaRPr lang="en-US" sz="1700" dirty="0"/>
          </a:p>
        </p:txBody>
      </p:sp>
      <p:sp>
        <p:nvSpPr>
          <p:cNvPr id="6" name="Text 3"/>
          <p:cNvSpPr txBox="1"/>
          <p:nvPr/>
        </p:nvSpPr>
        <p:spPr>
          <a:xfrm>
            <a:off x="8092440" y="2011680"/>
            <a:ext cx="3474720" cy="320040"/>
          </a:xfrm>
          <a:prstGeom prst="rect">
            <a:avLst/>
          </a:prstGeom>
          <a:noFill/>
          <a:ln/>
        </p:spPr>
        <p:txBody>
          <a:bodyPr wrap="square" lIns="0" tIns="0" rIns="0" bIns="0" rtlCol="0" anchor="t"/>
          <a:lstStyle/>
          <a:p>
            <a:pPr marL="0" indent="0">
              <a:buNone/>
            </a:pPr>
            <a:r>
              <a:rPr lang="en-US" sz="1300" dirty="0">
                <a:solidFill>
                  <a:srgbClr val="B7C2CE"/>
                </a:solidFill>
                <a:latin typeface="Consolas" pitchFamily="34" charset="0"/>
                <a:ea typeface="Consolas" pitchFamily="34" charset="-122"/>
                <a:cs typeface="Consolas" pitchFamily="34" charset="-120"/>
              </a:rPr>
              <a:t>macOS: ./run_all.sh</a:t>
            </a:r>
            <a:endParaRPr lang="en-US" sz="1300" dirty="0"/>
          </a:p>
        </p:txBody>
      </p:sp>
      <p:sp>
        <p:nvSpPr>
          <p:cNvPr id="7" name="Text 4"/>
          <p:cNvSpPr txBox="1"/>
          <p:nvPr/>
        </p:nvSpPr>
        <p:spPr>
          <a:xfrm>
            <a:off x="8092440" y="2468880"/>
            <a:ext cx="3383280" cy="548640"/>
          </a:xfrm>
          <a:prstGeom prst="rect">
            <a:avLst/>
          </a:prstGeom>
          <a:noFill/>
          <a:ln/>
        </p:spPr>
        <p:txBody>
          <a:bodyPr wrap="square" lIns="0" tIns="0" rIns="0" bIns="0" rtlCol="0" anchor="t"/>
          <a:lstStyle/>
          <a:p>
            <a:pPr marL="0" indent="0">
              <a:lnSpc>
                <a:spcPct val="120000"/>
              </a:lnSpc>
              <a:buNone/>
            </a:pPr>
            <a:r>
              <a:rPr lang="en-US" sz="1400" dirty="0">
                <a:solidFill>
                  <a:srgbClr val="B7C2CE"/>
                </a:solidFill>
                <a:latin typeface="Malgun Gothic" pitchFamily="34" charset="0"/>
                <a:ea typeface="Malgun Gothic" pitchFamily="34" charset="-122"/>
                <a:cs typeface="Malgun Gothic" pitchFamily="34" charset="-120"/>
              </a:rPr>
              <a:t>모든 단계 PASS (전체 약 4분)</a:t>
            </a:r>
            <a:endParaRPr lang="en-US" sz="1400" dirty="0"/>
          </a:p>
          <a:p>
            <a:pPr marL="0" indent="0">
              <a:lnSpc>
                <a:spcPct val="120000"/>
              </a:lnSpc>
              <a:buNone/>
            </a:pPr>
            <a:r>
              <a:rPr lang="en-US" sz="1400" dirty="0">
                <a:solidFill>
                  <a:srgbClr val="B7C2CE"/>
                </a:solidFill>
                <a:latin typeface="Malgun Gothic" pitchFamily="34" charset="0"/>
                <a:ea typeface="Malgun Gothic" pitchFamily="34" charset="-122"/>
                <a:cs typeface="Malgun Gothic" pitchFamily="34" charset="-120"/>
              </a:rPr>
              <a:t>2026-10-15</a:t>
            </a:r>
            <a:endParaRPr lang="en-US" sz="1400" dirty="0"/>
          </a:p>
        </p:txBody>
      </p:sp>
      <p:sp>
        <p:nvSpPr>
          <p:cNvPr id="8" name="Text 5"/>
          <p:cNvSpPr txBox="1"/>
          <p:nvPr/>
        </p:nvSpPr>
        <p:spPr>
          <a:xfrm>
            <a:off x="8092440" y="3063240"/>
            <a:ext cx="3383280" cy="502920"/>
          </a:xfrm>
          <a:prstGeom prst="rect">
            <a:avLst/>
          </a:prstGeom>
          <a:noFill/>
          <a:ln/>
        </p:spPr>
        <p:txBody>
          <a:bodyPr wrap="square" lIns="0" tIns="0" rIns="0" bIns="0" rtlCol="0" anchor="t"/>
          <a:lstStyle/>
          <a:p>
            <a:pPr marL="0" indent="0">
              <a:buNone/>
            </a:pPr>
            <a:r>
              <a:rPr lang="en-US" sz="1200" dirty="0">
                <a:solidFill>
                  <a:srgbClr val="B7C2CE"/>
                </a:solidFill>
                <a:latin typeface="Malgun Gothic" pitchFamily="34" charset="0"/>
                <a:ea typeface="Malgun Gothic" pitchFamily="34" charset="-122"/>
                <a:cs typeface="Malgun Gothic" pitchFamily="34" charset="-120"/>
              </a:rPr>
              <a:t>실패하면 그 단계에서 멈춤 · Serial Monitor와 디버그 세션을 닫고 실행</a:t>
            </a:r>
            <a:endParaRPr lang="en-US" sz="1200" dirty="0"/>
          </a:p>
        </p:txBody>
      </p:sp>
      <p:sp>
        <p:nvSpPr>
          <p:cNvPr id="9" name="Shape 6"/>
          <p:cNvSpPr/>
          <p:nvPr/>
        </p:nvSpPr>
        <p:spPr>
          <a:xfrm>
            <a:off x="7863840" y="3931920"/>
            <a:ext cx="3776472" cy="1371600"/>
          </a:xfrm>
          <a:prstGeom prst="rect">
            <a:avLst/>
          </a:prstGeom>
          <a:solidFill>
            <a:srgbClr val="F3F5F7"/>
          </a:solidFill>
          <a:ln w="12700">
            <a:solidFill>
              <a:srgbClr val="F3F5F7"/>
            </a:solidFill>
            <a:prstDash val="solid"/>
          </a:ln>
        </p:spPr>
        <p:txBody>
          <a:bodyPr/>
          <a:lstStyle/>
          <a:p>
            <a:endParaRPr lang="ko-KR" altLang="en-US"/>
          </a:p>
        </p:txBody>
      </p:sp>
      <p:sp>
        <p:nvSpPr>
          <p:cNvPr id="10" name="Text 7"/>
          <p:cNvSpPr txBox="1"/>
          <p:nvPr/>
        </p:nvSpPr>
        <p:spPr>
          <a:xfrm>
            <a:off x="8046720" y="4069080"/>
            <a:ext cx="3429000" cy="1143000"/>
          </a:xfrm>
          <a:prstGeom prst="rect">
            <a:avLst/>
          </a:prstGeom>
          <a:noFill/>
          <a:ln/>
        </p:spPr>
        <p:txBody>
          <a:bodyPr wrap="square" lIns="0" tIns="0" rIns="0" bIns="0" rtlCol="0" anchor="t"/>
          <a:lstStyle/>
          <a:p>
            <a:pPr marL="0" indent="0">
              <a:lnSpc>
                <a:spcPct val="120000"/>
              </a:lnSpc>
              <a:buNone/>
            </a:pPr>
            <a:r>
              <a:rPr lang="en-US" sz="1400" b="1" dirty="0">
                <a:solidFill>
                  <a:srgbClr val="1F2933"/>
                </a:solidFill>
                <a:latin typeface="Malgun Gothic" pitchFamily="34" charset="0"/>
                <a:ea typeface="Malgun Gothic" pitchFamily="34" charset="-122"/>
                <a:cs typeface="Malgun Gothic" pitchFamily="34" charset="-120"/>
              </a:rPr>
              <a:t>남은 확인</a:t>
            </a:r>
            <a:endParaRPr lang="en-US" sz="1400" dirty="0"/>
          </a:p>
          <a:p>
            <a:pPr marL="0" indent="0">
              <a:lnSpc>
                <a:spcPct val="120000"/>
              </a:lnSpc>
              <a:buNone/>
            </a:pPr>
            <a:r>
              <a:rPr lang="en-US" sz="1400" dirty="0">
                <a:solidFill>
                  <a:srgbClr val="1F2933"/>
                </a:solidFill>
                <a:latin typeface="Malgun Gothic" pitchFamily="34" charset="0"/>
                <a:ea typeface="Malgun Gothic" pitchFamily="34" charset="-122"/>
                <a:cs typeface="Malgun Gothic" pitchFamily="34" charset="-120"/>
              </a:rPr>
              <a:t>W25Q32 대체 허용 여부, 또는 외부 W25Q32 칩으로 실물 시험</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UART SPI Flash">
  <a:themeElements>
    <a:clrScheme name="UART SPI Flash">
      <a:dk1>
        <a:srgbClr val="1F2933"/>
      </a:dk1>
      <a:lt1>
        <a:srgbClr val="FFFFFF"/>
      </a:lt1>
      <a:dk2>
        <a:srgbClr val="5F6B7A"/>
      </a:dk2>
      <a:lt2>
        <a:srgbClr val="F3F5F7"/>
      </a:lt2>
      <a:accent1>
        <a:srgbClr val="0F766E"/>
      </a:accent1>
      <a:accent2>
        <a:srgbClr val="5F6B7A"/>
      </a:accent2>
      <a:accent3>
        <a:srgbClr val="8A94A3"/>
      </a:accent3>
      <a:accent4>
        <a:srgbClr val="B7C2CE"/>
      </a:accent4>
      <a:accent5>
        <a:srgbClr val="2F3B48"/>
      </a:accent5>
      <a:accent6>
        <a:srgbClr val="9FCFC9"/>
      </a:accent6>
      <a:hlink>
        <a:srgbClr val="0F766E"/>
      </a:hlink>
      <a:folHlink>
        <a:srgbClr val="5F6B7A"/>
      </a:folHlink>
    </a:clrScheme>
    <a:fontScheme name="UART SPI Flash">
      <a:majorFont>
        <a:latin typeface="Malgun Gothic"/>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extraClrSchemeLst/>
</a:theme>
</file>

<file path=docProps/app.xml><?xml version="1.0" encoding="utf-8"?>
<Properties xmlns="http://schemas.openxmlformats.org/officeDocument/2006/extended-properties" xmlns:vt="http://schemas.openxmlformats.org/officeDocument/2006/docPropsVTypes">
  <TotalTime>1391</TotalTime>
  <Words>4418</Words>
  <Application>Microsoft Macintosh PowerPoint</Application>
  <PresentationFormat>와이드스크린</PresentationFormat>
  <Paragraphs>385</Paragraphs>
  <Slides>13</Slides>
  <Notes>13</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13</vt:i4>
      </vt:variant>
    </vt:vector>
  </HeadingPairs>
  <TitlesOfParts>
    <vt:vector size="18" baseType="lpstr">
      <vt:lpstr>Malgun Gothic</vt:lpstr>
      <vt:lpstr>Malgun Gothic</vt:lpstr>
      <vt:lpstr>Arial</vt:lpstr>
      <vt:lpstr>Consolas</vt:lpstr>
      <vt:lpstr>UART SPI Flash</vt:lpstr>
      <vt:lpstr>PowerPoint 프레젠테이션</vt:lpstr>
      <vt:lpstr>발표 요건 충족 현황</vt:lpstr>
      <vt:lpstr>사용 Flash memory 변경사항</vt:lpstr>
      <vt:lpstr>PC–STM32–Flash 데이터 경로와 검증 지점</vt:lpstr>
      <vt:lpstr>UART 수신: 4 KiB DMA double buffer와 청크 단위 확인</vt:lpstr>
      <vt:lpstr>3,145,782 B 파일은 0x000000부터 49개 블록 범위에 저장됩니다</vt:lpstr>
      <vt:lpstr>청크 저장 및 검증 과정</vt:lpstr>
      <vt:lpstr>DMA 버퍼 초과 감지</vt:lpstr>
      <vt:lpstr>Flash 명령 순서</vt:lpstr>
      <vt:lpstr>Demo는 바이트·CRC32·SHA-256이 모두 같아야 PASS를 출력합니다</vt:lpstr>
      <vt:lpstr>칩 직접 덤프와 RAM을 덮어쓴 뒤 복원 모두 원본과 일치했습니다</vt:lpstr>
      <vt:lpstr>최신 실행에서 원본과 3,145,782 B가 모두 일치했습니다</vt:lpstr>
      <vt:lpstr>현장 Demo: run_all.py 한 번으로 9단계를 차례로 실행합니다</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UART 및 SPI Flash 기본 기능 구현 — 2차 발표</dc:title>
  <dc:subject>PptxGenJS Presentation</dc:subject>
  <dc:creator>PptxGenJS</dc:creator>
  <cp:lastModifiedBy>박선우</cp:lastModifiedBy>
  <cp:revision>15</cp:revision>
  <dcterms:created xsi:type="dcterms:W3CDTF">2026-10-15T11:52:39Z</dcterms:created>
  <dcterms:modified xsi:type="dcterms:W3CDTF">2026-10-18T09:56:57Z</dcterms:modified>
  <cp:version/>
</cp:coreProperties>
</file>