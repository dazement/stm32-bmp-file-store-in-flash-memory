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개요" id="{3f3eddb3-34d4-25c8-5a7b-dc5c9c1fb9c5}">
          <p14:sldIdLst>
            <p14:sldId id="256"/>
            <p14:sldId id="257"/>
            <p14:sldId id="258"/>
          </p14:sldIdLst>
        </p14:section>
        <p14:section name="구조와 구현" id="{726ce063-2b0c-b494-c086-0a8c4ef1d963}">
          <p14:sldIdLst>
            <p14:sldId id="259"/>
            <p14:sldId id="260"/>
            <p14:sldId id="261"/>
          </p14:sldIdLst>
        </p14:section>
        <p14:section name="검증" id="{2fba95b9-7902-db69-1432-d8e2348a93ce}">
          <p14:sldIdLst>
            <p14:sldId id="262"/>
            <p14:sldId id="263"/>
            <p14:sldId id="264"/>
            <p14:sldId id="265"/>
            <p14:sldId id="266"/>
            <p14:sldId id="267"/>
          </p14:sldIdLst>
        </p14:section>
        <p14:section name="최적화" id="{27237ec9-6d83-a0c7-6574-4a09548b87e9}">
          <p14:sldIdLst>
            <p14:sldId id="268"/>
            <p14:sldId id="269"/>
          </p14:sldIdLst>
        </p14:section>
        <p14:section name="Demo" id="{57b6e2a6-f035-6974-f343-c78fe093a68c}">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3"/>
                </a:solidFill>
                <a:latin typeface="Malgun Gothic"/>
              </a:defRPr>
            </a:pPr>
            <a:r>
              <a:rPr sz="1400" b="0" i="0" u="none" strike="noStrike">
                <a:solidFill>
                  <a:srgbClr val="1F2933"/>
                </a:solidFill>
                <a:latin typeface="Malgun Gothic"/>
              </a:rPr>
              <a:t>전체 처리 시간 (초)</a:t>
            </a:r>
          </a:p>
        </c:rich>
      </c:tx>
      <c:layout/>
      <c:overlay val="0"/>
    </c:title>
    <c:autoTitleDeleted val="0"/>
    <c:plotArea>
      <c:layout/>
      <c:barChart>
        <c:barDir val="bar"/>
        <c:grouping val="clustered"/>
        <c:varyColors val="0"/>
        <c:ser>
          <c:idx val="0"/>
          <c:order val="0"/>
          <c:tx>
            <c:strRef>
              <c:f>Sheet1!$B$1</c:f>
              <c:strCache>
                <c:ptCount val="1"/>
                <c:pt idx="0">
                  <c:v>전체 시간</c:v>
                </c:pt>
              </c:strCache>
            </c:strRef>
          </c:tx>
          <c:spPr>
            <a:solidFill>
              <a:srgbClr val="8A94A3"/>
            </a:solidFill>
            <a:effectLst/>
          </c:spPr>
          <c:invertIfNegative val="0"/>
          <c:dLbls>
            <c:numFmt formatCode="0.00&quot; s&quot;" sourceLinked="0"/>
            <c:txPr>
              <a:bodyPr/>
              <a:lstStyle/>
              <a:p>
                <a:pPr>
                  <a:defRPr b="1" i="0" strike="noStrike" sz="1400" u="none">
                    <a:solidFill>
                      <a:srgbClr val="1F2933"/>
                    </a:solidFill>
                    <a:latin typeface="Malgun Gothic"/>
                  </a:defRPr>
                </a:pPr>
              </a:p>
            </c:txPr>
            <c:showLegendKey val="0"/>
            <c:showVal val="1"/>
            <c:showCatName val="0"/>
            <c:showSerName val="0"/>
            <c:showPercent val="0"/>
            <c:showBubbleSize val="0"/>
            <c:showLeaderLines val="0"/>
          </c:dLbls>
          <c:dPt>
            <c:idx val="0"/>
            <c:invertIfNegative val="0"/>
            <c:bubble3D val="0"/>
            <c:spPr>
              <a:solidFill>
                <a:srgbClr val="8A94A3"/>
              </a:solidFill>
              <a:effectLst/>
            </c:spPr>
          </c:dPt>
          <c:dPt>
            <c:idx val="1"/>
            <c:invertIfNegative val="0"/>
            <c:bubble3D val="0"/>
            <c:spPr>
              <a:solidFill>
                <a:srgbClr val="0F766E"/>
              </a:solidFill>
              <a:effectLst/>
            </c:spPr>
          </c:dPt>
          <c:cat>
            <c:multiLvlStrRef>
              <c:f>Sheet1!$A$2:$A$3</c:f>
              <c:multiLvlStrCache>
                <c:ptCount val="2"/>
                <c:lvl>
                  <c:pt idx="0">
                    <c:v>24비트 Gray 출력</c:v>
                  </c:pt>
                  <c:pt idx="1">
                    <c:v>8비트 Gray 출력</c:v>
                  </c:pt>
                </c:lvl>
              </c:multiLvlStrCache>
            </c:multiLvlStrRef>
          </c:cat>
          <c:val>
            <c:numRef>
              <c:f>Sheet1!$B$2:$B$3</c:f>
              <c:numCache>
                <c:formatCode>General</c:formatCode>
                <c:ptCount val="2"/>
                <c:pt idx="0">
                  <c:v>95.6</c:v>
                </c:pt>
                <c:pt idx="1">
                  <c:v>72.77</c:v>
                </c:pt>
              </c:numCache>
            </c:numRef>
          </c:val>
        </c:ser>
        <c:dLbls>
          <c:numFmt formatCode="0.00&quot; s&quot;" sourceLinked="0"/>
          <c:txPr>
            <a:bodyPr/>
            <a:lstStyle/>
            <a:p>
              <a:pPr>
                <a:defRPr b="1" i="0" strike="noStrike" sz="1400" u="none">
                  <a:solidFill>
                    <a:srgbClr val="1F2933"/>
                  </a:solidFill>
                  <a:latin typeface="Malgun Gothic"/>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F2933"/>
                </a:solidFill>
                <a:latin typeface="Malgun Gothic"/>
              </a:defRPr>
            </a:pPr>
            <a:endParaRPr lang="en-US"/>
          </a:p>
        </c:txPr>
        <c:crossAx val="2094734552"/>
        <c:crosses val="autoZero"/>
        <c:auto val="1"/>
        <c:lblAlgn val="ctr"/>
        <c:noMultiLvlLbl val="1"/>
      </c:catAx>
      <c:valAx>
        <c:axId val="2094734552"/>
        <c:scaling>
          <c:orientation val="minMax"/>
          <c:max val="1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이번 발표는 PC에서 보낸 대용량 BMP를 SPI Flash에 저장하고, 다시 읽어 PC에서 원본과 같은 파일로 복원하는 기능입니다. 오른쪽 이미지는 실제로 사용한 테스트 입력 BMP입니다.
발표 순서는 먼저 과제 조건을 만족했는지 결론부터 말씀드리고, 하드웨어 구성과 구현, 검증 방법, 최적화, 현장 Demo 순서로 진행하겠습니다.
출처: presentation_oct20/output/evidence_existing.json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결론부터 말씀드리면, 과제에서 요구한 UART 통신, SPI Flash 통신, Flash 읽기·쓰기, 3 MB 이상 저장, 복원, 무결성 확인은 10월 15일 최신 펌웨어로 보드에서 다시 실행해 확인했습니다. 저장·복원은 5번 실행해 5번 모두 원본과 전체 바이트가 일치했습니다.
지난번에 남아 있던 RESET 후 저장 유지도 이번에 확인했습니다. MCU RAM 320 KB 전체를 0xA5로 덮어쓴 뒤 원본을 다시 보내지 않고 Flash에서만 읽어 복원했고, 펌웨어를 거치지 않는 ST 외부 로더로 Flash 칩을 직접 덤프해도 원본과 같았습니다.
남은 것은 Flash 칩 모델 하나입니다. 과제 조건은 W25Q32이고 실물 시험은 W25Q128로 했기 때문에 대체가 허용되는지 확인이 필요합니다.
출처: README.md 보드 검증 결과(2026-10-15), pc/results/demo_report_20261015_*.json, run_all.sh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보드에 있는 Flash는 W25Q128이고, JEDEC ID로 EF 40 18을 읽었습니다. 과제 조건은 W25Q32, EF 40 16입니다. 따라서 이번 결과를 W25Q32 실물 시험으로 설명하지는 않겠습니다.
대신 이미지 저장 영역을 0x000000부터 0x3EFFFF까지, 즉 첫 4 MiB 안으로 제한해 W25Q32 용량을 넘는 주소는 쓰지 않도록 했습니다. 명령은 W25Q32 데이터시트 기준의 6가지 명령만 사용했습니다.
과제에서 W25Q32를 반드시 요구한다면 외부 칩으로 실물 시험을 하거나 담당자의 대체 허용을 받아야 합니다. 교수님께 이 부분 판단을 여쭙고 싶습니다.
출처: f746_bmp_gray/docs/hardware_setup.md
https://www.st.com/resource/en/user_manual/um1907-discovery-kit-for-stm32f7-series-with-stm32f746ng-mcu-stmicroelectronics.pdf
https://media.digikey.com/pdf/Data%20Sheets/Winbond%20PDFs/W25Q32JV_RevI_5-4-21.pdf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데이터 경로입니다. PC의 demo_roundtrip.py가 ST-LINK 가상 COM 포트를 통해 USART1과 통신합니다. USART1은 수신과 송신 모두 4 KiB 버퍼 두 개를 DMA로 사용합니다. 펌웨어는 청크 단위 CRC 확인과 ACK, Flash 주소 관리를 맡고, QUADSPI 주변장치가 SPI 1-1-1, Mode 0, 27 MHz로 W25Q128에 명령을 보냅니다.
번호는 검증 지점입니다. 1번은 PC와 STM32 사이의 UART 구간, 2번은 DMA 버퍼와 펌웨어 사이, 3번은 STM32와 Flash 사이, 4번 점선은 PC의 원본과 Flash에서 다시 읽어 만든 파일의 종단 간 비교입니다. 각 지점을 확인하는 실제 코드는 7장부터 10장까지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UART는 921600 baud, 8N1로 파일의 바이트를 그대로 보냅니다. 여기서 8비트는 UART 데이터 단위이고, BMP 픽셀 형식과는 별개입니다. 원본은 24비트 BMP입니다.
수신은 STM32 DMA의 하드웨어 Double Buffer Mode를 썼습니다. M0와 M1이 각각 4096바이트이고, 한쪽이 차면 DMA가 자동으로 다른 쪽에 받기 시작합니다. 그 사이 CPU는 찬 버퍼의 CRC를 확인하고, 64 KiB 경계면 블록을 지우고, 페이지 단위로 쓴 뒤 다시 읽어 비교하고 나서 ACK를 보냅니다. 그래서 Flash 쓰기 중에도 다음 청크 수신이 멈추지 않습니다. 완료 콜백으로 지금 어느 은행이 채워지고 있는지 추적하고, 청크 끝처럼 버퍼가 다 차지 않은 경우는 NDTR로 받은 길이를 계산합니다.
송신도 4 KiB 두 개의 DMA 이중 버퍼를 씁니다. PC는 ACK를 받기 전에 다음 청크까지, 최대 두 청크를 보낼 수 있습니다.
출처: Core/Src/uart_dma_rx.c, uart_dma_tx.c, uart_flash_test.c, UM1907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주소 지도입니다. 막대 전체가 W25Q32 용량과 같은 4 MiB입니다.
입력 파일은 3,145,782바이트로 3 MB와 3 MiB(3,145,728바이트)를 모두 넘습니다. 헤더부터 마지막 바이트까지 0x000000부터 저장하므로 파일 끝은 0x300035입니다. 삭제는 64 KiB 블록 단위라 경계를 올려 49개 블록, 3,211,264바이트를 지웁니다. 별도 단계로 한 번에 지우는 것이 아니라, 수신 중 64 KiB 경계에 닿을 때마다 그 블록을 지웁니다. 쓰기는 256바이트 페이지 단위로 12,289번입니다. 이미지 영역은 0x3EFFFF까지로 잡아 두었습니다.
MCU의 SRAM은 320 KiB라 이미지 전체를 RAM에 올릴 수 없습니다. 그래서 4 KiB 청크 버퍼를 재사용하며 바로 Flash에 씁니다. 10월 15일 수정으로 저장 전 백업 단계는 없앴습니다. 따라서 삭제 범위에 있던 기존 Flash 내용은 그대로 덮어씁니다.
주소 0x300035, 0x30FFFF는 파일 크기와 블록 수로 계산한 값입니다.
출처: evidence_existing.json, Core/Src/uart_flash_test.c, STM32F746NG 데이터시트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블록 다이어그램의 1번과 3번 구간을 확인하는 펌웨어 코드입니다. 파일 수신 함수 receive_file에서 4 KiB 청크 하나를 처리하는 순서를 그대로 가져왔고, 색이 들어간 줄이 확인 조건입니다. 10월 15일 수정으로 저장 전 백업 단계는 없어졌고, 저장 요청이 오면 바로 이 루프가 시작됩니다.
257, 258행에서 CRC 헤더와 청크를 DMA 버퍼에서 읽는데, 시간 초과나 버퍼 초과가 있으면 그 자리에서 중단합니다. 263행에서 PC가 붙여 보낸 CRC와 비교하고, 다르면 Flash를 건드리기 전에 멈춥니다. 268행에서 64 KiB 경계일 때만 블록을 지우고, 279행에서 256바이트 페이지 단위로 씁니다.
가장 중요한 부분은 285, 286행입니다. 방금 쓴 영역을 Flash에서 다시 읽어 받은 데이터와 memcmp로 비교합니다. 그래서 PC가 받는 ACK는 "받았다"가 아니라 "Flash에 쓰고 다시 읽어 같았다"는 뜻입니다. 291행에서 다시 읽은 데이터로 CRC를 누적하고, 루프가 끝나면 297행에서 파일 전체 CRC를 비교해 FILE STORED를 보냅니다.
출처: Core/Src/uart_flash_test.c 233–307행 (커밋 926d3fc)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 구간, DMA 이중 버퍼와 펌웨어 사이의 확인 코드입니다.
PC 쪽 send_file은 104행에서 ACK를 받지 않은 청크를 최대 두 개까지만 보냅니다. 수신 버퍼가 두 개라서, 한쪽을 Flash에 쓰는 동안 다른 쪽이 차도록 맞춘 것입니다. 111행에서 ACK의 바이트 위치가 기대값과 다르면 바로 실패합니다.
펌웨어 쪽 uart_dma_rx.c에서는 두 가지로 초과를 감지합니다. 54행은 DMA 완료 인터럽트가 M0, M1 순서대로 오지 않으면, 즉 한 은행을 처리하기 전에 다음 은행이 또 찼다면 초과로 셉니다. 134행과 152행은 DMA가 쓴 바이트 수에서 CPU가 읽은 바이트 수를 뺀 값이 버퍼 전체 8 KiB를 넘는지 봅니다. 152행은 memcpy 이후에 다시 확인해서, 복사하는 동안 DMA가 덮어쓴 데이터를 받아들이지 않게 합니다.
Demo 프로그램은 55행에서 마지막에 통계를 받아 초과가 있으면 실패로 처리합니다. 10월 15일 저장 실행 5번 모두 M0 384회, M1 384회, 초과 0회였습니다.
출처: pc/bmp_store.py, Core/Src/uart_dma_rx.c, pc/demo_roundtrip.py, pc/results/demo_report_20261015_*.json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구간, STM32와 Flash 사이 명령을 확인하는 코드입니다. 오른쪽 위가 실제 명령 순서입니다.
wait_ready는 66행에서 05h로 상태 레지스터 1을 읽고, 69행에서 BUSY 비트가 0이 될 때까지 기다립니다. 정해진 시간 안에 풀리지 않으면 HAL_TIMEOUT으로 실패합니다.
write_enable은 06h를 보내는 것에서 끝나지 않고, 86행에서 상태를 다시 읽어 WEL이 1이고 BUSY가 0인지 확인합니다. Write Enable이 실제로 걸렸는지 확인한 뒤에만 쓰기나 삭제 명령을 보냅니다.
페이지 쓰기 함수는 104행에서 256바이트 페이지 경계를 넘는 요청을 거부하고, 쓰기 후 118행에서 완료를 기다립니다. 64 KiB 블록 삭제는 231행부터 삭제 전 대기, WREN, D8h, 삭제 후 대기 순서입니다.
칩 ID는 main.c에서 0x9F로 읽고, 펌웨어와 PC 프로그램 모두 EF4018과 EF4016만 허용합니다. QSPI는 prescaler 7로 216 MHz를 8분주해 27 MHz, Clock Mode 0입니다.
출처: Core/Src/flash_test.c, Core/Src/main.c, Core/Src/uart_flash_test.c 356–358행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 종단 간 확인 코드입니다.
PC는 30, 31행에서 원본의 CRC32와 SHA-256을 먼저 계산합니다. 45행에서 --read-only가 아니면 파일을 보내 저장하고, --read-only이면 이 줄을 건너뛰고 Flash에서 읽기만 합니다. 다음 장에서 RAM을 모두 덮어쓴 뒤 이 모드로 복원한 결과를 보여드리겠습니다.
Flash에서 읽어 보낼 때 MCU는 221행에서 실제로 읽은 데이터로 CRC를 계산해 228행에서 마지막 줄로 보고하고, PC는 85행에서 자기가 받은 데이터의 CRC와 비교합니다. 전송 중 손상을 여기서 잡습니다.
마지막으로 50, 51행에서 원본과 복원 파일을 바이트 단위로 비교하고 CRC32와 SHA-256도 비교해서 하나라도 다르면 실패합니다. 통과하면 PASS와 함께 JSON 보고서를 남깁니다.
출처: pc/demo_roundtrip.py, pc/bmp_store.py, Core/Src/uart_flash_test.c (커밋 926d3fc)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Flash에 정말 저장되어 있는지를 두 가지 방법으로 확인했습니다. 둘 다 run_all.sh의 마지막 단계입니다.
증명 1은 우리 펌웨어를 전혀 거치지 않는 방법입니다. STM32CubeProgrammer의 ST 외부 로더로 QSPI Flash 칩을 0x90000000 메모리 맵 주소부터 원본 크기만큼 직접 덤프하고, 86행에서 cmp로 원본 BMP와 바이트 단위로 비교합니다. 일치했습니다. 우리 읽기 코드에 버그가 있어도 이 비교는 영향을 받지 않습니다.
증명 2는 RAM에 남은 데이터로 복원했을 가능성을 지우는 방법입니다. 90행에서 SWD로 RAM 0x20000000부터 0x50000바이트, 즉 320 KB 전체를 0xA5로 채우고, 92행에서 처음·중간·끝 세 위치를 다시 읽어 확인합니다. 그 뒤 펌웨어를 재시작하고 96행에서 --read-only로 원본 재전송 없이 Flash에서만 복원했고, 원본과 전체 바이트가 일치했습니다. 시간은 34.6초였습니다. Gray 변환만 따로 실행해도 기준 변환과 일치했습니다.
이미지 자체가 3 MB가 넘어서 320 KB RAM에 들어갈 수 없고, 보드의 SDRAM은 초기화하지 않으며 MPU로 접근을 막아 두었다는 점도 함께 말씀드립니다.
출처: run_all.sh 82–97행, README.md 보드 검증 결과(2026-10-15)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10월 15일 최신 펌웨어로 Demo 프로그램을 모두 10번 실행한 결과입니다. 원본을 보내 저장한 뒤 다시 읽는 실행이 5번, 원본을 보내지 않고 Flash에서만 읽는 실행이 5번이며, 10번 모두 3,145,782바이트 전체가 일치했고 CRC32 978AB7D9, SHA-256도 같았습니다.
SHA-256 전체 값: 0bfd1da377908544c1b1d2c0e10f8a3b53434448786bcac53d12b27c50f1dd8c
저장하는 5번 모두 DMA 은행 M0과 M1이 각각 384번 채워졌고 버퍼 초과는 0회였습니다. 시간은 저장과 복원을 포함해 86.4초에서 87.2초, 읽기 전용 복원은 34.6초에서 35.3초였습니다. 이 중 MCU가 저장에 쓴 시간은 51.4초에서 51.9초였습니다.
출처: pc/results/demo_report_20261015_185152 ~ 200453 (10개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최적화는 UART 회선을 쉬지 않게 하는 것과, 필요 없는 단계를 없애는 것, 작은 SRAM으로 큰 파일을 처리하는 것입니다.
첫째, Flash에 쓰는 동안에도 UART 바이트는 계속 들어오기 때문에 수신을 하드웨어 이중 버퍼로 받았습니다. 10월 15일 저장 5회 모두 버퍼 초과는 0회였습니다.
둘째, 청크마다 ACK를 기다리면 그동안 회선이 쉬기 때문에 PC가 최대 두 청크까지 먼저 보낼 수 있게 했습니다. 한 청크씩 보내는 방식과 비교한 측정은 아직 없습니다.
셋째, 복원 데이터를 보낼 때 TX DMA 이중 버퍼를 써서 CPU가 송신을 기다리지 않게 했습니다. 읽기 전용 복원이 34.6초인데, 3,145,782바이트를 921600 baud 8N1로 보내는 데 필요한 계산값이 34.13초라서 거의 회선 속도로 보내고 있다고 볼 수 있습니다. 이 34.6초에는 PC 비교 시간도 들어 있습니다. 적용 전과 직접 비교한 측정은 없습니다.
넷째, 10월 15일에 저장 전 백업 단계를 없앴습니다. 10월 13일 기록에서 백업까지 포함한 Gray 전체 과정은 116.96초였고, 백업이 없어진 지금은 72.8초입니다. 대신 삭제 범위에 있던 기존 Flash 내용은 그대로 덮어씁니다.
다섯째, SRAM이 320 KiB라 이미지 전체를 올릴 수 없어 청크 버퍼를 재사용합니다. 마지막으로 Gray 출력을 8비트로 고정한 효과는 다음 장에서 보여드리겠습니다.
참고로 저장 구간은 MCU 기준 약 51.8초로, 같은 양을 보내는 회선 계산값 34.1초보다 깁니다. 저장 쪽은 회선보다 Flash 삭제·쓰기·재읽기 검증이 시간을 더 쓰고 있습니다.
출처: demo_report_20261015_*.json, pc/results/timings.csv, evidence_existing.json, 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필수 기능은 원본 그대로의 복원이고, Gray 출력은 추가 기능입니다. 이전 버전에서 같은 입력, 921600 baud로 24비트 Gray와 8비트 Gray 출력을 각각 한 번 측정했습니다. 입력 전송 시작부터 Gray 마지막 바이트를 받을 때까지 95.60초가 72.77초로 줄었습니다. 감소율은 (95.600607 − 72.772918) / 95.600607 = 23.878%입니다.
줄어든 이유를 확인하려고 계산해 보았습니다. 8N1은 바이트당 10비트이므로, 줄어든 2,096,128바이트를 921,600 bps로 보내는 시간은 22.74초입니다. 측정된 감소 22.83초와 거의 같아서, 시간 감소는 대부분 UART로 보내는 바이트가 줄어든 효과로 볼 수 있습니다. 즉 현재 처리 시간은 UART 회선 속도의 영향이 큽니다.
막대 그래프는 10월 13일 각 1회 측정이고, 당시 있던 백업 준비 44.18초는 포함하지 않았습니다. 10월 15일 최신 펌웨어로 8비트 전체 과정을 6번 다시 측정하니 72.20초에서 72.78초, 중앙값 72.58초로 같은 수준이었습니다. 24비트 출력은 다시 측정하지 않았습니다. 현재 운용 출력은 8비트 Gray로 고정했습니다.
출처: pc/results/timings.csv, evidence_existing.json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현장 Demo는 run_all.sh 하나로 진행합니다. Serial Monitor와 VS Code 디버그 세션이 포트나 ST-LINK를 잡고 있으면 스크립트가 처음에 멈추므로 먼저 닫습니다.
스크립트는 PC 단위 테스트, C 모의 테스트, 펌웨어 빌드, 다운로드와 검증, 원본 저장과 복원, Gray 전체 과정, 1 KiB 반복 저장, Flash 칩 직접 덤프, RAM 덮어쓰기 후 복원까지 9단계를 차례로 실행하고, 어느 단계든 실패하면 그 자리에서 멈춥니다. 10월 15일 실행에서는 247초 만에 모든 단계를 통과했습니다.
시간이 부족하면 5단계 demo_roundtrip.py와 9단계의 --read-only 복원만 따로 보여드리겠습니다.
남은 확인 항목은 Flash 칩 모델입니다. W25Q128 대체가 허용되는지 의견 주시면 감사하겠습니다. 이상입니다.
출처: run_all.sh, README.md 보드 검증 결과(2026-10-15)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rtlCol="0"/>
          <a:lstStyle>
            <a:lvl1pPr algn="l" indent="0" marL="0">
              <a:buNone/>
              <a:defRPr lang="en-US" sz="2600" b="1" dirty="0">
                <a:solidFill>
                  <a:srgbClr val="1F2933"/>
                </a:solidFill>
                <a:latin typeface="Malgun Gothic" pitchFamily="34" charset="0"/>
                <a:ea typeface="Malgun Gothic" pitchFamily="34" charset="-122"/>
                <a:cs typeface="Malgun Gothic" pitchFamily="34" charset="-120"/>
              </a:defRPr>
            </a:lvl1pPr>
          </a:lstStyle>
          <a:p>
            <a:pPr algn="l" indent="0" marL="0">
              <a:buNone/>
            </a:pPr>
            <a:endParaRPr lang="en-US" sz="26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4A3"/>
                </a:solidFill>
                <a:latin typeface="Malgun Gothic" pitchFamily="34" charset="0"/>
                <a:ea typeface="Malgun Gothic" pitchFamily="34" charset="-122"/>
                <a:cs typeface="Malgun Gothic" pitchFamily="34" charset="-120"/>
              </a:rPr>
              <a:t>UART · SPI Flash 2차 발표 · 2026.10.20</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17320"/>
            <a:ext cx="6217920" cy="365760"/>
          </a:xfrm>
          <a:prstGeom prst="rect">
            <a:avLst/>
          </a:prstGeom>
          <a:noFill/>
          <a:ln/>
        </p:spPr>
        <p:txBody>
          <a:bodyPr wrap="square" lIns="0" tIns="0" rIns="0" bIns="0" rtlCol="0" anchor="t"/>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2차 발표 · 2026년 10월 20일</a:t>
            </a:r>
            <a:endParaRPr lang="en-US" sz="1500" dirty="0"/>
          </a:p>
        </p:txBody>
      </p:sp>
      <p:sp>
        <p:nvSpPr>
          <p:cNvPr id="3" name="Text 1"/>
          <p:cNvSpPr txBox="1"/>
          <p:nvPr/>
        </p:nvSpPr>
        <p:spPr>
          <a:xfrm>
            <a:off x="731520" y="1920240"/>
            <a:ext cx="6217920" cy="1600200"/>
          </a:xfrm>
          <a:prstGeom prst="rect">
            <a:avLst/>
          </a:prstGeom>
          <a:noFill/>
          <a:ln/>
        </p:spPr>
        <p:txBody>
          <a:bodyPr wrap="square" lIns="0" tIns="0" rIns="0" bIns="0" rtlCol="0" anchor="t"/>
          <a:lstStyle/>
          <a:p>
            <a:pPr indent="0" marL="0">
              <a:lnSpc>
                <a:spcPct val="105000"/>
              </a:lnSpc>
              <a:buNone/>
            </a:pPr>
            <a:r>
              <a:rPr lang="en-US" sz="4000" b="1" dirty="0">
                <a:solidFill>
                  <a:srgbClr val="1F2933"/>
                </a:solidFill>
                <a:latin typeface="Malgun Gothic" pitchFamily="34" charset="0"/>
                <a:ea typeface="Malgun Gothic" pitchFamily="34" charset="-122"/>
                <a:cs typeface="Malgun Gothic" pitchFamily="34" charset="-120"/>
              </a:rPr>
              <a:t>UART 및 SPI Flash</a:t>
            </a:r>
            <a:endParaRPr lang="en-US" sz="4000" dirty="0"/>
          </a:p>
          <a:p>
            <a:pPr indent="0" marL="0">
              <a:lnSpc>
                <a:spcPct val="105000"/>
              </a:lnSpc>
              <a:buNone/>
            </a:pPr>
            <a:r>
              <a:rPr lang="en-US" sz="4000" b="1" dirty="0">
                <a:solidFill>
                  <a:srgbClr val="1F2933"/>
                </a:solidFill>
                <a:latin typeface="Malgun Gothic" pitchFamily="34" charset="0"/>
                <a:ea typeface="Malgun Gothic" pitchFamily="34" charset="-122"/>
                <a:cs typeface="Malgun Gothic" pitchFamily="34" charset="-120"/>
              </a:rPr>
              <a:t>기본 기능 구현</a:t>
            </a:r>
            <a:endParaRPr lang="en-US" sz="4000" dirty="0"/>
          </a:p>
        </p:txBody>
      </p:sp>
      <p:sp>
        <p:nvSpPr>
          <p:cNvPr id="4" name="Text 2"/>
          <p:cNvSpPr txBox="1"/>
          <p:nvPr/>
        </p:nvSpPr>
        <p:spPr>
          <a:xfrm>
            <a:off x="731520" y="3703320"/>
            <a:ext cx="6217920" cy="822960"/>
          </a:xfrm>
          <a:prstGeom prst="rect">
            <a:avLst/>
          </a:prstGeom>
          <a:noFill/>
          <a:ln/>
        </p:spPr>
        <p:txBody>
          <a:bodyPr wrap="square" lIns="0" tIns="0" rIns="0" bIns="0" rtlCol="0" anchor="t"/>
          <a:lstStyle/>
          <a:p>
            <a:pPr indent="0" marL="0">
              <a:lnSpc>
                <a:spcPct val="120000"/>
              </a:lnSpc>
              <a:buNone/>
            </a:pPr>
            <a:r>
              <a:rPr lang="en-US" sz="1800" dirty="0">
                <a:solidFill>
                  <a:srgbClr val="5F6B7A"/>
                </a:solidFill>
                <a:latin typeface="Malgun Gothic" pitchFamily="34" charset="0"/>
                <a:ea typeface="Malgun Gothic" pitchFamily="34" charset="-122"/>
                <a:cs typeface="Malgun Gothic" pitchFamily="34" charset="-120"/>
              </a:rPr>
              <a:t>STM32F746G-DISCO에서 3 MiB 이상의 BMP를</a:t>
            </a:r>
            <a:endParaRPr lang="en-US" sz="1800" dirty="0"/>
          </a:p>
          <a:p>
            <a:pPr indent="0" marL="0">
              <a:lnSpc>
                <a:spcPct val="120000"/>
              </a:lnSpc>
              <a:buNone/>
            </a:pPr>
            <a:r>
              <a:rPr lang="en-US" sz="1800" dirty="0">
                <a:solidFill>
                  <a:srgbClr val="5F6B7A"/>
                </a:solidFill>
                <a:latin typeface="Malgun Gothic" pitchFamily="34" charset="0"/>
                <a:ea typeface="Malgun Gothic" pitchFamily="34" charset="-122"/>
                <a:cs typeface="Malgun Gothic" pitchFamily="34" charset="-120"/>
              </a:rPr>
              <a:t>SPI Flash에 저장하고 원본으로 복원</a:t>
            </a:r>
            <a:endParaRPr lang="en-US" sz="1800" dirty="0"/>
          </a:p>
        </p:txBody>
      </p:sp>
      <p:sp>
        <p:nvSpPr>
          <p:cNvPr id="5" name="Text 3"/>
          <p:cNvSpPr txBox="1"/>
          <p:nvPr/>
        </p:nvSpPr>
        <p:spPr>
          <a:xfrm>
            <a:off x="731520" y="5257800"/>
            <a:ext cx="6217920" cy="320040"/>
          </a:xfrm>
          <a:prstGeom prst="rect">
            <a:avLst/>
          </a:prstGeom>
          <a:noFill/>
          <a:ln/>
        </p:spPr>
        <p:txBody>
          <a:bodyPr wrap="square" lIns="0" tIns="0" rIns="0" bIns="0" rtlCol="0" anchor="t"/>
          <a:lstStyle/>
          <a:p>
            <a:pPr indent="0" marL="0">
              <a:buNone/>
            </a:pPr>
            <a:r>
              <a:rPr lang="en-US" sz="1400" dirty="0">
                <a:solidFill>
                  <a:srgbClr val="5F6B7A"/>
                </a:solidFill>
                <a:latin typeface="Malgun Gothic" pitchFamily="34" charset="0"/>
                <a:ea typeface="Malgun Gothic" pitchFamily="34" charset="-122"/>
                <a:cs typeface="Malgun Gothic" pitchFamily="34" charset="-120"/>
              </a:rPr>
              <a:t>[발표자 이름·소속: 자료 필요]</a:t>
            </a:r>
            <a:endParaRPr lang="en-US" sz="1400" dirty="0"/>
          </a:p>
        </p:txBody>
      </p:sp>
      <p:pic>
        <p:nvPicPr>
          <p:cNvPr id="6" name="Image 0" descr="테스트 입력 BMP, 1024×1024 그라데이션">    </p:cNvPr>
          <p:cNvPicPr>
            <a:picLocks noChangeAspect="1"/>
          </p:cNvPicPr>
          <p:nvPr/>
        </p:nvPicPr>
        <p:blipFill>
          <a:blip r:embed="rId1"/>
          <a:stretch>
            <a:fillRect/>
          </a:stretch>
        </p:blipFill>
        <p:spPr>
          <a:xfrm>
            <a:off x="7589520" y="1234440"/>
            <a:ext cx="3886200" cy="3886200"/>
          </a:xfrm>
          <a:prstGeom prst="rect">
            <a:avLst/>
          </a:prstGeom>
        </p:spPr>
      </p:pic>
      <p:sp>
        <p:nvSpPr>
          <p:cNvPr id="7" name="Text 4"/>
          <p:cNvSpPr txBox="1"/>
          <p:nvPr/>
        </p:nvSpPr>
        <p:spPr>
          <a:xfrm>
            <a:off x="7589520" y="5257800"/>
            <a:ext cx="3886200" cy="274320"/>
          </a:xfrm>
          <a:prstGeom prst="rect">
            <a:avLst/>
          </a:prstGeom>
          <a:noFill/>
          <a:ln/>
        </p:spPr>
        <p:txBody>
          <a:bodyPr wrap="square" lIns="0" tIns="0" rIns="0" bIns="0" rtlCol="0" anchor="t"/>
          <a:lstStyle/>
          <a:p>
            <a:pPr indent="0" marL="0">
              <a:buNone/>
            </a:pPr>
            <a:r>
              <a:rPr lang="en-US" sz="1200" dirty="0">
                <a:solidFill>
                  <a:srgbClr val="5F6B7A"/>
                </a:solidFill>
                <a:latin typeface="Malgun Gothic" pitchFamily="34" charset="0"/>
                <a:ea typeface="Malgun Gothic" pitchFamily="34" charset="-122"/>
                <a:cs typeface="Malgun Gothic" pitchFamily="34" charset="-120"/>
              </a:rPr>
              <a:t>테스트 입력 BMP · 1024 × 1024 · 24비트</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요구 기능은 10월 15일 보드 실행으로 확인했고, Flash 칩 모델만 남았습니다</a:t>
            </a:r>
            <a:endParaRPr lang="en-US" sz="2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697480"/>
                <a:gridCol w="3429000"/>
                <a:gridCol w="3794760"/>
                <a:gridCol w="1170432"/>
              </a:tblGrid>
              <a:tr h="457200">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발표 조건</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이번 구현</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근거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상태</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PC ⇄ STM32 UART 통신</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8N1 바이너리, RX·TX DMA</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청크 CRC 확인 후 ACK, 버퍼 초과 0회</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STM32 ⇄ SPI Flash 통신</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QUADSPI, SPI 1-1-1</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JEDEC ID EF 40 18, WEL·BUSY 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Flash Read / Write</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64 KiB 삭제, 256 B 쓰기, 03h 읽기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청크마다 재읽기 후 memcmp</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3 MB 이상 전송·저장</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3,145,782 B BMP 전체</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49블록 삭제, 12,289페이지 쓰기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저장 데이터 복원</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Flash → PC, BMP 파일 저장</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저장·복원 5회 모두 전체 바이트 일치</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무결성</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CRC32, SHA-256, 바이트 비교</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세 방법 모두 일치</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전원·RESET 후 저장 유지</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RAM 덮어쓰기 후 --read-only 복원</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복원 일치, 칩 직접 덤프도 원본과 같음</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0F766E"/>
                          </a:solidFill>
                          <a:latin typeface="Malgun Gothic" pitchFamily="34" charset="0"/>
                          <a:ea typeface="Malgun Gothic" pitchFamily="34" charset="-122"/>
                          <a:cs typeface="Malgun Gothic" pitchFamily="34" charset="-120"/>
                        </a:rPr>
                        <a:t>확인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5720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W25Q32 사용</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현재 W25Q128로 시험</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대체 허용 여부 확인 필요</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남음</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bl>
          </a:graphicData>
        </a:graphic>
      </p:graphicFrame>
      <p:sp>
        <p:nvSpPr>
          <p:cNvPr id="4" name="Text 1"/>
          <p:cNvSpPr txBox="1"/>
          <p:nvPr/>
        </p:nvSpPr>
        <p:spPr>
          <a:xfrm>
            <a:off x="548640" y="5669280"/>
            <a:ext cx="11091672" cy="548640"/>
          </a:xfrm>
          <a:prstGeom prst="rect">
            <a:avLst/>
          </a:prstGeom>
          <a:noFill/>
          <a:ln/>
        </p:spPr>
        <p:txBody>
          <a:bodyPr wrap="square" lIns="0" tIns="0" rIns="0" bIns="0" rtlCol="0" anchor="t"/>
          <a:lstStyle/>
          <a:p>
            <a:pPr indent="0" marL="0">
              <a:lnSpc>
                <a:spcPct val="120000"/>
              </a:lnSpc>
              <a:buNone/>
            </a:pPr>
            <a:r>
              <a:rPr lang="en-US" sz="1300" dirty="0">
                <a:solidFill>
                  <a:srgbClr val="5F6B7A"/>
                </a:solidFill>
                <a:latin typeface="Malgun Gothic" pitchFamily="34" charset="0"/>
                <a:ea typeface="Malgun Gothic" pitchFamily="34" charset="-122"/>
                <a:cs typeface="Malgun Gothic" pitchFamily="34" charset="-120"/>
              </a:rPr>
              <a:t>확인: 2026-10-15 최신 펌웨어(백업 단계 제거)를 다운로드한 뒤 run_all.sh로 실행한 결과 기준</a:t>
            </a:r>
            <a:endParaRPr lang="en-US" sz="1300" dirty="0"/>
          </a:p>
          <a:p>
            <a:pPr indent="0" marL="0">
              <a:lnSpc>
                <a:spcPct val="120000"/>
              </a:lnSpc>
              <a:buNone/>
            </a:pPr>
            <a:r>
              <a:rPr lang="en-US" sz="1300" dirty="0">
                <a:solidFill>
                  <a:srgbClr val="5F6B7A"/>
                </a:solidFill>
                <a:latin typeface="Malgun Gothic" pitchFamily="34" charset="0"/>
                <a:ea typeface="Malgun Gothic" pitchFamily="34" charset="-122"/>
                <a:cs typeface="Malgun Gothic" pitchFamily="34" charset="-120"/>
              </a:rPr>
              <a:t>출처: README.md 보드 검증 결과, pc/results/demo_report_20261015_*.json</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실물 시험 칩은 W25Q128이며, 이미지 영역을 첫 4 MiB로 제한했습니다</a:t>
            </a:r>
            <a:endParaRPr lang="en-US" sz="2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355080" cy="914400"/>
        </p:xfrm>
        <a:graphic>
          <a:graphicData uri="http://schemas.openxmlformats.org/drawingml/2006/table">
            <a:tbl>
              <a:tblPr/>
              <a:tblGrid>
                <a:gridCol w="1417320"/>
                <a:gridCol w="2697480"/>
                <a:gridCol w="2240280"/>
              </a:tblGrid>
              <a:tr h="621792">
                <a:tc>
                  <a:txBody>
                    <a:bodyPr/>
                    <a:lstStyle/>
                    <a:p>
                      <a:pPr indent="0" marL="0">
                        <a:buNone/>
                      </a:pPr>
                      <a:r>
                        <a:rPr lang="en-US" sz="1600" b="1" dirty="0">
                          <a:solidFill>
                            <a:srgbClr val="1F2933"/>
                          </a:solidFill>
                          <a:latin typeface="Malgun Gothic" pitchFamily="34" charset="0"/>
                          <a:ea typeface="Malgun Gothic" pitchFamily="34" charset="-122"/>
                          <a:cs typeface="Malgun Gothic" pitchFamily="34" charset="-120"/>
                        </a:rPr>
                        <a:t>항목</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600" b="1" dirty="0">
                          <a:solidFill>
                            <a:srgbClr val="1F2933"/>
                          </a:solidFill>
                          <a:latin typeface="Malgun Gothic" pitchFamily="34" charset="0"/>
                          <a:ea typeface="Malgun Gothic" pitchFamily="34" charset="-122"/>
                          <a:cs typeface="Malgun Gothic" pitchFamily="34" charset="-120"/>
                        </a:rPr>
                        <a:t>현재 실물</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600" b="1" dirty="0">
                          <a:solidFill>
                            <a:srgbClr val="1F2933"/>
                          </a:solidFill>
                          <a:latin typeface="Malgun Gothic" pitchFamily="34" charset="0"/>
                          <a:ea typeface="Malgun Gothic" pitchFamily="34" charset="-122"/>
                          <a:cs typeface="Malgun Gothic" pitchFamily="34" charset="-120"/>
                        </a:rPr>
                        <a:t>과제 조건</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621792">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MCU / 보드</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STM32F746G-DISCO</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STM32 MCU</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21792">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Flash 모델</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b="1" dirty="0">
                          <a:solidFill>
                            <a:srgbClr val="0F766E"/>
                          </a:solidFill>
                          <a:latin typeface="Malgun Gothic" pitchFamily="34" charset="0"/>
                          <a:ea typeface="Malgun Gothic" pitchFamily="34" charset="-122"/>
                          <a:cs typeface="Malgun Gothic" pitchFamily="34" charset="-120"/>
                        </a:rPr>
                        <a:t>W25Q128</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W25Q32</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21792">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물리 용량</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b="1" dirty="0">
                          <a:solidFill>
                            <a:srgbClr val="0F766E"/>
                          </a:solidFill>
                          <a:latin typeface="Malgun Gothic" pitchFamily="34" charset="0"/>
                          <a:ea typeface="Malgun Gothic" pitchFamily="34" charset="-122"/>
                          <a:cs typeface="Malgun Gothic" pitchFamily="34" charset="-120"/>
                        </a:rPr>
                        <a:t>16 MiB</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4 MiB</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21792">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JEDEC ID</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b="1" dirty="0">
                          <a:solidFill>
                            <a:srgbClr val="0F766E"/>
                          </a:solidFill>
                          <a:latin typeface="Malgun Gothic" pitchFamily="34" charset="0"/>
                          <a:ea typeface="Malgun Gothic" pitchFamily="34" charset="-122"/>
                          <a:cs typeface="Malgun Gothic" pitchFamily="34" charset="-120"/>
                        </a:rPr>
                        <a:t>EF 40 18</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EF 40 16</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21792">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이미지 영역</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0x000000–0x3EFFFF</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600" dirty="0">
                          <a:solidFill>
                            <a:srgbClr val="1F2933"/>
                          </a:solidFill>
                          <a:latin typeface="Malgun Gothic" pitchFamily="34" charset="0"/>
                          <a:ea typeface="Malgun Gothic" pitchFamily="34" charset="-122"/>
                          <a:cs typeface="Malgun Gothic" pitchFamily="34" charset="-120"/>
                        </a:rPr>
                        <a:t>3 MB 이상 전체 저장</a:t>
                      </a:r>
                      <a:endParaRPr lang="en-US" sz="16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7223760" y="1508760"/>
            <a:ext cx="4416552" cy="365760"/>
          </a:xfrm>
          <a:prstGeom prst="rect">
            <a:avLst/>
          </a:prstGeom>
          <a:noFill/>
          <a:ln/>
        </p:spPr>
        <p:txBody>
          <a:bodyPr wrap="square" lIns="0" tIns="0" rIns="0" bIns="0" rtlCol="0" anchor="t"/>
          <a:lstStyle/>
          <a:p>
            <a:pPr indent="0" marL="0">
              <a:buNone/>
            </a:pPr>
            <a:r>
              <a:rPr lang="en-US" sz="1700" b="1" dirty="0">
                <a:solidFill>
                  <a:srgbClr val="1F2933"/>
                </a:solidFill>
                <a:latin typeface="Malgun Gothic" pitchFamily="34" charset="0"/>
                <a:ea typeface="Malgun Gothic" pitchFamily="34" charset="-122"/>
                <a:cs typeface="Malgun Gothic" pitchFamily="34" charset="-120"/>
              </a:rPr>
              <a:t>차이가 결과에 미치는 범위</a:t>
            </a:r>
            <a:endParaRPr lang="en-US" sz="1700" dirty="0"/>
          </a:p>
        </p:txBody>
      </p:sp>
      <p:sp>
        <p:nvSpPr>
          <p:cNvPr id="5" name="Text 2"/>
          <p:cNvSpPr txBox="1"/>
          <p:nvPr/>
        </p:nvSpPr>
        <p:spPr>
          <a:xfrm>
            <a:off x="7223760" y="2011680"/>
            <a:ext cx="4416552" cy="224028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400" dirty="0">
                <a:solidFill>
                  <a:srgbClr val="1F2933"/>
                </a:solidFill>
                <a:latin typeface="Malgun Gothic" pitchFamily="34" charset="0"/>
                <a:ea typeface="Malgun Gothic" pitchFamily="34" charset="-122"/>
                <a:cs typeface="Malgun Gothic" pitchFamily="34" charset="-120"/>
              </a:rPr>
              <a:t>이미지 주소는 첫 4 MiB 안에서만 사용합니다. W25Q32 용량과 같은 범위입니다.</a:t>
            </a:r>
            <a:endParaRPr lang="en-US" sz="1400" dirty="0"/>
          </a:p>
          <a:p>
            <a:pPr marL="342900" indent="-342900">
              <a:lnSpc>
                <a:spcPct val="115000"/>
              </a:lnSpc>
              <a:spcAft>
                <a:spcPts val="1000"/>
              </a:spcAft>
              <a:buSzPct val="100000"/>
              <a:buChar char="•"/>
            </a:pPr>
            <a:r>
              <a:rPr lang="en-US" sz="1400" dirty="0">
                <a:solidFill>
                  <a:srgbClr val="1F2933"/>
                </a:solidFill>
                <a:latin typeface="Malgun Gothic" pitchFamily="34" charset="0"/>
                <a:ea typeface="Malgun Gothic" pitchFamily="34" charset="-122"/>
                <a:cs typeface="Malgun Gothic" pitchFamily="34" charset="-120"/>
              </a:rPr>
              <a:t>사용한 명령 6종은 W25Q32 데이터시트 기준입니다.</a:t>
            </a:r>
            <a:endParaRPr lang="en-US" sz="1400" dirty="0"/>
          </a:p>
          <a:p>
            <a:pPr marL="342900" indent="-342900">
              <a:lnSpc>
                <a:spcPct val="115000"/>
              </a:lnSpc>
              <a:buSzPct val="100000"/>
              <a:buChar char="•"/>
            </a:pPr>
            <a:r>
              <a:rPr lang="en-US" sz="1400" dirty="0">
                <a:solidFill>
                  <a:srgbClr val="1F2933"/>
                </a:solidFill>
                <a:latin typeface="Malgun Gothic" pitchFamily="34" charset="0"/>
                <a:ea typeface="Malgun Gothic" pitchFamily="34" charset="-122"/>
                <a:cs typeface="Malgun Gothic" pitchFamily="34" charset="-120"/>
              </a:rPr>
              <a:t>펌웨어와 PC 프로그램 모두 EF 40 18과 EF 40 16만 허용합니다. W25Q32 ID 처리 코드는 있으나 실물로는 시험하지 않았습니다.</a:t>
            </a:r>
            <a:endParaRPr lang="en-US" sz="1400" dirty="0"/>
          </a:p>
        </p:txBody>
      </p:sp>
      <p:sp>
        <p:nvSpPr>
          <p:cNvPr id="6" name="Shape 3"/>
          <p:cNvSpPr/>
          <p:nvPr/>
        </p:nvSpPr>
        <p:spPr>
          <a:xfrm>
            <a:off x="7223760" y="4343400"/>
            <a:ext cx="4416552" cy="1051560"/>
          </a:xfrm>
          <a:prstGeom prst="rect">
            <a:avLst/>
          </a:prstGeom>
          <a:solidFill>
            <a:srgbClr val="F3F5F7"/>
          </a:solidFill>
          <a:ln w="12700">
            <a:solidFill>
              <a:srgbClr val="F3F5F7"/>
            </a:solidFill>
            <a:prstDash val="solid"/>
          </a:ln>
        </p:spPr>
      </p:sp>
      <p:sp>
        <p:nvSpPr>
          <p:cNvPr id="7" name="Text 4"/>
          <p:cNvSpPr txBox="1"/>
          <p:nvPr/>
        </p:nvSpPr>
        <p:spPr>
          <a:xfrm>
            <a:off x="7406640" y="4480560"/>
            <a:ext cx="4069080" cy="822960"/>
          </a:xfrm>
          <a:prstGeom prst="rect">
            <a:avLst/>
          </a:prstGeom>
          <a:noFill/>
          <a:ln/>
        </p:spPr>
        <p:txBody>
          <a:bodyPr wrap="square" lIns="0" tIns="0" rIns="0" bIns="0" rtlCol="0" anchor="t"/>
          <a:lstStyle/>
          <a:p>
            <a:pPr indent="0" marL="0">
              <a:lnSpc>
                <a:spcPct val="115000"/>
              </a:lnSpc>
              <a:buNone/>
            </a:pPr>
            <a:r>
              <a:rPr lang="en-US" sz="1500" b="1" dirty="0">
                <a:solidFill>
                  <a:srgbClr val="1F2933"/>
                </a:solidFill>
                <a:latin typeface="Malgun Gothic" pitchFamily="34" charset="0"/>
                <a:ea typeface="Malgun Gothic" pitchFamily="34" charset="-122"/>
                <a:cs typeface="Malgun Gothic" pitchFamily="34" charset="-120"/>
              </a:rPr>
              <a:t>확인 필요</a:t>
            </a:r>
            <a:endParaRPr lang="en-US" sz="1500" dirty="0"/>
          </a:p>
          <a:p>
            <a:pPr indent="0" marL="0">
              <a:lnSpc>
                <a:spcPct val="115000"/>
              </a:lnSpc>
              <a:buNone/>
            </a:pPr>
            <a:r>
              <a:rPr lang="en-US" sz="1500" dirty="0">
                <a:solidFill>
                  <a:srgbClr val="1F2933"/>
                </a:solidFill>
                <a:latin typeface="Malgun Gothic" pitchFamily="34" charset="0"/>
                <a:ea typeface="Malgun Gothic" pitchFamily="34" charset="-122"/>
                <a:cs typeface="Malgun Gothic" pitchFamily="34" charset="-120"/>
              </a:rPr>
              <a:t>W25Q32 대체 허용 여부, 또는 외부 W25Q32 칩으로 실물 시험</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PC–STM32–Flash 데이터 경로와 검증 지점</a:t>
            </a:r>
            <a:endParaRPr lang="en-US" sz="2600" dirty="0"/>
          </a:p>
        </p:txBody>
      </p:sp>
      <p:sp>
        <p:nvSpPr>
          <p:cNvPr id="3" name="Shape 1"/>
          <p:cNvSpPr/>
          <p:nvPr/>
        </p:nvSpPr>
        <p:spPr>
          <a:xfrm>
            <a:off x="5577840" y="1371600"/>
            <a:ext cx="3657600" cy="4343400"/>
          </a:xfrm>
          <a:prstGeom prst="rect">
            <a:avLst/>
          </a:prstGeom>
          <a:solidFill>
            <a:srgbClr val="F3F5F7"/>
          </a:solidFill>
          <a:ln w="12700">
            <a:solidFill>
              <a:srgbClr val="D5DAE0"/>
            </a:solidFill>
            <a:prstDash val="dash"/>
          </a:ln>
        </p:spPr>
      </p:sp>
      <p:sp>
        <p:nvSpPr>
          <p:cNvPr id="4" name="Text 2"/>
          <p:cNvSpPr txBox="1"/>
          <p:nvPr/>
        </p:nvSpPr>
        <p:spPr>
          <a:xfrm>
            <a:off x="5852160" y="1463040"/>
            <a:ext cx="3108960" cy="320040"/>
          </a:xfrm>
          <a:prstGeom prst="rect">
            <a:avLst/>
          </a:prstGeom>
          <a:noFill/>
          <a:ln/>
        </p:spPr>
        <p:txBody>
          <a:bodyPr wrap="square" lIns="0" tIns="0" rIns="0" bIns="0" rtlCol="0" anchor="t"/>
          <a:lstStyle/>
          <a:p>
            <a:pPr indent="0" marL="0">
              <a:buNone/>
            </a:pPr>
            <a:r>
              <a:rPr lang="en-US" sz="1400" b="1" dirty="0">
                <a:solidFill>
                  <a:srgbClr val="5F6B7A"/>
                </a:solidFill>
                <a:latin typeface="Malgun Gothic" pitchFamily="34" charset="0"/>
                <a:ea typeface="Malgun Gothic" pitchFamily="34" charset="-122"/>
                <a:cs typeface="Malgun Gothic" pitchFamily="34" charset="-120"/>
              </a:rPr>
              <a:t>STM32F746NG</a:t>
            </a:r>
            <a:endParaRPr lang="en-US" sz="1400" dirty="0"/>
          </a:p>
        </p:txBody>
      </p:sp>
      <p:sp>
        <p:nvSpPr>
          <p:cNvPr id="5" name="Shape 3"/>
          <p:cNvSpPr/>
          <p:nvPr/>
        </p:nvSpPr>
        <p:spPr>
          <a:xfrm>
            <a:off x="548640" y="1714500"/>
            <a:ext cx="2011680" cy="1005840"/>
          </a:xfrm>
          <a:prstGeom prst="rect">
            <a:avLst/>
          </a:prstGeom>
          <a:solidFill>
            <a:srgbClr val="FFFFFF"/>
          </a:solidFill>
          <a:ln w="19050">
            <a:solidFill>
              <a:srgbClr val="5F6B7A"/>
            </a:solidFill>
            <a:prstDash val="solid"/>
          </a:ln>
        </p:spPr>
      </p:sp>
      <p:sp>
        <p:nvSpPr>
          <p:cNvPr id="6" name="Text 4"/>
          <p:cNvSpPr txBox="1"/>
          <p:nvPr/>
        </p:nvSpPr>
        <p:spPr>
          <a:xfrm>
            <a:off x="685800" y="1714500"/>
            <a:ext cx="1737360" cy="1005840"/>
          </a:xfrm>
          <a:prstGeom prst="rect">
            <a:avLst/>
          </a:prstGeom>
          <a:noFill/>
          <a:ln/>
        </p:spPr>
        <p:txBody>
          <a:bodyPr wrap="square" lIns="0" tIns="0" rIns="0" bIns="0" rtlCol="0" anchor="ctr"/>
          <a:lstStyle/>
          <a:p>
            <a:pPr indent="0" marL="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PC</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demo_roundtrip.py</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전송 · 재읽기 · 비교</a:t>
            </a:r>
            <a:endParaRPr lang="en-US" sz="1600" dirty="0"/>
          </a:p>
        </p:txBody>
      </p:sp>
      <p:sp>
        <p:nvSpPr>
          <p:cNvPr id="7" name="Shape 5"/>
          <p:cNvSpPr/>
          <p:nvPr/>
        </p:nvSpPr>
        <p:spPr>
          <a:xfrm>
            <a:off x="3017520" y="1805940"/>
            <a:ext cx="1645920" cy="822960"/>
          </a:xfrm>
          <a:prstGeom prst="rect">
            <a:avLst/>
          </a:prstGeom>
          <a:solidFill>
            <a:srgbClr val="FFFFFF"/>
          </a:solidFill>
          <a:ln w="19050">
            <a:solidFill>
              <a:srgbClr val="5F6B7A"/>
            </a:solidFill>
            <a:prstDash val="solid"/>
          </a:ln>
        </p:spPr>
      </p:sp>
      <p:sp>
        <p:nvSpPr>
          <p:cNvPr id="8" name="Text 6"/>
          <p:cNvSpPr txBox="1"/>
          <p:nvPr/>
        </p:nvSpPr>
        <p:spPr>
          <a:xfrm>
            <a:off x="3154680" y="1805940"/>
            <a:ext cx="1371600" cy="822960"/>
          </a:xfrm>
          <a:prstGeom prst="rect">
            <a:avLst/>
          </a:prstGeom>
          <a:noFill/>
          <a:ln/>
        </p:spPr>
        <p:txBody>
          <a:bodyPr wrap="square" lIns="0" tIns="0" rIns="0" bIns="0" rtlCol="0" anchor="ctr"/>
          <a:lstStyle/>
          <a:p>
            <a:pPr indent="0" marL="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ST-LINK</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가상 COM 포트</a:t>
            </a:r>
            <a:endParaRPr lang="en-US" sz="1600" dirty="0"/>
          </a:p>
        </p:txBody>
      </p:sp>
      <p:sp>
        <p:nvSpPr>
          <p:cNvPr id="9" name="Shape 7"/>
          <p:cNvSpPr/>
          <p:nvPr/>
        </p:nvSpPr>
        <p:spPr>
          <a:xfrm>
            <a:off x="5852160" y="1828800"/>
            <a:ext cx="3108960" cy="777240"/>
          </a:xfrm>
          <a:prstGeom prst="rect">
            <a:avLst/>
          </a:prstGeom>
          <a:solidFill>
            <a:srgbClr val="FFFFFF"/>
          </a:solidFill>
          <a:ln w="19050">
            <a:solidFill>
              <a:srgbClr val="0F766E"/>
            </a:solidFill>
            <a:prstDash val="solid"/>
          </a:ln>
        </p:spPr>
      </p:sp>
      <p:sp>
        <p:nvSpPr>
          <p:cNvPr id="10" name="Text 8"/>
          <p:cNvSpPr txBox="1"/>
          <p:nvPr/>
        </p:nvSpPr>
        <p:spPr>
          <a:xfrm>
            <a:off x="5989320" y="1828800"/>
            <a:ext cx="2834640" cy="777240"/>
          </a:xfrm>
          <a:prstGeom prst="rect">
            <a:avLst/>
          </a:prstGeom>
          <a:noFill/>
          <a:ln/>
        </p:spPr>
        <p:txBody>
          <a:bodyPr wrap="square" lIns="0" tIns="0" rIns="0" bIns="0" rtlCol="0" anchor="ctr"/>
          <a:lstStyle/>
          <a:p>
            <a:pPr indent="0" marL="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USART1 + DMA</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RX · TX 각 4 KiB × 2</a:t>
            </a:r>
            <a:endParaRPr lang="en-US" sz="1600" dirty="0"/>
          </a:p>
        </p:txBody>
      </p:sp>
      <p:sp>
        <p:nvSpPr>
          <p:cNvPr id="11" name="Shape 9"/>
          <p:cNvSpPr/>
          <p:nvPr/>
        </p:nvSpPr>
        <p:spPr>
          <a:xfrm>
            <a:off x="5852160" y="3154680"/>
            <a:ext cx="3108960" cy="777240"/>
          </a:xfrm>
          <a:prstGeom prst="rect">
            <a:avLst/>
          </a:prstGeom>
          <a:solidFill>
            <a:srgbClr val="FFFFFF"/>
          </a:solidFill>
          <a:ln w="19050">
            <a:solidFill>
              <a:srgbClr val="0F766E"/>
            </a:solidFill>
            <a:prstDash val="solid"/>
          </a:ln>
        </p:spPr>
      </p:sp>
      <p:sp>
        <p:nvSpPr>
          <p:cNvPr id="12" name="Text 10"/>
          <p:cNvSpPr txBox="1"/>
          <p:nvPr/>
        </p:nvSpPr>
        <p:spPr>
          <a:xfrm>
            <a:off x="5989320" y="3154680"/>
            <a:ext cx="2834640" cy="777240"/>
          </a:xfrm>
          <a:prstGeom prst="rect">
            <a:avLst/>
          </a:prstGeom>
          <a:noFill/>
          <a:ln/>
        </p:spPr>
        <p:txBody>
          <a:bodyPr wrap="square" lIns="0" tIns="0" rIns="0" bIns="0" rtlCol="0" anchor="ctr"/>
          <a:lstStyle/>
          <a:p>
            <a:pPr indent="0" marL="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펌웨어</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청크 CRC · ACK · Flash 주소 관리</a:t>
            </a:r>
            <a:endParaRPr lang="en-US" sz="1600" dirty="0"/>
          </a:p>
        </p:txBody>
      </p:sp>
      <p:sp>
        <p:nvSpPr>
          <p:cNvPr id="13" name="Shape 11"/>
          <p:cNvSpPr/>
          <p:nvPr/>
        </p:nvSpPr>
        <p:spPr>
          <a:xfrm>
            <a:off x="5852160" y="4480560"/>
            <a:ext cx="3108960" cy="777240"/>
          </a:xfrm>
          <a:prstGeom prst="rect">
            <a:avLst/>
          </a:prstGeom>
          <a:solidFill>
            <a:srgbClr val="FFFFFF"/>
          </a:solidFill>
          <a:ln w="19050">
            <a:solidFill>
              <a:srgbClr val="0F766E"/>
            </a:solidFill>
            <a:prstDash val="solid"/>
          </a:ln>
        </p:spPr>
      </p:sp>
      <p:sp>
        <p:nvSpPr>
          <p:cNvPr id="14" name="Text 12"/>
          <p:cNvSpPr txBox="1"/>
          <p:nvPr/>
        </p:nvSpPr>
        <p:spPr>
          <a:xfrm>
            <a:off x="5989320" y="4480560"/>
            <a:ext cx="2834640" cy="777240"/>
          </a:xfrm>
          <a:prstGeom prst="rect">
            <a:avLst/>
          </a:prstGeom>
          <a:noFill/>
          <a:ln/>
        </p:spPr>
        <p:txBody>
          <a:bodyPr wrap="square" lIns="0" tIns="0" rIns="0" bIns="0" rtlCol="0" anchor="ctr"/>
          <a:lstStyle/>
          <a:p>
            <a:pPr indent="0" marL="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QUADSPI</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SPI 1-1-1 · Mode 0 · 27 MHz</a:t>
            </a:r>
            <a:endParaRPr lang="en-US" sz="1600" dirty="0"/>
          </a:p>
        </p:txBody>
      </p:sp>
      <p:sp>
        <p:nvSpPr>
          <p:cNvPr id="15" name="Shape 13"/>
          <p:cNvSpPr/>
          <p:nvPr/>
        </p:nvSpPr>
        <p:spPr>
          <a:xfrm>
            <a:off x="9875520" y="4434840"/>
            <a:ext cx="1764792" cy="868680"/>
          </a:xfrm>
          <a:prstGeom prst="rect">
            <a:avLst/>
          </a:prstGeom>
          <a:solidFill>
            <a:srgbClr val="FFFFFF"/>
          </a:solidFill>
          <a:ln w="19050">
            <a:solidFill>
              <a:srgbClr val="5F6B7A"/>
            </a:solidFill>
            <a:prstDash val="solid"/>
          </a:ln>
        </p:spPr>
      </p:sp>
      <p:sp>
        <p:nvSpPr>
          <p:cNvPr id="16" name="Text 14"/>
          <p:cNvSpPr txBox="1"/>
          <p:nvPr/>
        </p:nvSpPr>
        <p:spPr>
          <a:xfrm>
            <a:off x="10012680" y="4434840"/>
            <a:ext cx="1490472" cy="868680"/>
          </a:xfrm>
          <a:prstGeom prst="rect">
            <a:avLst/>
          </a:prstGeom>
          <a:noFill/>
          <a:ln/>
        </p:spPr>
        <p:txBody>
          <a:bodyPr wrap="square" lIns="0" tIns="0" rIns="0" bIns="0" rtlCol="0" anchor="ctr"/>
          <a:lstStyle/>
          <a:p>
            <a:pPr indent="0" marL="0">
              <a:lnSpc>
                <a:spcPct val="110000"/>
              </a:lnSpc>
              <a:buNone/>
            </a:pPr>
            <a:r>
              <a:rPr lang="en-US" sz="1600" b="1" dirty="0">
                <a:solidFill>
                  <a:srgbClr val="1F2933"/>
                </a:solidFill>
                <a:latin typeface="Malgun Gothic" pitchFamily="34" charset="0"/>
                <a:ea typeface="Malgun Gothic" pitchFamily="34" charset="-122"/>
                <a:cs typeface="Malgun Gothic" pitchFamily="34" charset="-120"/>
              </a:rPr>
              <a:t>W25Q128</a:t>
            </a:r>
            <a:endParaRPr lang="en-US" sz="1600" dirty="0"/>
          </a:p>
          <a:p>
            <a:pPr indent="0" marL="0">
              <a:lnSpc>
                <a:spcPct val="110000"/>
              </a:lnSpc>
              <a:buNone/>
            </a:pPr>
            <a:r>
              <a:rPr lang="en-US" sz="1300" dirty="0">
                <a:solidFill>
                  <a:srgbClr val="5F6B7A"/>
                </a:solidFill>
                <a:latin typeface="Malgun Gothic" pitchFamily="34" charset="0"/>
                <a:ea typeface="Malgun Gothic" pitchFamily="34" charset="-122"/>
                <a:cs typeface="Malgun Gothic" pitchFamily="34" charset="-120"/>
              </a:rPr>
              <a:t>SPI NOR Flash</a:t>
            </a:r>
            <a:endParaRPr lang="en-US" sz="1600" dirty="0"/>
          </a:p>
        </p:txBody>
      </p:sp>
      <p:sp>
        <p:nvSpPr>
          <p:cNvPr id="17" name="Shape 15"/>
          <p:cNvSpPr/>
          <p:nvPr/>
        </p:nvSpPr>
        <p:spPr>
          <a:xfrm>
            <a:off x="2560320" y="2217420"/>
            <a:ext cx="457200" cy="0"/>
          </a:xfrm>
          <a:prstGeom prst="line">
            <a:avLst/>
          </a:prstGeom>
          <a:noFill/>
          <a:ln w="22225">
            <a:solidFill>
              <a:srgbClr val="5F6B7A"/>
            </a:solidFill>
            <a:prstDash val="solid"/>
            <a:headEnd type="triangle"/>
            <a:tailEnd type="triangle"/>
          </a:ln>
        </p:spPr>
      </p:sp>
      <p:sp>
        <p:nvSpPr>
          <p:cNvPr id="18" name="Shape 16"/>
          <p:cNvSpPr/>
          <p:nvPr/>
        </p:nvSpPr>
        <p:spPr>
          <a:xfrm>
            <a:off x="4663440" y="2217420"/>
            <a:ext cx="1188720" cy="0"/>
          </a:xfrm>
          <a:prstGeom prst="line">
            <a:avLst/>
          </a:prstGeom>
          <a:noFill/>
          <a:ln w="22225">
            <a:solidFill>
              <a:srgbClr val="5F6B7A"/>
            </a:solidFill>
            <a:prstDash val="solid"/>
            <a:headEnd type="triangle"/>
            <a:tailEnd type="triangle"/>
          </a:ln>
        </p:spPr>
      </p:sp>
      <p:sp>
        <p:nvSpPr>
          <p:cNvPr id="19" name="Shape 17"/>
          <p:cNvSpPr/>
          <p:nvPr/>
        </p:nvSpPr>
        <p:spPr>
          <a:xfrm>
            <a:off x="7406640" y="2606040"/>
            <a:ext cx="0" cy="548640"/>
          </a:xfrm>
          <a:prstGeom prst="line">
            <a:avLst/>
          </a:prstGeom>
          <a:noFill/>
          <a:ln w="22225">
            <a:solidFill>
              <a:srgbClr val="5F6B7A"/>
            </a:solidFill>
            <a:prstDash val="solid"/>
            <a:headEnd type="triangle"/>
            <a:tailEnd type="triangle"/>
          </a:ln>
        </p:spPr>
      </p:sp>
      <p:sp>
        <p:nvSpPr>
          <p:cNvPr id="20" name="Shape 18"/>
          <p:cNvSpPr/>
          <p:nvPr/>
        </p:nvSpPr>
        <p:spPr>
          <a:xfrm>
            <a:off x="7406640" y="3931920"/>
            <a:ext cx="0" cy="548640"/>
          </a:xfrm>
          <a:prstGeom prst="line">
            <a:avLst/>
          </a:prstGeom>
          <a:noFill/>
          <a:ln w="22225">
            <a:solidFill>
              <a:srgbClr val="5F6B7A"/>
            </a:solidFill>
            <a:prstDash val="solid"/>
            <a:headEnd type="triangle"/>
            <a:tailEnd type="triangle"/>
          </a:ln>
        </p:spPr>
      </p:sp>
      <p:sp>
        <p:nvSpPr>
          <p:cNvPr id="21" name="Shape 19"/>
          <p:cNvSpPr/>
          <p:nvPr/>
        </p:nvSpPr>
        <p:spPr>
          <a:xfrm>
            <a:off x="8961120" y="4869180"/>
            <a:ext cx="914400" cy="0"/>
          </a:xfrm>
          <a:prstGeom prst="line">
            <a:avLst/>
          </a:prstGeom>
          <a:noFill/>
          <a:ln w="22225">
            <a:solidFill>
              <a:srgbClr val="5F6B7A"/>
            </a:solidFill>
            <a:prstDash val="solid"/>
            <a:headEnd type="triangle"/>
            <a:tailEnd type="triangle"/>
          </a:ln>
        </p:spPr>
      </p:sp>
      <p:sp>
        <p:nvSpPr>
          <p:cNvPr id="22" name="Text 20"/>
          <p:cNvSpPr txBox="1"/>
          <p:nvPr/>
        </p:nvSpPr>
        <p:spPr>
          <a:xfrm>
            <a:off x="2560320" y="1874520"/>
            <a:ext cx="457200" cy="274320"/>
          </a:xfrm>
          <a:prstGeom prst="rect">
            <a:avLst/>
          </a:prstGeom>
          <a:noFill/>
          <a:ln/>
        </p:spPr>
        <p:txBody>
          <a:bodyPr wrap="square" lIns="0" tIns="0" rIns="0" bIns="0" rtlCol="0" anchor="t"/>
          <a:lstStyle/>
          <a:p>
            <a:pPr algn="ctr" indent="0" marL="0">
              <a:buNone/>
            </a:pPr>
            <a:r>
              <a:rPr lang="en-US" sz="1200" dirty="0">
                <a:solidFill>
                  <a:srgbClr val="5F6B7A"/>
                </a:solidFill>
                <a:latin typeface="Malgun Gothic" pitchFamily="34" charset="0"/>
                <a:ea typeface="Malgun Gothic" pitchFamily="34" charset="-122"/>
                <a:cs typeface="Malgun Gothic" pitchFamily="34" charset="-120"/>
              </a:rPr>
              <a:t>USB</a:t>
            </a:r>
            <a:endParaRPr lang="en-US" sz="1200" dirty="0"/>
          </a:p>
        </p:txBody>
      </p:sp>
      <p:sp>
        <p:nvSpPr>
          <p:cNvPr id="23" name="Text 21"/>
          <p:cNvSpPr txBox="1"/>
          <p:nvPr/>
        </p:nvSpPr>
        <p:spPr>
          <a:xfrm>
            <a:off x="4709160" y="2331720"/>
            <a:ext cx="1097280" cy="457200"/>
          </a:xfrm>
          <a:prstGeom prst="rect">
            <a:avLst/>
          </a:prstGeom>
          <a:noFill/>
          <a:ln/>
        </p:spPr>
        <p:txBody>
          <a:bodyPr wrap="square" lIns="0" tIns="0" rIns="0" bIns="0" rtlCol="0" anchor="t"/>
          <a:lstStyle/>
          <a:p>
            <a:pPr algn="ctr" indent="0" marL="0">
              <a:buNone/>
            </a:pPr>
            <a:r>
              <a:rPr lang="en-US" sz="1200" dirty="0">
                <a:solidFill>
                  <a:srgbClr val="5F6B7A"/>
                </a:solidFill>
                <a:latin typeface="Malgun Gothic" pitchFamily="34" charset="0"/>
                <a:ea typeface="Malgun Gothic" pitchFamily="34" charset="-122"/>
                <a:cs typeface="Malgun Gothic" pitchFamily="34" charset="-120"/>
              </a:rPr>
              <a:t>UART 8N1</a:t>
            </a:r>
            <a:endParaRPr lang="en-US" sz="1200" dirty="0"/>
          </a:p>
          <a:p>
            <a:pPr algn="ctr" indent="0" marL="0">
              <a:buNone/>
            </a:pPr>
            <a:r>
              <a:rPr lang="en-US" sz="1200" dirty="0">
                <a:solidFill>
                  <a:srgbClr val="5F6B7A"/>
                </a:solidFill>
                <a:latin typeface="Malgun Gothic" pitchFamily="34" charset="0"/>
                <a:ea typeface="Malgun Gothic" pitchFamily="34" charset="-122"/>
                <a:cs typeface="Malgun Gothic" pitchFamily="34" charset="-120"/>
              </a:rPr>
              <a:t>921600 baud</a:t>
            </a:r>
            <a:endParaRPr lang="en-US" sz="1200" dirty="0"/>
          </a:p>
        </p:txBody>
      </p:sp>
      <p:sp>
        <p:nvSpPr>
          <p:cNvPr id="24" name="Shape 22"/>
          <p:cNvSpPr/>
          <p:nvPr/>
        </p:nvSpPr>
        <p:spPr>
          <a:xfrm>
            <a:off x="10757916" y="5303520"/>
            <a:ext cx="0" cy="548640"/>
          </a:xfrm>
          <a:prstGeom prst="line">
            <a:avLst/>
          </a:prstGeom>
          <a:noFill/>
          <a:ln w="22225">
            <a:solidFill>
              <a:srgbClr val="0F766E"/>
            </a:solidFill>
            <a:prstDash val="dash"/>
          </a:ln>
        </p:spPr>
      </p:sp>
      <p:sp>
        <p:nvSpPr>
          <p:cNvPr id="25" name="Shape 23"/>
          <p:cNvSpPr/>
          <p:nvPr/>
        </p:nvSpPr>
        <p:spPr>
          <a:xfrm>
            <a:off x="1554480" y="5852160"/>
            <a:ext cx="9203436" cy="0"/>
          </a:xfrm>
          <a:prstGeom prst="line">
            <a:avLst/>
          </a:prstGeom>
          <a:noFill/>
          <a:ln w="22225">
            <a:solidFill>
              <a:srgbClr val="0F766E"/>
            </a:solidFill>
            <a:prstDash val="dash"/>
          </a:ln>
        </p:spPr>
      </p:sp>
      <p:sp>
        <p:nvSpPr>
          <p:cNvPr id="26" name="Shape 24"/>
          <p:cNvSpPr/>
          <p:nvPr/>
        </p:nvSpPr>
        <p:spPr>
          <a:xfrm>
            <a:off x="1554480" y="2720340"/>
            <a:ext cx="0" cy="3131820"/>
          </a:xfrm>
          <a:prstGeom prst="line">
            <a:avLst/>
          </a:prstGeom>
          <a:noFill/>
          <a:ln w="22225">
            <a:solidFill>
              <a:srgbClr val="0F766E"/>
            </a:solidFill>
            <a:prstDash val="dash"/>
            <a:headEnd type="triangle"/>
          </a:ln>
        </p:spPr>
      </p:sp>
      <p:sp>
        <p:nvSpPr>
          <p:cNvPr id="27" name="Text 25"/>
          <p:cNvSpPr txBox="1"/>
          <p:nvPr/>
        </p:nvSpPr>
        <p:spPr>
          <a:xfrm>
            <a:off x="7863840" y="5971032"/>
            <a:ext cx="3776472" cy="292608"/>
          </a:xfrm>
          <a:prstGeom prst="rect">
            <a:avLst/>
          </a:prstGeom>
          <a:noFill/>
          <a:ln/>
        </p:spPr>
        <p:txBody>
          <a:bodyPr wrap="square" lIns="0" tIns="0" rIns="0" bIns="0" rtlCol="0" anchor="t"/>
          <a:lstStyle/>
          <a:p>
            <a:pPr algn="r" indent="0" marL="0">
              <a:buNone/>
            </a:pPr>
            <a:r>
              <a:rPr lang="en-US" sz="1200" dirty="0">
                <a:solidFill>
                  <a:srgbClr val="5F6B7A"/>
                </a:solidFill>
                <a:latin typeface="Malgun Gothic" pitchFamily="34" charset="0"/>
                <a:ea typeface="Malgun Gothic" pitchFamily="34" charset="-122"/>
                <a:cs typeface="Malgun Gothic" pitchFamily="34" charset="-120"/>
              </a:rPr>
              <a:t>확인 코드: ① 7장 · ② 8장 · ③ 7·9장 · ④ 10·11장</a:t>
            </a:r>
            <a:endParaRPr lang="en-US" sz="1200" dirty="0"/>
          </a:p>
        </p:txBody>
      </p:sp>
      <p:sp>
        <p:nvSpPr>
          <p:cNvPr id="28" name="Text 26"/>
          <p:cNvSpPr txBox="1"/>
          <p:nvPr/>
        </p:nvSpPr>
        <p:spPr>
          <a:xfrm>
            <a:off x="2194560" y="5971032"/>
            <a:ext cx="5486400" cy="292608"/>
          </a:xfrm>
          <a:prstGeom prst="rect">
            <a:avLst/>
          </a:prstGeom>
          <a:noFill/>
          <a:ln/>
        </p:spPr>
        <p:txBody>
          <a:bodyPr wrap="square" lIns="0" tIns="0" rIns="0" bIns="0" rtlCol="0" anchor="t"/>
          <a:lstStyle/>
          <a:p>
            <a:pPr indent="0" marL="0">
              <a:buNone/>
            </a:pPr>
            <a:r>
              <a:rPr lang="en-US" sz="1300" b="1" dirty="0">
                <a:solidFill>
                  <a:srgbClr val="0F766E"/>
                </a:solidFill>
                <a:latin typeface="Malgun Gothic" pitchFamily="34" charset="0"/>
                <a:ea typeface="Malgun Gothic" pitchFamily="34" charset="-122"/>
                <a:cs typeface="Malgun Gothic" pitchFamily="34" charset="-120"/>
              </a:rPr>
              <a:t>원본 ⇄ Flash에서 복원한 파일 비교 (종단 간)</a:t>
            </a:r>
            <a:endParaRPr lang="en-US" sz="1300" dirty="0"/>
          </a:p>
        </p:txBody>
      </p:sp>
      <p:sp>
        <p:nvSpPr>
          <p:cNvPr id="29" name="Shape 27"/>
          <p:cNvSpPr/>
          <p:nvPr/>
        </p:nvSpPr>
        <p:spPr>
          <a:xfrm>
            <a:off x="5093208" y="1783080"/>
            <a:ext cx="329184" cy="329184"/>
          </a:xfrm>
          <a:prstGeom prst="ellipse">
            <a:avLst/>
          </a:prstGeom>
          <a:solidFill>
            <a:srgbClr val="0F766E"/>
          </a:solidFill>
          <a:ln w="12700">
            <a:solidFill>
              <a:srgbClr val="0F766E"/>
            </a:solidFill>
            <a:prstDash val="solid"/>
          </a:ln>
        </p:spPr>
      </p:sp>
      <p:sp>
        <p:nvSpPr>
          <p:cNvPr id="30" name="Text 28"/>
          <p:cNvSpPr txBox="1"/>
          <p:nvPr/>
        </p:nvSpPr>
        <p:spPr>
          <a:xfrm>
            <a:off x="5093208" y="17830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1</a:t>
            </a:r>
            <a:endParaRPr lang="en-US" sz="1300" dirty="0"/>
          </a:p>
        </p:txBody>
      </p:sp>
      <p:sp>
        <p:nvSpPr>
          <p:cNvPr id="31" name="Shape 29"/>
          <p:cNvSpPr/>
          <p:nvPr/>
        </p:nvSpPr>
        <p:spPr>
          <a:xfrm>
            <a:off x="7589520" y="2715768"/>
            <a:ext cx="329184" cy="329184"/>
          </a:xfrm>
          <a:prstGeom prst="ellipse">
            <a:avLst/>
          </a:prstGeom>
          <a:solidFill>
            <a:srgbClr val="0F766E"/>
          </a:solidFill>
          <a:ln w="12700">
            <a:solidFill>
              <a:srgbClr val="0F766E"/>
            </a:solidFill>
            <a:prstDash val="solid"/>
          </a:ln>
        </p:spPr>
      </p:sp>
      <p:sp>
        <p:nvSpPr>
          <p:cNvPr id="32" name="Text 30"/>
          <p:cNvSpPr txBox="1"/>
          <p:nvPr/>
        </p:nvSpPr>
        <p:spPr>
          <a:xfrm>
            <a:off x="7589520" y="27157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2</a:t>
            </a:r>
            <a:endParaRPr lang="en-US" sz="1300" dirty="0"/>
          </a:p>
        </p:txBody>
      </p:sp>
      <p:sp>
        <p:nvSpPr>
          <p:cNvPr id="33" name="Shape 31"/>
          <p:cNvSpPr/>
          <p:nvPr/>
        </p:nvSpPr>
        <p:spPr>
          <a:xfrm>
            <a:off x="9390888" y="4389120"/>
            <a:ext cx="329184" cy="329184"/>
          </a:xfrm>
          <a:prstGeom prst="ellipse">
            <a:avLst/>
          </a:prstGeom>
          <a:solidFill>
            <a:srgbClr val="0F766E"/>
          </a:solidFill>
          <a:ln w="12700">
            <a:solidFill>
              <a:srgbClr val="0F766E"/>
            </a:solidFill>
            <a:prstDash val="solid"/>
          </a:ln>
        </p:spPr>
      </p:sp>
      <p:sp>
        <p:nvSpPr>
          <p:cNvPr id="34" name="Text 32"/>
          <p:cNvSpPr txBox="1"/>
          <p:nvPr/>
        </p:nvSpPr>
        <p:spPr>
          <a:xfrm>
            <a:off x="9390888" y="43891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3</a:t>
            </a:r>
            <a:endParaRPr lang="en-US" sz="1300" dirty="0"/>
          </a:p>
        </p:txBody>
      </p:sp>
      <p:sp>
        <p:nvSpPr>
          <p:cNvPr id="35" name="Shape 33"/>
          <p:cNvSpPr/>
          <p:nvPr/>
        </p:nvSpPr>
        <p:spPr>
          <a:xfrm>
            <a:off x="1783080" y="5943600"/>
            <a:ext cx="329184" cy="329184"/>
          </a:xfrm>
          <a:prstGeom prst="ellipse">
            <a:avLst/>
          </a:prstGeom>
          <a:solidFill>
            <a:srgbClr val="0F766E"/>
          </a:solidFill>
          <a:ln w="12700">
            <a:solidFill>
              <a:srgbClr val="0F766E"/>
            </a:solidFill>
            <a:prstDash val="solid"/>
          </a:ln>
        </p:spPr>
      </p:sp>
      <p:sp>
        <p:nvSpPr>
          <p:cNvPr id="36" name="Text 34"/>
          <p:cNvSpPr txBox="1"/>
          <p:nvPr/>
        </p:nvSpPr>
        <p:spPr>
          <a:xfrm>
            <a:off x="1783080" y="5943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4</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UART 수신: Flash에 쓰는 동안 다음 4 KiB를 DMA로 받습니다</a:t>
            </a:r>
            <a:endParaRPr lang="en-US" sz="2600" dirty="0"/>
          </a:p>
        </p:txBody>
      </p:sp>
      <p:sp>
        <p:nvSpPr>
          <p:cNvPr id="3" name="Text 1"/>
          <p:cNvSpPr txBox="1"/>
          <p:nvPr/>
        </p:nvSpPr>
        <p:spPr>
          <a:xfrm>
            <a:off x="548640" y="1828800"/>
            <a:ext cx="1188720" cy="685800"/>
          </a:xfrm>
          <a:prstGeom prst="rect">
            <a:avLst/>
          </a:prstGeom>
          <a:noFill/>
          <a:ln/>
        </p:spPr>
        <p:txBody>
          <a:bodyPr wrap="square" lIns="0" tIns="0" rIns="0" bIns="0" rtlCol="0" anchor="ct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DMA 수신</a:t>
            </a:r>
            <a:endParaRPr lang="en-US" sz="1500" dirty="0"/>
          </a:p>
        </p:txBody>
      </p:sp>
      <p:sp>
        <p:nvSpPr>
          <p:cNvPr id="4" name="Text 2"/>
          <p:cNvSpPr txBox="1"/>
          <p:nvPr/>
        </p:nvSpPr>
        <p:spPr>
          <a:xfrm>
            <a:off x="548640" y="2697480"/>
            <a:ext cx="1188720" cy="685800"/>
          </a:xfrm>
          <a:prstGeom prst="rect">
            <a:avLst/>
          </a:prstGeom>
          <a:noFill/>
          <a:ln/>
        </p:spPr>
        <p:txBody>
          <a:bodyPr wrap="square" lIns="0" tIns="0" rIns="0" bIns="0" rtlCol="0" anchor="ct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CPU 처리</a:t>
            </a:r>
            <a:endParaRPr lang="en-US" sz="1400" dirty="0"/>
          </a:p>
        </p:txBody>
      </p:sp>
      <p:sp>
        <p:nvSpPr>
          <p:cNvPr id="5" name="Shape 3"/>
          <p:cNvSpPr/>
          <p:nvPr/>
        </p:nvSpPr>
        <p:spPr>
          <a:xfrm>
            <a:off x="1828800" y="1828800"/>
            <a:ext cx="1271016" cy="685800"/>
          </a:xfrm>
          <a:prstGeom prst="rect">
            <a:avLst/>
          </a:prstGeom>
          <a:solidFill>
            <a:srgbClr val="0F766E"/>
          </a:solidFill>
          <a:ln w="12700">
            <a:solidFill>
              <a:srgbClr val="0F766E"/>
            </a:solidFill>
            <a:prstDash val="solid"/>
          </a:ln>
        </p:spPr>
      </p:sp>
      <p:sp>
        <p:nvSpPr>
          <p:cNvPr id="6" name="Text 4"/>
          <p:cNvSpPr txBox="1"/>
          <p:nvPr/>
        </p:nvSpPr>
        <p:spPr>
          <a:xfrm>
            <a:off x="1828800" y="1828800"/>
            <a:ext cx="1271016"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M0 수신</a:t>
            </a:r>
            <a:endParaRPr lang="en-US" sz="1500" dirty="0"/>
          </a:p>
        </p:txBody>
      </p:sp>
      <p:sp>
        <p:nvSpPr>
          <p:cNvPr id="7" name="Shape 5"/>
          <p:cNvSpPr/>
          <p:nvPr/>
        </p:nvSpPr>
        <p:spPr>
          <a:xfrm>
            <a:off x="3154680" y="1828800"/>
            <a:ext cx="1271016" cy="685800"/>
          </a:xfrm>
          <a:prstGeom prst="rect">
            <a:avLst/>
          </a:prstGeom>
          <a:solidFill>
            <a:srgbClr val="E3F1EF"/>
          </a:solidFill>
          <a:ln w="12700">
            <a:solidFill>
              <a:srgbClr val="E3F1EF"/>
            </a:solidFill>
            <a:prstDash val="solid"/>
          </a:ln>
        </p:spPr>
      </p:sp>
      <p:sp>
        <p:nvSpPr>
          <p:cNvPr id="8" name="Text 6"/>
          <p:cNvSpPr txBox="1"/>
          <p:nvPr/>
        </p:nvSpPr>
        <p:spPr>
          <a:xfrm>
            <a:off x="3154680" y="1828800"/>
            <a:ext cx="1271016" cy="685800"/>
          </a:xfrm>
          <a:prstGeom prst="rect">
            <a:avLst/>
          </a:prstGeom>
          <a:noFill/>
          <a:ln/>
        </p:spPr>
        <p:txBody>
          <a:bodyPr wrap="square" lIns="0" tIns="0" rIns="0" bIns="0" rtlCol="0" anchor="ctr"/>
          <a:lstStyle/>
          <a:p>
            <a:pPr algn="ctr" indent="0" marL="0">
              <a:buNone/>
            </a:pPr>
            <a:r>
              <a:rPr lang="en-US" sz="1500" b="1" dirty="0">
                <a:solidFill>
                  <a:srgbClr val="0F766E"/>
                </a:solidFill>
                <a:latin typeface="Malgun Gothic" pitchFamily="34" charset="0"/>
                <a:ea typeface="Malgun Gothic" pitchFamily="34" charset="-122"/>
                <a:cs typeface="Malgun Gothic" pitchFamily="34" charset="-120"/>
              </a:rPr>
              <a:t>M1 수신</a:t>
            </a:r>
            <a:endParaRPr lang="en-US" sz="1500" dirty="0"/>
          </a:p>
        </p:txBody>
      </p:sp>
      <p:sp>
        <p:nvSpPr>
          <p:cNvPr id="9" name="Shape 7"/>
          <p:cNvSpPr/>
          <p:nvPr/>
        </p:nvSpPr>
        <p:spPr>
          <a:xfrm>
            <a:off x="4480560" y="1828800"/>
            <a:ext cx="1271016" cy="685800"/>
          </a:xfrm>
          <a:prstGeom prst="rect">
            <a:avLst/>
          </a:prstGeom>
          <a:solidFill>
            <a:srgbClr val="0F766E"/>
          </a:solidFill>
          <a:ln w="12700">
            <a:solidFill>
              <a:srgbClr val="0F766E"/>
            </a:solidFill>
            <a:prstDash val="solid"/>
          </a:ln>
        </p:spPr>
      </p:sp>
      <p:sp>
        <p:nvSpPr>
          <p:cNvPr id="10" name="Text 8"/>
          <p:cNvSpPr txBox="1"/>
          <p:nvPr/>
        </p:nvSpPr>
        <p:spPr>
          <a:xfrm>
            <a:off x="4480560" y="1828800"/>
            <a:ext cx="1271016" cy="68580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M0 수신</a:t>
            </a:r>
            <a:endParaRPr lang="en-US" sz="1500" dirty="0"/>
          </a:p>
        </p:txBody>
      </p:sp>
      <p:sp>
        <p:nvSpPr>
          <p:cNvPr id="11" name="Shape 9"/>
          <p:cNvSpPr/>
          <p:nvPr/>
        </p:nvSpPr>
        <p:spPr>
          <a:xfrm>
            <a:off x="5806440" y="1828800"/>
            <a:ext cx="1271016" cy="685800"/>
          </a:xfrm>
          <a:prstGeom prst="rect">
            <a:avLst/>
          </a:prstGeom>
          <a:solidFill>
            <a:srgbClr val="E3F1EF"/>
          </a:solidFill>
          <a:ln w="12700">
            <a:solidFill>
              <a:srgbClr val="E3F1EF"/>
            </a:solidFill>
            <a:prstDash val="solid"/>
          </a:ln>
        </p:spPr>
      </p:sp>
      <p:sp>
        <p:nvSpPr>
          <p:cNvPr id="12" name="Text 10"/>
          <p:cNvSpPr txBox="1"/>
          <p:nvPr/>
        </p:nvSpPr>
        <p:spPr>
          <a:xfrm>
            <a:off x="5806440" y="1828800"/>
            <a:ext cx="1271016" cy="685800"/>
          </a:xfrm>
          <a:prstGeom prst="rect">
            <a:avLst/>
          </a:prstGeom>
          <a:noFill/>
          <a:ln/>
        </p:spPr>
        <p:txBody>
          <a:bodyPr wrap="square" lIns="0" tIns="0" rIns="0" bIns="0" rtlCol="0" anchor="ctr"/>
          <a:lstStyle/>
          <a:p>
            <a:pPr algn="ctr" indent="0" marL="0">
              <a:buNone/>
            </a:pPr>
            <a:r>
              <a:rPr lang="en-US" sz="1500" b="1" dirty="0">
                <a:solidFill>
                  <a:srgbClr val="0F766E"/>
                </a:solidFill>
                <a:latin typeface="Malgun Gothic" pitchFamily="34" charset="0"/>
                <a:ea typeface="Malgun Gothic" pitchFamily="34" charset="-122"/>
                <a:cs typeface="Malgun Gothic" pitchFamily="34" charset="-120"/>
              </a:rPr>
              <a:t>M1 수신</a:t>
            </a:r>
            <a:endParaRPr lang="en-US" sz="1500" dirty="0"/>
          </a:p>
        </p:txBody>
      </p:sp>
      <p:sp>
        <p:nvSpPr>
          <p:cNvPr id="13" name="Shape 11"/>
          <p:cNvSpPr/>
          <p:nvPr/>
        </p:nvSpPr>
        <p:spPr>
          <a:xfrm>
            <a:off x="3154680" y="2697480"/>
            <a:ext cx="1271016" cy="685800"/>
          </a:xfrm>
          <a:prstGeom prst="rect">
            <a:avLst/>
          </a:prstGeom>
          <a:solidFill>
            <a:srgbClr val="FFFFFF"/>
          </a:solidFill>
          <a:ln w="19050">
            <a:solidFill>
              <a:srgbClr val="0F766E"/>
            </a:solidFill>
            <a:prstDash val="solid"/>
          </a:ln>
        </p:spPr>
      </p:sp>
      <p:sp>
        <p:nvSpPr>
          <p:cNvPr id="14" name="Text 12"/>
          <p:cNvSpPr txBox="1"/>
          <p:nvPr/>
        </p:nvSpPr>
        <p:spPr>
          <a:xfrm>
            <a:off x="3154680" y="2697480"/>
            <a:ext cx="1271016" cy="685800"/>
          </a:xfrm>
          <a:prstGeom prst="rect">
            <a:avLst/>
          </a:prstGeom>
          <a:noFill/>
          <a:ln/>
        </p:spPr>
        <p:txBody>
          <a:bodyPr wrap="square" lIns="0" tIns="0" rIns="0" bIns="0" rtlCol="0" anchor="ctr"/>
          <a:lstStyle/>
          <a:p>
            <a:pPr algn="ctr" indent="0" marL="0">
              <a:buNone/>
            </a:pPr>
            <a:r>
              <a:rPr lang="en-US" sz="1500" dirty="0">
                <a:solidFill>
                  <a:srgbClr val="0F766E"/>
                </a:solidFill>
                <a:latin typeface="Malgun Gothic" pitchFamily="34" charset="0"/>
                <a:ea typeface="Malgun Gothic" pitchFamily="34" charset="-122"/>
                <a:cs typeface="Malgun Gothic" pitchFamily="34" charset="-120"/>
              </a:rPr>
              <a:t>M0 처리</a:t>
            </a:r>
            <a:endParaRPr lang="en-US" sz="1500" dirty="0"/>
          </a:p>
        </p:txBody>
      </p:sp>
      <p:sp>
        <p:nvSpPr>
          <p:cNvPr id="15" name="Shape 13"/>
          <p:cNvSpPr/>
          <p:nvPr/>
        </p:nvSpPr>
        <p:spPr>
          <a:xfrm>
            <a:off x="4480560" y="2697480"/>
            <a:ext cx="1271016" cy="685800"/>
          </a:xfrm>
          <a:prstGeom prst="rect">
            <a:avLst/>
          </a:prstGeom>
          <a:solidFill>
            <a:srgbClr val="FFFFFF"/>
          </a:solidFill>
          <a:ln w="19050">
            <a:solidFill>
              <a:srgbClr val="9FCFC9"/>
            </a:solidFill>
            <a:prstDash val="solid"/>
          </a:ln>
        </p:spPr>
      </p:sp>
      <p:sp>
        <p:nvSpPr>
          <p:cNvPr id="16" name="Text 14"/>
          <p:cNvSpPr txBox="1"/>
          <p:nvPr/>
        </p:nvSpPr>
        <p:spPr>
          <a:xfrm>
            <a:off x="4480560" y="2697480"/>
            <a:ext cx="1271016" cy="685800"/>
          </a:xfrm>
          <a:prstGeom prst="rect">
            <a:avLst/>
          </a:prstGeom>
          <a:noFill/>
          <a:ln/>
        </p:spPr>
        <p:txBody>
          <a:bodyPr wrap="square" lIns="0" tIns="0" rIns="0" bIns="0" rtlCol="0" anchor="ctr"/>
          <a:lstStyle/>
          <a:p>
            <a:pPr algn="ctr" indent="0" marL="0">
              <a:buNone/>
            </a:pPr>
            <a:r>
              <a:rPr lang="en-US" sz="1500" dirty="0">
                <a:solidFill>
                  <a:srgbClr val="0F766E"/>
                </a:solidFill>
                <a:latin typeface="Malgun Gothic" pitchFamily="34" charset="0"/>
                <a:ea typeface="Malgun Gothic" pitchFamily="34" charset="-122"/>
                <a:cs typeface="Malgun Gothic" pitchFamily="34" charset="-120"/>
              </a:rPr>
              <a:t>M1 처리</a:t>
            </a:r>
            <a:endParaRPr lang="en-US" sz="1500" dirty="0"/>
          </a:p>
        </p:txBody>
      </p:sp>
      <p:sp>
        <p:nvSpPr>
          <p:cNvPr id="17" name="Shape 15"/>
          <p:cNvSpPr/>
          <p:nvPr/>
        </p:nvSpPr>
        <p:spPr>
          <a:xfrm>
            <a:off x="5806440" y="2697480"/>
            <a:ext cx="1271016" cy="685800"/>
          </a:xfrm>
          <a:prstGeom prst="rect">
            <a:avLst/>
          </a:prstGeom>
          <a:solidFill>
            <a:srgbClr val="FFFFFF"/>
          </a:solidFill>
          <a:ln w="19050">
            <a:solidFill>
              <a:srgbClr val="0F766E"/>
            </a:solidFill>
            <a:prstDash val="solid"/>
          </a:ln>
        </p:spPr>
      </p:sp>
      <p:sp>
        <p:nvSpPr>
          <p:cNvPr id="18" name="Text 16"/>
          <p:cNvSpPr txBox="1"/>
          <p:nvPr/>
        </p:nvSpPr>
        <p:spPr>
          <a:xfrm>
            <a:off x="5806440" y="2697480"/>
            <a:ext cx="1271016" cy="685800"/>
          </a:xfrm>
          <a:prstGeom prst="rect">
            <a:avLst/>
          </a:prstGeom>
          <a:noFill/>
          <a:ln/>
        </p:spPr>
        <p:txBody>
          <a:bodyPr wrap="square" lIns="0" tIns="0" rIns="0" bIns="0" rtlCol="0" anchor="ctr"/>
          <a:lstStyle/>
          <a:p>
            <a:pPr algn="ctr" indent="0" marL="0">
              <a:buNone/>
            </a:pPr>
            <a:r>
              <a:rPr lang="en-US" sz="1500" dirty="0">
                <a:solidFill>
                  <a:srgbClr val="0F766E"/>
                </a:solidFill>
                <a:latin typeface="Malgun Gothic" pitchFamily="34" charset="0"/>
                <a:ea typeface="Malgun Gothic" pitchFamily="34" charset="-122"/>
                <a:cs typeface="Malgun Gothic" pitchFamily="34" charset="-120"/>
              </a:rPr>
              <a:t>M0 처리</a:t>
            </a:r>
            <a:endParaRPr lang="en-US" sz="1500" dirty="0"/>
          </a:p>
        </p:txBody>
      </p:sp>
      <p:sp>
        <p:nvSpPr>
          <p:cNvPr id="19" name="Shape 17"/>
          <p:cNvSpPr/>
          <p:nvPr/>
        </p:nvSpPr>
        <p:spPr>
          <a:xfrm>
            <a:off x="1828800" y="3611880"/>
            <a:ext cx="5248656" cy="0"/>
          </a:xfrm>
          <a:prstGeom prst="line">
            <a:avLst/>
          </a:prstGeom>
          <a:noFill/>
          <a:ln w="12700">
            <a:solidFill>
              <a:srgbClr val="8A94A3"/>
            </a:solidFill>
            <a:prstDash val="solid"/>
            <a:tailEnd type="triangle"/>
          </a:ln>
        </p:spPr>
      </p:sp>
      <p:sp>
        <p:nvSpPr>
          <p:cNvPr id="20" name="Text 18"/>
          <p:cNvSpPr txBox="1"/>
          <p:nvPr/>
        </p:nvSpPr>
        <p:spPr>
          <a:xfrm>
            <a:off x="7132320" y="3474720"/>
            <a:ext cx="548640" cy="274320"/>
          </a:xfrm>
          <a:prstGeom prst="rect">
            <a:avLst/>
          </a:prstGeom>
          <a:noFill/>
          <a:ln/>
        </p:spPr>
        <p:txBody>
          <a:bodyPr wrap="square" lIns="0" tIns="0" rIns="0" bIns="0" rtlCol="0" anchor="t"/>
          <a:lstStyle/>
          <a:p>
            <a:pPr indent="0" marL="0">
              <a:buNone/>
            </a:pPr>
            <a:r>
              <a:rPr lang="en-US" sz="1200" dirty="0">
                <a:solidFill>
                  <a:srgbClr val="5F6B7A"/>
                </a:solidFill>
                <a:latin typeface="Malgun Gothic" pitchFamily="34" charset="0"/>
                <a:ea typeface="Malgun Gothic" pitchFamily="34" charset="-122"/>
                <a:cs typeface="Malgun Gothic" pitchFamily="34" charset="-120"/>
              </a:rPr>
              <a:t>시간</a:t>
            </a:r>
            <a:endParaRPr lang="en-US" sz="1200" dirty="0"/>
          </a:p>
        </p:txBody>
      </p:sp>
      <p:sp>
        <p:nvSpPr>
          <p:cNvPr id="21" name="Text 19"/>
          <p:cNvSpPr txBox="1"/>
          <p:nvPr/>
        </p:nvSpPr>
        <p:spPr>
          <a:xfrm>
            <a:off x="548640" y="4114800"/>
            <a:ext cx="6675120" cy="1097280"/>
          </a:xfrm>
          <a:prstGeom prst="rect">
            <a:avLst/>
          </a:prstGeom>
          <a:noFill/>
          <a:ln/>
        </p:spPr>
        <p:txBody>
          <a:bodyPr wrap="square" lIns="0" tIns="0" rIns="0" bIns="0" rtlCol="0" anchor="t"/>
          <a:lstStyle/>
          <a:p>
            <a:pPr indent="0" marL="0">
              <a:lnSpc>
                <a:spcPct val="140000"/>
              </a:lnSpc>
              <a:buNone/>
            </a:pPr>
            <a:r>
              <a:rPr lang="en-US" sz="1600" dirty="0">
                <a:solidFill>
                  <a:srgbClr val="5F6B7A"/>
                </a:solidFill>
                <a:latin typeface="Malgun Gothic" pitchFamily="34" charset="0"/>
                <a:ea typeface="Malgun Gothic" pitchFamily="34" charset="-122"/>
                <a:cs typeface="Malgun Gothic" pitchFamily="34" charset="-120"/>
              </a:rPr>
              <a:t>M0, M1은 각 4,096 B. 한쪽이 차면 하드웨어가 다른 쪽으로 전환합니다.</a:t>
            </a:r>
            <a:endParaRPr lang="en-US" sz="1600" dirty="0"/>
          </a:p>
          <a:p>
            <a:pPr indent="0" marL="0">
              <a:lnSpc>
                <a:spcPct val="140000"/>
              </a:lnSpc>
              <a:buNone/>
            </a:pPr>
            <a:r>
              <a:rPr lang="en-US" sz="1600" dirty="0">
                <a:solidFill>
                  <a:srgbClr val="5F6B7A"/>
                </a:solidFill>
                <a:latin typeface="Malgun Gothic" pitchFamily="34" charset="0"/>
                <a:ea typeface="Malgun Gothic" pitchFamily="34" charset="-122"/>
                <a:cs typeface="Malgun Gothic" pitchFamily="34" charset="-120"/>
              </a:rPr>
              <a:t>처리: CRC 확인 → (64 KiB 경계면) 블록 삭제 → 페이지 쓰기 → 재읽기 비교 → ACK</a:t>
            </a:r>
            <a:endParaRPr lang="en-US" sz="1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680960" y="1783080"/>
          <a:ext cx="3959352" cy="914400"/>
        </p:xfrm>
        <a:graphic>
          <a:graphicData uri="http://schemas.openxmlformats.org/drawingml/2006/table">
            <a:tbl>
              <a:tblPr/>
              <a:tblGrid>
                <a:gridCol w="1143000"/>
                <a:gridCol w="2816352"/>
              </a:tblGrid>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PC 연결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ST-LINK 가상 COM, USART1 PA9 / PB7</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프레임</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8N1 (데이터 8비트, 패리티 없음, 정지 1비트)</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속도</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921600 baud</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RX</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4 KiB × 2, DMA Double Buffer Mode</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부분 수신</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NDTR로 받은 길이 계산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TX</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4 KiB × 2, UART TX DMA</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흐름 제어</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청크 CRC와 ACK, 최대 2청크 전송</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3,145,782 B 파일은 0x000000부터 49개 블록 범위에 저장됩니다</a:t>
            </a:r>
            <a:endParaRPr lang="en-US" sz="2600" dirty="0"/>
          </a:p>
        </p:txBody>
      </p:sp>
      <p:sp>
        <p:nvSpPr>
          <p:cNvPr id="3" name="Shape 1"/>
          <p:cNvSpPr/>
          <p:nvPr/>
        </p:nvSpPr>
        <p:spPr>
          <a:xfrm>
            <a:off x="548640" y="2103120"/>
            <a:ext cx="8318897" cy="731520"/>
          </a:xfrm>
          <a:prstGeom prst="rect">
            <a:avLst/>
          </a:prstGeom>
          <a:solidFill>
            <a:srgbClr val="0F766E"/>
          </a:solidFill>
          <a:ln w="12700">
            <a:solidFill>
              <a:srgbClr val="0F766E"/>
            </a:solidFill>
            <a:prstDash val="solid"/>
          </a:ln>
        </p:spPr>
      </p:sp>
      <p:sp>
        <p:nvSpPr>
          <p:cNvPr id="4" name="Text 2"/>
          <p:cNvSpPr txBox="1"/>
          <p:nvPr/>
        </p:nvSpPr>
        <p:spPr>
          <a:xfrm>
            <a:off x="731520" y="2103120"/>
            <a:ext cx="3657600" cy="731520"/>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BMP 파일 3,145,782 B</a:t>
            </a:r>
            <a:endParaRPr lang="en-US" sz="1600" dirty="0"/>
          </a:p>
        </p:txBody>
      </p:sp>
      <p:sp>
        <p:nvSpPr>
          <p:cNvPr id="5" name="Shape 3"/>
          <p:cNvSpPr/>
          <p:nvPr/>
        </p:nvSpPr>
        <p:spPr>
          <a:xfrm>
            <a:off x="8867537" y="2103120"/>
            <a:ext cx="173165" cy="731520"/>
          </a:xfrm>
          <a:prstGeom prst="rect">
            <a:avLst/>
          </a:prstGeom>
          <a:solidFill>
            <a:srgbClr val="9FCFC9"/>
          </a:solidFill>
          <a:ln w="12700">
            <a:solidFill>
              <a:srgbClr val="9FCFC9"/>
            </a:solidFill>
            <a:prstDash val="solid"/>
          </a:ln>
        </p:spPr>
      </p:sp>
      <p:sp>
        <p:nvSpPr>
          <p:cNvPr id="6" name="Shape 4"/>
          <p:cNvSpPr/>
          <p:nvPr/>
        </p:nvSpPr>
        <p:spPr>
          <a:xfrm>
            <a:off x="9040701" y="2103120"/>
            <a:ext cx="2426303" cy="731520"/>
          </a:xfrm>
          <a:prstGeom prst="rect">
            <a:avLst/>
          </a:prstGeom>
          <a:solidFill>
            <a:srgbClr val="F3F5F7"/>
          </a:solidFill>
          <a:ln w="12700">
            <a:solidFill>
              <a:srgbClr val="D5DAE0"/>
            </a:solidFill>
            <a:prstDash val="solid"/>
          </a:ln>
        </p:spPr>
      </p:sp>
      <p:sp>
        <p:nvSpPr>
          <p:cNvPr id="7" name="Text 5"/>
          <p:cNvSpPr txBox="1"/>
          <p:nvPr/>
        </p:nvSpPr>
        <p:spPr>
          <a:xfrm>
            <a:off x="9132141" y="2103120"/>
            <a:ext cx="2194560" cy="731520"/>
          </a:xfrm>
          <a:prstGeom prst="rect">
            <a:avLst/>
          </a:prstGeom>
          <a:noFill/>
          <a:ln/>
        </p:spPr>
        <p:txBody>
          <a:bodyPr wrap="square" lIns="0" tIns="0" rIns="0" bIns="0" rtlCol="0" anchor="ctr"/>
          <a:lstStyle/>
          <a:p>
            <a:pPr algn="ctr" indent="0" marL="0">
              <a:buNone/>
            </a:pPr>
            <a:r>
              <a:rPr lang="en-US" sz="1300" dirty="0">
                <a:solidFill>
                  <a:srgbClr val="5F6B7A"/>
                </a:solidFill>
                <a:latin typeface="Malgun Gothic" pitchFamily="34" charset="0"/>
                <a:ea typeface="Malgun Gothic" pitchFamily="34" charset="-122"/>
                <a:cs typeface="Malgun Gothic" pitchFamily="34" charset="-120"/>
              </a:rPr>
              <a:t>이미지 영역 나머지</a:t>
            </a:r>
            <a:endParaRPr lang="en-US" sz="1300" dirty="0"/>
          </a:p>
        </p:txBody>
      </p:sp>
      <p:sp>
        <p:nvSpPr>
          <p:cNvPr id="8" name="Shape 6"/>
          <p:cNvSpPr/>
          <p:nvPr/>
        </p:nvSpPr>
        <p:spPr>
          <a:xfrm>
            <a:off x="11467005" y="2103120"/>
            <a:ext cx="173307" cy="731520"/>
          </a:xfrm>
          <a:prstGeom prst="rect">
            <a:avLst/>
          </a:prstGeom>
          <a:solidFill>
            <a:srgbClr val="FFFFFF"/>
          </a:solidFill>
          <a:ln w="12700">
            <a:solidFill>
              <a:srgbClr val="D5DAE0"/>
            </a:solidFill>
            <a:prstDash val="solid"/>
          </a:ln>
        </p:spPr>
      </p:sp>
      <p:sp>
        <p:nvSpPr>
          <p:cNvPr id="9" name="Text 7"/>
          <p:cNvSpPr txBox="1"/>
          <p:nvPr/>
        </p:nvSpPr>
        <p:spPr>
          <a:xfrm>
            <a:off x="548640" y="1737360"/>
            <a:ext cx="1371600" cy="274320"/>
          </a:xfrm>
          <a:prstGeom prst="rect">
            <a:avLst/>
          </a:prstGeom>
          <a:noFill/>
          <a:ln/>
        </p:spPr>
        <p:txBody>
          <a:bodyPr wrap="square" lIns="0" tIns="0" rIns="0" bIns="0" rtlCol="0" anchor="t"/>
          <a:lstStyle/>
          <a:p>
            <a:pPr indent="0" marL="0">
              <a:buNone/>
            </a:pPr>
            <a:r>
              <a:rPr lang="en-US" sz="1300" dirty="0">
                <a:solidFill>
                  <a:srgbClr val="5F6B7A"/>
                </a:solidFill>
                <a:latin typeface="Consolas" pitchFamily="34" charset="0"/>
                <a:ea typeface="Consolas" pitchFamily="34" charset="-122"/>
                <a:cs typeface="Consolas" pitchFamily="34" charset="-120"/>
              </a:rPr>
              <a:t>0x000000</a:t>
            </a:r>
            <a:endParaRPr lang="en-US" sz="1300" dirty="0"/>
          </a:p>
        </p:txBody>
      </p:sp>
      <p:sp>
        <p:nvSpPr>
          <p:cNvPr id="10" name="Text 8"/>
          <p:cNvSpPr txBox="1"/>
          <p:nvPr/>
        </p:nvSpPr>
        <p:spPr>
          <a:xfrm>
            <a:off x="6855857" y="1737360"/>
            <a:ext cx="2011680" cy="274320"/>
          </a:xfrm>
          <a:prstGeom prst="rect">
            <a:avLst/>
          </a:prstGeom>
          <a:noFill/>
          <a:ln/>
        </p:spPr>
        <p:txBody>
          <a:bodyPr wrap="square" lIns="0" tIns="0" rIns="0" bIns="0" rtlCol="0" anchor="t"/>
          <a:lstStyle/>
          <a:p>
            <a:pPr algn="r" indent="0" marL="0">
              <a:buNone/>
            </a:pPr>
            <a:r>
              <a:rPr lang="en-US" sz="1300" dirty="0">
                <a:solidFill>
                  <a:srgbClr val="5F6B7A"/>
                </a:solidFill>
                <a:latin typeface="Malgun Gothic" pitchFamily="34" charset="0"/>
                <a:ea typeface="Malgun Gothic" pitchFamily="34" charset="-122"/>
                <a:cs typeface="Malgun Gothic" pitchFamily="34" charset="-120"/>
              </a:rPr>
              <a:t>0x300035 파일 끝</a:t>
            </a:r>
            <a:endParaRPr lang="en-US" sz="1300" dirty="0"/>
          </a:p>
        </p:txBody>
      </p:sp>
      <p:sp>
        <p:nvSpPr>
          <p:cNvPr id="11" name="Text 9"/>
          <p:cNvSpPr txBox="1"/>
          <p:nvPr/>
        </p:nvSpPr>
        <p:spPr>
          <a:xfrm>
            <a:off x="9628632" y="1737360"/>
            <a:ext cx="2011680" cy="274320"/>
          </a:xfrm>
          <a:prstGeom prst="rect">
            <a:avLst/>
          </a:prstGeom>
          <a:noFill/>
          <a:ln/>
        </p:spPr>
        <p:txBody>
          <a:bodyPr wrap="square" lIns="0" tIns="0" rIns="0" bIns="0" rtlCol="0" anchor="t"/>
          <a:lstStyle/>
          <a:p>
            <a:pPr algn="r" indent="0" marL="0">
              <a:buNone/>
            </a:pPr>
            <a:r>
              <a:rPr lang="en-US" sz="1300" dirty="0">
                <a:solidFill>
                  <a:srgbClr val="5F6B7A"/>
                </a:solidFill>
                <a:latin typeface="Malgun Gothic" pitchFamily="34" charset="0"/>
                <a:ea typeface="Malgun Gothic" pitchFamily="34" charset="-122"/>
                <a:cs typeface="Malgun Gothic" pitchFamily="34" charset="-120"/>
              </a:rPr>
              <a:t>0x3FFFFF (4 MiB)</a:t>
            </a:r>
            <a:endParaRPr lang="en-US" sz="1300" dirty="0"/>
          </a:p>
        </p:txBody>
      </p:sp>
      <p:sp>
        <p:nvSpPr>
          <p:cNvPr id="12" name="Shape 10"/>
          <p:cNvSpPr/>
          <p:nvPr/>
        </p:nvSpPr>
        <p:spPr>
          <a:xfrm>
            <a:off x="548640" y="3063240"/>
            <a:ext cx="8492061" cy="0"/>
          </a:xfrm>
          <a:prstGeom prst="line">
            <a:avLst/>
          </a:prstGeom>
          <a:noFill/>
          <a:ln w="19050">
            <a:solidFill>
              <a:srgbClr val="0F766E"/>
            </a:solidFill>
            <a:prstDash val="solid"/>
          </a:ln>
        </p:spPr>
      </p:sp>
      <p:sp>
        <p:nvSpPr>
          <p:cNvPr id="13" name="Shape 11"/>
          <p:cNvSpPr/>
          <p:nvPr/>
        </p:nvSpPr>
        <p:spPr>
          <a:xfrm>
            <a:off x="548640" y="2971800"/>
            <a:ext cx="0" cy="182880"/>
          </a:xfrm>
          <a:prstGeom prst="line">
            <a:avLst/>
          </a:prstGeom>
          <a:noFill/>
          <a:ln w="19050">
            <a:solidFill>
              <a:srgbClr val="0F766E"/>
            </a:solidFill>
            <a:prstDash val="solid"/>
          </a:ln>
        </p:spPr>
      </p:sp>
      <p:sp>
        <p:nvSpPr>
          <p:cNvPr id="14" name="Shape 12"/>
          <p:cNvSpPr/>
          <p:nvPr/>
        </p:nvSpPr>
        <p:spPr>
          <a:xfrm>
            <a:off x="9040701" y="2971800"/>
            <a:ext cx="0" cy="182880"/>
          </a:xfrm>
          <a:prstGeom prst="line">
            <a:avLst/>
          </a:prstGeom>
          <a:noFill/>
          <a:ln w="19050">
            <a:solidFill>
              <a:srgbClr val="0F766E"/>
            </a:solidFill>
            <a:prstDash val="solid"/>
          </a:ln>
        </p:spPr>
      </p:sp>
      <p:sp>
        <p:nvSpPr>
          <p:cNvPr id="15" name="Text 13"/>
          <p:cNvSpPr txBox="1"/>
          <p:nvPr/>
        </p:nvSpPr>
        <p:spPr>
          <a:xfrm>
            <a:off x="548640" y="3200400"/>
            <a:ext cx="7772400" cy="320040"/>
          </a:xfrm>
          <a:prstGeom prst="rect">
            <a:avLst/>
          </a:prstGeom>
          <a:noFill/>
          <a:ln/>
        </p:spPr>
        <p:txBody>
          <a:bodyPr wrap="square" lIns="0" tIns="0" rIns="0" bIns="0" rtlCol="0" anchor="t"/>
          <a:lstStyle/>
          <a:p>
            <a:pPr indent="0" marL="0">
              <a:buNone/>
            </a:pPr>
            <a:r>
              <a:rPr lang="en-US" sz="1400" b="1" dirty="0">
                <a:solidFill>
                  <a:srgbClr val="0F766E"/>
                </a:solidFill>
                <a:latin typeface="Malgun Gothic" pitchFamily="34" charset="0"/>
                <a:ea typeface="Malgun Gothic" pitchFamily="34" charset="-122"/>
                <a:cs typeface="Malgun Gothic" pitchFamily="34" charset="-120"/>
              </a:rPr>
              <a:t>삭제 범위 3,211,264 B = 64 KiB × 49블록 (0x000000–0x30FFFF)</a:t>
            </a:r>
            <a:endParaRPr lang="en-US" sz="1400" dirty="0"/>
          </a:p>
        </p:txBody>
      </p:sp>
      <p:sp>
        <p:nvSpPr>
          <p:cNvPr id="16" name="Text 14"/>
          <p:cNvSpPr txBox="1"/>
          <p:nvPr/>
        </p:nvSpPr>
        <p:spPr>
          <a:xfrm>
            <a:off x="8897112" y="2926080"/>
            <a:ext cx="2606040" cy="274320"/>
          </a:xfrm>
          <a:prstGeom prst="rect">
            <a:avLst/>
          </a:prstGeom>
          <a:noFill/>
          <a:ln/>
        </p:spPr>
        <p:txBody>
          <a:bodyPr wrap="square" lIns="0" tIns="0" rIns="0" bIns="0" rtlCol="0" anchor="t"/>
          <a:lstStyle/>
          <a:p>
            <a:pPr algn="r" indent="0" marL="0">
              <a:buNone/>
            </a:pPr>
            <a:r>
              <a:rPr lang="en-US" sz="1300" dirty="0">
                <a:solidFill>
                  <a:srgbClr val="5F6B7A"/>
                </a:solidFill>
                <a:latin typeface="Malgun Gothic" pitchFamily="34" charset="0"/>
                <a:ea typeface="Malgun Gothic" pitchFamily="34" charset="-122"/>
                <a:cs typeface="Malgun Gothic" pitchFamily="34" charset="-120"/>
              </a:rPr>
              <a:t>0x3EFFFF 이미지 영역 끝</a:t>
            </a:r>
            <a:endParaRPr lang="en-US" sz="1300" dirty="0"/>
          </a:p>
        </p:txBody>
      </p:sp>
      <p:sp>
        <p:nvSpPr>
          <p:cNvPr id="17" name="Text 15"/>
          <p:cNvSpPr txBox="1"/>
          <p:nvPr/>
        </p:nvSpPr>
        <p:spPr>
          <a:xfrm>
            <a:off x="548640" y="4069080"/>
            <a:ext cx="2651760" cy="548640"/>
          </a:xfrm>
          <a:prstGeom prst="rect">
            <a:avLst/>
          </a:prstGeom>
          <a:noFill/>
          <a:ln/>
        </p:spPr>
        <p:txBody>
          <a:bodyPr wrap="square" lIns="0" tIns="0" rIns="0" bIns="0" rtlCol="0" anchor="t"/>
          <a:lstStyle/>
          <a:p>
            <a:pPr indent="0" marL="0">
              <a:buNone/>
            </a:pPr>
            <a:r>
              <a:rPr lang="en-US" sz="2800" b="1" dirty="0">
                <a:solidFill>
                  <a:srgbClr val="0F766E"/>
                </a:solidFill>
                <a:latin typeface="Malgun Gothic" pitchFamily="34" charset="0"/>
                <a:ea typeface="Malgun Gothic" pitchFamily="34" charset="-122"/>
                <a:cs typeface="Malgun Gothic" pitchFamily="34" charset="-120"/>
              </a:rPr>
              <a:t>12,289회</a:t>
            </a:r>
            <a:endParaRPr lang="en-US" sz="2800" dirty="0"/>
          </a:p>
        </p:txBody>
      </p:sp>
      <p:sp>
        <p:nvSpPr>
          <p:cNvPr id="18" name="Text 16"/>
          <p:cNvSpPr txBox="1"/>
          <p:nvPr/>
        </p:nvSpPr>
        <p:spPr>
          <a:xfrm>
            <a:off x="548640" y="4663440"/>
            <a:ext cx="2651760" cy="731520"/>
          </a:xfrm>
          <a:prstGeom prst="rect">
            <a:avLst/>
          </a:prstGeom>
          <a:noFill/>
          <a:ln/>
        </p:spPr>
        <p:txBody>
          <a:bodyPr wrap="square" lIns="0" tIns="0" rIns="0" bIns="0" rtlCol="0" anchor="t"/>
          <a:lstStyle/>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256 B 페이지 쓰기</a:t>
            </a:r>
            <a:endParaRPr lang="en-US" sz="1400" dirty="0"/>
          </a:p>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(3,145,782 ÷ 256, 올림)</a:t>
            </a:r>
            <a:endParaRPr lang="en-US" sz="1400" dirty="0"/>
          </a:p>
        </p:txBody>
      </p:sp>
      <p:sp>
        <p:nvSpPr>
          <p:cNvPr id="19" name="Text 17"/>
          <p:cNvSpPr txBox="1"/>
          <p:nvPr/>
        </p:nvSpPr>
        <p:spPr>
          <a:xfrm>
            <a:off x="3383280" y="4069080"/>
            <a:ext cx="2651760" cy="548640"/>
          </a:xfrm>
          <a:prstGeom prst="rect">
            <a:avLst/>
          </a:prstGeom>
          <a:noFill/>
          <a:ln/>
        </p:spPr>
        <p:txBody>
          <a:bodyPr wrap="square" lIns="0" tIns="0" rIns="0" bIns="0" rtlCol="0" anchor="t"/>
          <a:lstStyle/>
          <a:p>
            <a:pPr indent="0" marL="0">
              <a:buNone/>
            </a:pPr>
            <a:r>
              <a:rPr lang="en-US" sz="2800" b="1" dirty="0">
                <a:solidFill>
                  <a:srgbClr val="0F766E"/>
                </a:solidFill>
                <a:latin typeface="Malgun Gothic" pitchFamily="34" charset="0"/>
                <a:ea typeface="Malgun Gothic" pitchFamily="34" charset="-122"/>
                <a:cs typeface="Malgun Gothic" pitchFamily="34" charset="-120"/>
              </a:rPr>
              <a:t>49블록</a:t>
            </a:r>
            <a:endParaRPr lang="en-US" sz="2800" dirty="0"/>
          </a:p>
        </p:txBody>
      </p:sp>
      <p:sp>
        <p:nvSpPr>
          <p:cNvPr id="20" name="Text 18"/>
          <p:cNvSpPr txBox="1"/>
          <p:nvPr/>
        </p:nvSpPr>
        <p:spPr>
          <a:xfrm>
            <a:off x="3383280" y="4663440"/>
            <a:ext cx="2651760" cy="731520"/>
          </a:xfrm>
          <a:prstGeom prst="rect">
            <a:avLst/>
          </a:prstGeom>
          <a:noFill/>
          <a:ln/>
        </p:spPr>
        <p:txBody>
          <a:bodyPr wrap="square" lIns="0" tIns="0" rIns="0" bIns="0" rtlCol="0" anchor="t"/>
          <a:lstStyle/>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64 KiB 경계에 닿을 때마다</a:t>
            </a:r>
            <a:endParaRPr lang="en-US" sz="1400" dirty="0"/>
          </a:p>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수신 중에 삭제</a:t>
            </a:r>
            <a:endParaRPr lang="en-US" sz="1400" dirty="0"/>
          </a:p>
        </p:txBody>
      </p:sp>
      <p:sp>
        <p:nvSpPr>
          <p:cNvPr id="21" name="Text 19"/>
          <p:cNvSpPr txBox="1"/>
          <p:nvPr/>
        </p:nvSpPr>
        <p:spPr>
          <a:xfrm>
            <a:off x="6217920" y="4069080"/>
            <a:ext cx="2651760" cy="548640"/>
          </a:xfrm>
          <a:prstGeom prst="rect">
            <a:avLst/>
          </a:prstGeom>
          <a:noFill/>
          <a:ln/>
        </p:spPr>
        <p:txBody>
          <a:bodyPr wrap="square" lIns="0" tIns="0" rIns="0" bIns="0" rtlCol="0" anchor="t"/>
          <a:lstStyle/>
          <a:p>
            <a:pPr indent="0" marL="0">
              <a:buNone/>
            </a:pPr>
            <a:r>
              <a:rPr lang="en-US" sz="2800" b="1" dirty="0">
                <a:solidFill>
                  <a:srgbClr val="0F766E"/>
                </a:solidFill>
                <a:latin typeface="Malgun Gothic" pitchFamily="34" charset="0"/>
                <a:ea typeface="Malgun Gothic" pitchFamily="34" charset="-122"/>
                <a:cs typeface="Malgun Gothic" pitchFamily="34" charset="-120"/>
              </a:rPr>
              <a:t>4 KiB × 2</a:t>
            </a:r>
            <a:endParaRPr lang="en-US" sz="2800" dirty="0"/>
          </a:p>
        </p:txBody>
      </p:sp>
      <p:sp>
        <p:nvSpPr>
          <p:cNvPr id="22" name="Text 20"/>
          <p:cNvSpPr txBox="1"/>
          <p:nvPr/>
        </p:nvSpPr>
        <p:spPr>
          <a:xfrm>
            <a:off x="6217920" y="4663440"/>
            <a:ext cx="2651760" cy="731520"/>
          </a:xfrm>
          <a:prstGeom prst="rect">
            <a:avLst/>
          </a:prstGeom>
          <a:noFill/>
          <a:ln/>
        </p:spPr>
        <p:txBody>
          <a:bodyPr wrap="square" lIns="0" tIns="0" rIns="0" bIns="0" rtlCol="0" anchor="t"/>
          <a:lstStyle/>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RAM에는 청크 버퍼만 둠</a:t>
            </a:r>
            <a:endParaRPr lang="en-US" sz="1400" dirty="0"/>
          </a:p>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SRAM 320 KiB &lt; 이미지 3 MiB</a:t>
            </a:r>
            <a:endParaRPr lang="en-US" sz="1400" dirty="0"/>
          </a:p>
        </p:txBody>
      </p:sp>
      <p:sp>
        <p:nvSpPr>
          <p:cNvPr id="23" name="Text 21"/>
          <p:cNvSpPr txBox="1"/>
          <p:nvPr/>
        </p:nvSpPr>
        <p:spPr>
          <a:xfrm>
            <a:off x="9052560" y="4069080"/>
            <a:ext cx="2651760" cy="548640"/>
          </a:xfrm>
          <a:prstGeom prst="rect">
            <a:avLst/>
          </a:prstGeom>
          <a:noFill/>
          <a:ln/>
        </p:spPr>
        <p:txBody>
          <a:bodyPr wrap="square" lIns="0" tIns="0" rIns="0" bIns="0" rtlCol="0" anchor="t"/>
          <a:lstStyle/>
          <a:p>
            <a:pPr indent="0" marL="0">
              <a:buNone/>
            </a:pPr>
            <a:r>
              <a:rPr lang="en-US" sz="2800" b="1" dirty="0">
                <a:solidFill>
                  <a:srgbClr val="0F766E"/>
                </a:solidFill>
                <a:latin typeface="Malgun Gothic" pitchFamily="34" charset="0"/>
                <a:ea typeface="Malgun Gothic" pitchFamily="34" charset="-122"/>
                <a:cs typeface="Malgun Gothic" pitchFamily="34" charset="-120"/>
              </a:rPr>
              <a:t>백업 없음</a:t>
            </a:r>
            <a:endParaRPr lang="en-US" sz="2800" dirty="0"/>
          </a:p>
        </p:txBody>
      </p:sp>
      <p:sp>
        <p:nvSpPr>
          <p:cNvPr id="24" name="Text 22"/>
          <p:cNvSpPr txBox="1"/>
          <p:nvPr/>
        </p:nvSpPr>
        <p:spPr>
          <a:xfrm>
            <a:off x="9052560" y="4663440"/>
            <a:ext cx="2651760" cy="731520"/>
          </a:xfrm>
          <a:prstGeom prst="rect">
            <a:avLst/>
          </a:prstGeom>
          <a:noFill/>
          <a:ln/>
        </p:spPr>
        <p:txBody>
          <a:bodyPr wrap="square" lIns="0" tIns="0" rIns="0" bIns="0" rtlCol="0" anchor="t"/>
          <a:lstStyle/>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10-15 변경: 삭제 범위의</a:t>
            </a:r>
            <a:endParaRPr lang="en-US" sz="1400" dirty="0"/>
          </a:p>
          <a:p>
            <a:pPr indent="0" marL="0">
              <a:lnSpc>
                <a:spcPct val="120000"/>
              </a:lnSpc>
              <a:buNone/>
            </a:pPr>
            <a:r>
              <a:rPr lang="en-US" sz="1400" dirty="0">
                <a:solidFill>
                  <a:srgbClr val="5F6B7A"/>
                </a:solidFill>
                <a:latin typeface="Malgun Gothic" pitchFamily="34" charset="0"/>
                <a:ea typeface="Malgun Gothic" pitchFamily="34" charset="-122"/>
                <a:cs typeface="Malgun Gothic" pitchFamily="34" charset="-120"/>
              </a:rPr>
              <a:t>기존 내용은 덮어씀</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청크마다 Flash를 다시 읽어 비교한 뒤에만 ACK를 보냅니다</a:t>
            </a:r>
            <a:endParaRPr lang="en-US" sz="2600" dirty="0"/>
          </a:p>
        </p:txBody>
      </p:sp>
      <p:sp>
        <p:nvSpPr>
          <p:cNvPr id="3" name="Shape 1"/>
          <p:cNvSpPr/>
          <p:nvPr/>
        </p:nvSpPr>
        <p:spPr>
          <a:xfrm>
            <a:off x="548640" y="1371600"/>
            <a:ext cx="7589520" cy="4800600"/>
          </a:xfrm>
          <a:prstGeom prst="rect">
            <a:avLst/>
          </a:prstGeom>
          <a:solidFill>
            <a:srgbClr val="F3F5F7"/>
          </a:solidFill>
          <a:ln w="12700">
            <a:solidFill>
              <a:srgbClr val="F3F5F7"/>
            </a:solidFill>
            <a:prstDash val="solid"/>
          </a:ln>
        </p:spPr>
      </p:sp>
      <p:sp>
        <p:nvSpPr>
          <p:cNvPr id="4" name="code"/>
          <p:cNvSpPr txBox="1"/>
          <p:nvPr/>
        </p:nvSpPr>
        <p:spPr>
          <a:xfrm>
            <a:off x="685800" y="1481328"/>
            <a:ext cx="7315200" cy="4581144"/>
          </a:xfrm>
          <a:prstGeom prst="rect">
            <a:avLst/>
          </a:prstGeom>
          <a:noFill/>
          <a:ln/>
        </p:spPr>
        <p:txBody>
          <a:bodyPr wrap="none" lIns="0" tIns="0" rIns="0" bIns="0" rtlCol="0" anchor="t"/>
          <a:lstStyle/>
          <a:p>
            <a:pPr indent="0" marL="0">
              <a:lnSpc>
                <a:spcPct val="120000"/>
              </a:lnSpc>
              <a:buNone/>
            </a:pPr>
            <a:r>
              <a:rPr lang="en-US" sz="1050" b="1" dirty="0">
                <a:solidFill>
                  <a:srgbClr val="5F6B7A"/>
                </a:solidFill>
                <a:latin typeface="Malgun Gothic" pitchFamily="34" charset="0"/>
                <a:ea typeface="Malgun Gothic" pitchFamily="34" charset="-122"/>
                <a:cs typeface="Malgun Gothic" pitchFamily="34" charset="-120"/>
              </a:rPr>
              <a:t>Core/Src/uart_flash_test.c — receive_file()</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257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if (UartDmaRx_Read(crc_header, 4, 5000) != HAL_OK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258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UartDmaRx_Read(file_buffer, count, 5000) != HAL_OK)</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260  </a:t>
            </a:r>
            <a:pPr indent="0" marL="0">
              <a:lnSpc>
                <a:spcPct val="120000"/>
              </a:lnSpc>
              <a:buNone/>
            </a:pPr>
            <a:r>
              <a:rPr lang="en-US" sz="1050" dirty="0">
                <a:solidFill>
                  <a:srgbClr val="1F2933"/>
                </a:solidFill>
                <a:latin typeface="Consolas" pitchFamily="34" charset="0"/>
                <a:ea typeface="Consolas" pitchFamily="34" charset="-122"/>
                <a:cs typeface="Consolas" pitchFamily="34" charset="-120"/>
              </a:rPr>
              <a:t>    send_line("ERROR file receive timeout or DMA overrun\n");</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263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if (crc32(file_buffer, count) != get_u32(crc_header))</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265  </a:t>
            </a:r>
            <a:pPr indent="0" marL="0">
              <a:lnSpc>
                <a:spcPct val="120000"/>
              </a:lnSpc>
              <a:buNone/>
            </a:pPr>
            <a:r>
              <a:rPr lang="en-US" sz="1050" dirty="0">
                <a:solidFill>
                  <a:srgbClr val="1F2933"/>
                </a:solidFill>
                <a:latin typeface="Consolas" pitchFamily="34" charset="0"/>
                <a:ea typeface="Consolas" pitchFamily="34" charset="-122"/>
                <a:cs typeface="Consolas" pitchFamily="34" charset="-120"/>
              </a:rPr>
              <a:t>    send_line("ERROR file chunk CRC\n");</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268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if ((offset &amp; (BLOCK_BYTES - 1U)) == 0 &amp;&amp;</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269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FlashTest_EraseBlock64(flash, offset) != HAL_OK)</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279  </a:t>
            </a:r>
            <a:pPr indent="0" marL="0">
              <a:lnSpc>
                <a:spcPct val="120000"/>
              </a:lnSpc>
              <a:buNone/>
            </a:pPr>
            <a:r>
              <a:rPr lang="en-US" sz="1050" dirty="0">
                <a:solidFill>
                  <a:srgbClr val="1F2933"/>
                </a:solidFill>
                <a:latin typeface="Consolas" pitchFamily="34" charset="0"/>
                <a:ea typeface="Consolas" pitchFamily="34" charset="-122"/>
                <a:cs typeface="Consolas" pitchFamily="34" charset="-120"/>
              </a:rPr>
              <a:t>    if (FlashTest_ProgramPage(flash, offset + page, file_buffer + page, n) != HAL_OK)</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285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if (FlashTest_Read(flash, offset, sector, count) != HAL_OK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286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memcmp(file_buffer, sector, count) != 0)</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288  </a:t>
            </a:r>
            <a:pPr indent="0" marL="0">
              <a:lnSpc>
                <a:spcPct val="120000"/>
              </a:lnSpc>
              <a:buNone/>
            </a:pPr>
            <a:r>
              <a:rPr lang="en-US" sz="1050" dirty="0">
                <a:solidFill>
                  <a:srgbClr val="1F2933"/>
                </a:solidFill>
                <a:latin typeface="Consolas" pitchFamily="34" charset="0"/>
                <a:ea typeface="Consolas" pitchFamily="34" charset="-122"/>
                <a:cs typeface="Consolas" pitchFamily="34" charset="-120"/>
              </a:rPr>
              <a:t>    send_line("ERROR file flash verification\n");</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291  </a:t>
            </a:r>
            <a:pPr indent="0" marL="0">
              <a:lnSpc>
                <a:spcPct val="120000"/>
              </a:lnSpc>
              <a:buNone/>
            </a:pPr>
            <a:r>
              <a:rPr lang="en-US" sz="1050" dirty="0">
                <a:solidFill>
                  <a:srgbClr val="1F2933"/>
                </a:solidFill>
                <a:latin typeface="Consolas" pitchFamily="34" charset="0"/>
                <a:ea typeface="Consolas" pitchFamily="34" charset="-122"/>
                <a:cs typeface="Consolas" pitchFamily="34" charset="-120"/>
              </a:rPr>
              <a:t>  crc = crc32_update(crc, sector, count);</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293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  snprintf(line, sizeof(line), "ACK %lu\n", (unsigned long)(offset + count));</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297  </a:t>
            </a:r>
            <a:pPr indent="0" marL="0">
              <a:lnSpc>
                <a:spcPct val="120000"/>
              </a:lnSpc>
              <a:buNone/>
            </a:pPr>
            <a:r>
              <a:rPr lang="en-US" sz="1050" b="1" dirty="0">
                <a:solidFill>
                  <a:srgbClr val="0F766E"/>
                </a:solidFill>
                <a:latin typeface="Consolas" pitchFamily="34" charset="0"/>
                <a:ea typeface="Consolas" pitchFamily="34" charset="-122"/>
                <a:cs typeface="Consolas" pitchFamily="34" charset="-120"/>
              </a:rPr>
              <a:t>if (crc != expected_crc)</a:t>
            </a:r>
            <a:endParaRPr lang="en-US" sz="1050" dirty="0"/>
          </a:p>
          <a:p>
            <a:pPr indent="0" marL="0">
              <a:lnSpc>
                <a:spcPct val="120000"/>
              </a:lnSpc>
              <a:buNone/>
            </a:pPr>
            <a:r>
              <a:rPr lang="en-US" sz="1050" dirty="0">
                <a:solidFill>
                  <a:srgbClr val="8A94A3"/>
                </a:solidFill>
                <a:latin typeface="Consolas" pitchFamily="34" charset="0"/>
                <a:ea typeface="Consolas" pitchFamily="34" charset="-122"/>
                <a:cs typeface="Consolas" pitchFamily="34" charset="-120"/>
              </a:rPr>
              <a:t> 299  </a:t>
            </a:r>
            <a:pPr indent="0" marL="0">
              <a:lnSpc>
                <a:spcPct val="120000"/>
              </a:lnSpc>
              <a:buNone/>
            </a:pPr>
            <a:r>
              <a:rPr lang="en-US" sz="1050" dirty="0">
                <a:solidFill>
                  <a:srgbClr val="1F2933"/>
                </a:solidFill>
                <a:latin typeface="Consolas" pitchFamily="34" charset="0"/>
                <a:ea typeface="Consolas" pitchFamily="34" charset="-122"/>
                <a:cs typeface="Consolas" pitchFamily="34" charset="-120"/>
              </a:rPr>
              <a:t>  send_line("ERROR complete file CRC\n");</a:t>
            </a:r>
            <a:endParaRPr lang="en-US" sz="1050" dirty="0"/>
          </a:p>
        </p:txBody>
      </p:sp>
      <p:sp>
        <p:nvSpPr>
          <p:cNvPr id="5" name="Text 3"/>
          <p:cNvSpPr txBox="1"/>
          <p:nvPr/>
        </p:nvSpPr>
        <p:spPr>
          <a:xfrm>
            <a:off x="8412480" y="1417320"/>
            <a:ext cx="3227832" cy="4572000"/>
          </a:xfrm>
          <a:prstGeom prst="rect">
            <a:avLst/>
          </a:prstGeom>
          <a:noFill/>
          <a:ln/>
        </p:spPr>
        <p:txBody>
          <a:bodyPr wrap="square" lIns="0" tIns="0" rIns="0" bIns="0" rtlCol="0" anchor="t"/>
          <a:lstStyle/>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257–258행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DMA 수신 시간 초과나 버퍼 초과면 바로 중단</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263행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청크 CRC가 다르면 Flash에 쓰기 전에 중단</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268–269행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64 KiB 경계에 닿을 때만 블록 삭제</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285–286행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쓴 영역을 다시 읽어 받은 데이터와 memcmp</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291–293행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재읽은 데이터로 CRC를 누적하고, 여기까지 통과해야 ACK 송신</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297행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마지막에 파일 전체 CRC를 PC가 보낸 값과 비교</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DMA 버퍼 초과는 펌웨어가 세고, Demo는 0회가 아니면 실패로 처리합니다</a:t>
            </a:r>
            <a:endParaRPr lang="en-US" sz="2600" dirty="0"/>
          </a:p>
        </p:txBody>
      </p:sp>
      <p:sp>
        <p:nvSpPr>
          <p:cNvPr id="3" name="Shape 1"/>
          <p:cNvSpPr/>
          <p:nvPr/>
        </p:nvSpPr>
        <p:spPr>
          <a:xfrm>
            <a:off x="548640" y="1371600"/>
            <a:ext cx="7589520" cy="4800600"/>
          </a:xfrm>
          <a:prstGeom prst="rect">
            <a:avLst/>
          </a:prstGeom>
          <a:solidFill>
            <a:srgbClr val="F3F5F7"/>
          </a:solidFill>
          <a:ln w="12700">
            <a:solidFill>
              <a:srgbClr val="F3F5F7"/>
            </a:solidFill>
            <a:prstDash val="solid"/>
          </a:ln>
        </p:spPr>
      </p:sp>
      <p:sp>
        <p:nvSpPr>
          <p:cNvPr id="4" name="code"/>
          <p:cNvSpPr txBox="1"/>
          <p:nvPr/>
        </p:nvSpPr>
        <p:spPr>
          <a:xfrm>
            <a:off x="685800" y="1481328"/>
            <a:ext cx="7315200" cy="4581144"/>
          </a:xfrm>
          <a:prstGeom prst="rect">
            <a:avLst/>
          </a:prstGeom>
          <a:noFill/>
          <a:ln/>
        </p:spPr>
        <p:txBody>
          <a:bodyPr wrap="none" lIns="0" tIns="0" rIns="0" bIns="0" rtlCol="0" anchor="t"/>
          <a:lstStyle/>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pc/bmp_store.py — send_file()</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103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Two chunks in flight: receive buffer B can fill while A is stored.</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104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while sent &lt; len(data) and len(pending) &lt; 2:</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111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if line != f"ACK {expected}":</a:t>
            </a:r>
            <a:endParaRPr lang="en-US" sz="1100" dirty="0"/>
          </a:p>
          <a:p>
            <a:pPr indent="0" marL="0">
              <a:lnSpc>
                <a:spcPct val="120000"/>
              </a:lnSpc>
              <a:buNone/>
            </a:pPr>
            <a:r>
              <a:rPr lang="en-US" sz="600" dirty="0">
                <a:solidFill>
                  <a:srgbClr val="000000"/>
                </a:solidFill>
              </a:rPr>
              <a:t> </a:t>
            </a:r>
            <a:endParaRPr lang="en-US" sz="1100" dirty="0"/>
          </a:p>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Core/Src/uart_dma_rx.c</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54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if (bank != (completed_blocks &amp; 1U))</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57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++overrun_count;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131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uint32_t available = produced_count() - consumed;</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134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  if (available &gt; TOTAL_BYTES)</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137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++overrun_count;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151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 Fail rather than accept a copy that DMA may have overwritten.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152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    if (produced_count() - consumed &gt; TOTAL_BYTES)</a:t>
            </a:r>
            <a:endParaRPr lang="en-US" sz="1100" dirty="0"/>
          </a:p>
          <a:p>
            <a:pPr indent="0" marL="0">
              <a:lnSpc>
                <a:spcPct val="120000"/>
              </a:lnSpc>
              <a:buNone/>
            </a:pPr>
            <a:r>
              <a:rPr lang="en-US" sz="600" dirty="0">
                <a:solidFill>
                  <a:srgbClr val="000000"/>
                </a:solidFill>
              </a:rPr>
              <a:t> </a:t>
            </a:r>
            <a:endParaRPr lang="en-US" sz="1100" dirty="0"/>
          </a:p>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pc/demo_roundtrip.py</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54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a, b, overruns = dma_stats(port)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55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if overruns: raise TestError("DMA 버퍼 초과가 발생했습니다.")</a:t>
            </a:r>
            <a:endParaRPr lang="en-US" sz="1100" dirty="0"/>
          </a:p>
        </p:txBody>
      </p:sp>
      <p:sp>
        <p:nvSpPr>
          <p:cNvPr id="5" name="Text 3"/>
          <p:cNvSpPr txBox="1"/>
          <p:nvPr/>
        </p:nvSpPr>
        <p:spPr>
          <a:xfrm>
            <a:off x="8412480" y="1417320"/>
            <a:ext cx="3227832" cy="4572000"/>
          </a:xfrm>
          <a:prstGeom prst="rect">
            <a:avLst/>
          </a:prstGeom>
          <a:noFill/>
          <a:ln/>
        </p:spPr>
        <p:txBody>
          <a:bodyPr wrap="square" lIns="0" tIns="0" rIns="0" bIns="0" rtlCol="0" anchor="t"/>
          <a:lstStyle/>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bmp_store.py 104행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PC는 ACK를 받지 않은 청크를 최대 2개까지만 보냄 (수신 버퍼 2개)</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uart_dma_rx.c 54행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DMA 완료 은행 순서가 어긋나면 초과로 기록</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134 · 152행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읽지 않은 데이터가 버퍼 전체(8 KiB)를 넘으면 오류. 복사 후에도 한 번 더 확인</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demo_roundtrip.py 55행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Demo 끝에 통계를 요청해 초과가 1회라도 있으면 실패</a:t>
            </a:r>
            <a:endParaRPr lang="en-US" sz="1600" dirty="0"/>
          </a:p>
        </p:txBody>
      </p:sp>
      <p:sp>
        <p:nvSpPr>
          <p:cNvPr id="6" name="Shape 4"/>
          <p:cNvSpPr/>
          <p:nvPr/>
        </p:nvSpPr>
        <p:spPr>
          <a:xfrm>
            <a:off x="8412480" y="5074920"/>
            <a:ext cx="3227832" cy="1097280"/>
          </a:xfrm>
          <a:prstGeom prst="rect">
            <a:avLst/>
          </a:prstGeom>
          <a:solidFill>
            <a:srgbClr val="E3F1EF"/>
          </a:solidFill>
          <a:ln w="12700">
            <a:solidFill>
              <a:srgbClr val="E3F1EF"/>
            </a:solidFill>
            <a:prstDash val="solid"/>
          </a:ln>
        </p:spPr>
      </p:sp>
      <p:sp>
        <p:nvSpPr>
          <p:cNvPr id="7" name="Text 5"/>
          <p:cNvSpPr txBox="1"/>
          <p:nvPr/>
        </p:nvSpPr>
        <p:spPr>
          <a:xfrm>
            <a:off x="8549640" y="5148072"/>
            <a:ext cx="2971800" cy="960120"/>
          </a:xfrm>
          <a:prstGeom prst="rect">
            <a:avLst/>
          </a:prstGeom>
          <a:noFill/>
          <a:ln/>
        </p:spPr>
        <p:txBody>
          <a:bodyPr wrap="square" lIns="0" tIns="0" rIns="0" bIns="0" rtlCol="0" anchor="t"/>
          <a:lstStyle/>
          <a:p>
            <a:pPr indent="0" marL="0">
              <a:lnSpc>
                <a:spcPct val="115000"/>
              </a:lnSpc>
              <a:buNone/>
            </a:pPr>
            <a:r>
              <a:rPr lang="en-US" sz="1300" b="1" dirty="0">
                <a:solidFill>
                  <a:srgbClr val="0F766E"/>
                </a:solidFill>
                <a:latin typeface="Malgun Gothic" pitchFamily="34" charset="0"/>
                <a:ea typeface="Malgun Gothic" pitchFamily="34" charset="-122"/>
                <a:cs typeface="Malgun Gothic" pitchFamily="34" charset="-120"/>
              </a:rPr>
              <a:t>기록된 값 (2026-10-15 저장 5회)</a:t>
            </a:r>
            <a:endParaRPr lang="en-US" sz="1600" dirty="0"/>
          </a:p>
          <a:p>
            <a:pPr indent="0" marL="0">
              <a:lnSpc>
                <a:spcPct val="115000"/>
              </a:lnSpc>
              <a:buNone/>
            </a:pPr>
            <a:r>
              <a:rPr lang="en-US" sz="1400" b="1" dirty="0">
                <a:solidFill>
                  <a:srgbClr val="1F2933"/>
                </a:solidFill>
                <a:latin typeface="Malgun Gothic" pitchFamily="34" charset="0"/>
                <a:ea typeface="Malgun Gothic" pitchFamily="34" charset="-122"/>
                <a:cs typeface="Malgun Gothic" pitchFamily="34" charset="-120"/>
              </a:rPr>
              <a:t>M0 384회 · M1 384회 · 초과 0회</a:t>
            </a:r>
            <a:endParaRPr lang="en-US" sz="1600" dirty="0"/>
          </a:p>
          <a:p>
            <a:pPr indent="0" marL="0">
              <a:lnSpc>
                <a:spcPct val="115000"/>
              </a:lnSpc>
              <a:buNone/>
            </a:pPr>
            <a:r>
              <a:rPr lang="en-US" sz="1100" dirty="0">
                <a:solidFill>
                  <a:srgbClr val="5F6B7A"/>
                </a:solidFill>
                <a:latin typeface="Malgun Gothic" pitchFamily="34" charset="0"/>
                <a:ea typeface="Malgun Gothic" pitchFamily="34" charset="-122"/>
                <a:cs typeface="Malgun Gothic" pitchFamily="34" charset="-120"/>
              </a:rPr>
              <a:t>demo_report_20261015_*.json</a:t>
            </a:r>
            <a:endParaRPr lang="en-US" sz="16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Flash 명령은 상태 레지스터를 다시 읽어 확인한 뒤 다음 단계로 넘어갑니다</a:t>
            </a:r>
            <a:endParaRPr lang="en-US" sz="2600" dirty="0"/>
          </a:p>
        </p:txBody>
      </p:sp>
      <p:sp>
        <p:nvSpPr>
          <p:cNvPr id="3" name="Shape 1"/>
          <p:cNvSpPr/>
          <p:nvPr/>
        </p:nvSpPr>
        <p:spPr>
          <a:xfrm>
            <a:off x="548640" y="1371600"/>
            <a:ext cx="7589520" cy="4800600"/>
          </a:xfrm>
          <a:prstGeom prst="rect">
            <a:avLst/>
          </a:prstGeom>
          <a:solidFill>
            <a:srgbClr val="F3F5F7"/>
          </a:solidFill>
          <a:ln w="12700">
            <a:solidFill>
              <a:srgbClr val="F3F5F7"/>
            </a:solidFill>
            <a:prstDash val="solid"/>
          </a:ln>
        </p:spPr>
      </p:sp>
      <p:sp>
        <p:nvSpPr>
          <p:cNvPr id="4" name="code"/>
          <p:cNvSpPr txBox="1"/>
          <p:nvPr/>
        </p:nvSpPr>
        <p:spPr>
          <a:xfrm>
            <a:off x="685800" y="1481328"/>
            <a:ext cx="7315200" cy="4581144"/>
          </a:xfrm>
          <a:prstGeom prst="rect">
            <a:avLst/>
          </a:prstGeom>
          <a:noFill/>
          <a:ln/>
        </p:spPr>
        <p:txBody>
          <a:bodyPr wrap="none" lIns="0" tIns="0" rIns="0" bIns="0" rtlCol="0" anchor="t"/>
          <a:lstStyle/>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Core/Src/flash_test.c</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66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HAL_StatusTypeDef status = read_data(qspi, 0x05, 0, &amp;sr1, 1, 0);</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69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  if ((sr1 &amp; 0x01U) == 0)</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70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return HAL_OK;</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79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HAL_StatusTypeDef status = send_command(qspi, 0x06, 0, 0);</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83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status = read_data(qspi, 0x05, 0, &amp;sr1, 1, 0);</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86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return ((sr1 &amp; 0x03U) == 0x02U) ? HAL_OK : HAL_ERROR;</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102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if (count == 0 || count &gt; PAGE_BYTES || address &gt;= 0x1000000U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103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count &gt; 0x1000000U - address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104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    (address &amp; (PAGE_BYTES - 1U)) + count &gt; PAGE_BYTES)</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105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return HAL_ERROR;</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118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return wait_ready(qspi, 100);</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231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HAL_StatusTypeDef status = wait_ready(qspi, 5000);</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233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status = write_enable(qspi);</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235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status = send_command(qspi, 0xD8, address, 1);</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237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  status = wait_ready(qspi, 5000);</a:t>
            </a:r>
            <a:endParaRPr lang="en-US" sz="1100" dirty="0"/>
          </a:p>
        </p:txBody>
      </p:sp>
      <p:sp>
        <p:nvSpPr>
          <p:cNvPr id="5" name="Text 3"/>
          <p:cNvSpPr txBox="1"/>
          <p:nvPr/>
        </p:nvSpPr>
        <p:spPr>
          <a:xfrm>
            <a:off x="8412480" y="1417320"/>
            <a:ext cx="3227832" cy="960120"/>
          </a:xfrm>
          <a:prstGeom prst="rect">
            <a:avLst/>
          </a:prstGeom>
          <a:noFill/>
          <a:ln/>
        </p:spPr>
        <p:txBody>
          <a:bodyPr wrap="square" lIns="0" tIns="0" rIns="0" bIns="0" rtlCol="0" anchor="t"/>
          <a:lstStyle/>
          <a:p>
            <a:pPr indent="0" marL="0">
              <a:lnSpc>
                <a:spcPct val="125000"/>
              </a:lnSpc>
              <a:buNone/>
            </a:pPr>
            <a:r>
              <a:rPr lang="en-US" sz="1300" b="1" dirty="0">
                <a:solidFill>
                  <a:srgbClr val="1F2933"/>
                </a:solidFill>
                <a:latin typeface="Malgun Gothic" pitchFamily="34" charset="0"/>
                <a:ea typeface="Malgun Gothic" pitchFamily="34" charset="-122"/>
                <a:cs typeface="Malgun Gothic" pitchFamily="34" charset="-120"/>
              </a:rPr>
              <a:t>삭제  </a:t>
            </a:r>
            <a:pPr indent="0" marL="0">
              <a:lnSpc>
                <a:spcPct val="125000"/>
              </a:lnSpc>
              <a:buNone/>
            </a:pPr>
            <a:r>
              <a:rPr lang="en-US" sz="1300" dirty="0">
                <a:solidFill>
                  <a:srgbClr val="1F2933"/>
                </a:solidFill>
                <a:latin typeface="Consolas" pitchFamily="34" charset="0"/>
                <a:ea typeface="Consolas" pitchFamily="34" charset="-122"/>
                <a:cs typeface="Consolas" pitchFamily="34" charset="-120"/>
              </a:rPr>
              <a:t>05h → 06h·WEL → D8h → 05h</a:t>
            </a:r>
            <a:endParaRPr lang="en-US" sz="1300" dirty="0"/>
          </a:p>
          <a:p>
            <a:pPr indent="0" marL="0">
              <a:lnSpc>
                <a:spcPct val="125000"/>
              </a:lnSpc>
              <a:buNone/>
            </a:pPr>
            <a:r>
              <a:rPr lang="en-US" sz="1300" b="1" dirty="0">
                <a:solidFill>
                  <a:srgbClr val="1F2933"/>
                </a:solidFill>
                <a:latin typeface="Malgun Gothic" pitchFamily="34" charset="0"/>
                <a:ea typeface="Malgun Gothic" pitchFamily="34" charset="-122"/>
                <a:cs typeface="Malgun Gothic" pitchFamily="34" charset="-120"/>
              </a:rPr>
              <a:t>쓰기  </a:t>
            </a:r>
            <a:pPr indent="0" marL="0">
              <a:lnSpc>
                <a:spcPct val="125000"/>
              </a:lnSpc>
              <a:buNone/>
            </a:pPr>
            <a:r>
              <a:rPr lang="en-US" sz="1300" dirty="0">
                <a:solidFill>
                  <a:srgbClr val="1F2933"/>
                </a:solidFill>
                <a:latin typeface="Consolas" pitchFamily="34" charset="0"/>
                <a:ea typeface="Consolas" pitchFamily="34" charset="-122"/>
                <a:cs typeface="Consolas" pitchFamily="34" charset="-120"/>
              </a:rPr>
              <a:t>06h·WEL → 02h → 05h</a:t>
            </a:r>
            <a:endParaRPr lang="en-US" sz="1300" dirty="0"/>
          </a:p>
          <a:p>
            <a:pPr indent="0" marL="0">
              <a:lnSpc>
                <a:spcPct val="125000"/>
              </a:lnSpc>
              <a:buNone/>
            </a:pPr>
            <a:r>
              <a:rPr lang="en-US" sz="1300" b="1" dirty="0">
                <a:solidFill>
                  <a:srgbClr val="1F2933"/>
                </a:solidFill>
                <a:latin typeface="Malgun Gothic" pitchFamily="34" charset="0"/>
                <a:ea typeface="Malgun Gothic" pitchFamily="34" charset="-122"/>
                <a:cs typeface="Malgun Gothic" pitchFamily="34" charset="-120"/>
              </a:rPr>
              <a:t>읽기  </a:t>
            </a:r>
            <a:pPr indent="0" marL="0">
              <a:lnSpc>
                <a:spcPct val="125000"/>
              </a:lnSpc>
              <a:buNone/>
            </a:pPr>
            <a:r>
              <a:rPr lang="en-US" sz="1300" dirty="0">
                <a:solidFill>
                  <a:srgbClr val="1F2933"/>
                </a:solidFill>
                <a:latin typeface="Consolas" pitchFamily="34" charset="0"/>
                <a:ea typeface="Consolas" pitchFamily="34" charset="-122"/>
                <a:cs typeface="Consolas" pitchFamily="34" charset="-120"/>
              </a:rPr>
              <a:t>05h → 03h</a:t>
            </a:r>
            <a:endParaRPr lang="en-US" sz="1300" dirty="0"/>
          </a:p>
        </p:txBody>
      </p:sp>
      <p:sp>
        <p:nvSpPr>
          <p:cNvPr id="6" name="Text 4"/>
          <p:cNvSpPr txBox="1"/>
          <p:nvPr/>
        </p:nvSpPr>
        <p:spPr>
          <a:xfrm>
            <a:off x="8412480" y="2606040"/>
            <a:ext cx="3227832" cy="4572000"/>
          </a:xfrm>
          <a:prstGeom prst="rect">
            <a:avLst/>
          </a:prstGeom>
          <a:noFill/>
          <a:ln/>
        </p:spPr>
        <p:txBody>
          <a:bodyPr wrap="square" lIns="0" tIns="0" rIns="0" bIns="0" rtlCol="0" anchor="t"/>
          <a:lstStyle/>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69행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05h로 BUSY(bit 0)가 0이 될 때까지 대기, 시간 초과면 실패</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86행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06h 뒤 상태를 다시 읽어 WEL=1, BUSY=0인지 확인</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104행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256 B 페이지 경계를 넘는 쓰기는 거부</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118 · 231–237행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쓰기 후, 블록 삭제 전후에 BUSY 해제 대기</a:t>
            </a:r>
            <a:endParaRPr lang="en-US" sz="1600" dirty="0"/>
          </a:p>
        </p:txBody>
      </p:sp>
      <p:sp>
        <p:nvSpPr>
          <p:cNvPr id="7" name="Text 5"/>
          <p:cNvSpPr txBox="1"/>
          <p:nvPr/>
        </p:nvSpPr>
        <p:spPr>
          <a:xfrm>
            <a:off x="548640" y="6199632"/>
            <a:ext cx="11091672" cy="201168"/>
          </a:xfrm>
          <a:prstGeom prst="rect">
            <a:avLst/>
          </a:prstGeom>
          <a:noFill/>
          <a:ln/>
        </p:spPr>
        <p:txBody>
          <a:bodyPr wrap="square" lIns="0" tIns="0" rIns="0" bIns="0" rtlCol="0" anchor="t"/>
          <a:lstStyle/>
          <a:p>
            <a:pPr indent="0" marL="0">
              <a:buNone/>
            </a:pPr>
            <a:r>
              <a:rPr lang="en-US" sz="1000" dirty="0">
                <a:solidFill>
                  <a:srgbClr val="5F6B7A"/>
                </a:solidFill>
                <a:latin typeface="Malgun Gothic" pitchFamily="34" charset="0"/>
                <a:ea typeface="Malgun Gothic" pitchFamily="34" charset="-122"/>
                <a:cs typeface="Malgun Gothic" pitchFamily="34" charset="-120"/>
              </a:rPr>
              <a:t>칩 식별: main.c 75행 0x9F → EF 40 18  ·  QSPI 설정: main.c 238행 ClockPrescaler = 7, 243행 CLOCK_MODE_0</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Demo는 바이트·CRC32·SHA-256이 모두 같아야 PASS를 출력합니다</a:t>
            </a:r>
            <a:endParaRPr lang="en-US" sz="2600" dirty="0"/>
          </a:p>
        </p:txBody>
      </p:sp>
      <p:sp>
        <p:nvSpPr>
          <p:cNvPr id="3" name="Shape 1"/>
          <p:cNvSpPr/>
          <p:nvPr/>
        </p:nvSpPr>
        <p:spPr>
          <a:xfrm>
            <a:off x="548640" y="1371600"/>
            <a:ext cx="7589520" cy="4800600"/>
          </a:xfrm>
          <a:prstGeom prst="rect">
            <a:avLst/>
          </a:prstGeom>
          <a:solidFill>
            <a:srgbClr val="F3F5F7"/>
          </a:solidFill>
          <a:ln w="12700">
            <a:solidFill>
              <a:srgbClr val="F3F5F7"/>
            </a:solidFill>
            <a:prstDash val="solid"/>
          </a:ln>
        </p:spPr>
      </p:sp>
      <p:sp>
        <p:nvSpPr>
          <p:cNvPr id="4" name="code"/>
          <p:cNvSpPr txBox="1"/>
          <p:nvPr/>
        </p:nvSpPr>
        <p:spPr>
          <a:xfrm>
            <a:off x="685800" y="1481328"/>
            <a:ext cx="7315200" cy="4581144"/>
          </a:xfrm>
          <a:prstGeom prst="rect">
            <a:avLst/>
          </a:prstGeom>
          <a:noFill/>
          <a:ln/>
        </p:spPr>
        <p:txBody>
          <a:bodyPr wrap="none" lIns="0" tIns="0" rIns="0" bIns="0" rtlCol="0" anchor="t"/>
          <a:lstStyle/>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pc/demo_roundtrip.py — main()</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30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expected_crc = zlib.crc32(source) &amp; 0xFFFFFFFF</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31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expected_sha = hashlib.sha256(source).hexdigest()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45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if not args.read_only: store_ms = send_file(port, source)</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47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actual_crc = read_flash_file(port, len(source), destination)</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48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restored = destination.read_bytes()</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49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actual_sha = hashlib.sha256(restored).hexdigest()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50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equal = source == restored</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51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if not equal or actual_crc != expected_crc or actual_sha != expected_sha:</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52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raise TestError("원본과 복원 파일의 내용이 다릅니다.")</a:t>
            </a:r>
            <a:endParaRPr lang="en-US" sz="1100" dirty="0"/>
          </a:p>
          <a:p>
            <a:pPr indent="0" marL="0">
              <a:lnSpc>
                <a:spcPct val="120000"/>
              </a:lnSpc>
              <a:buNone/>
            </a:pPr>
            <a:r>
              <a:rPr lang="en-US" sz="600" dirty="0">
                <a:solidFill>
                  <a:srgbClr val="000000"/>
                </a:solidFill>
              </a:rPr>
              <a:t> </a:t>
            </a:r>
            <a:endParaRPr lang="en-US" sz="1100" dirty="0"/>
          </a:p>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Core/Src/uart_flash_test.c — stream_flash()</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221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  crc = crc32_update(crc, file_buffer, count);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228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snprintf(line, sizeof(line), "FILE DATA DONE %08lX\n",</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229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(unsigned long)(crc ^ 0xFFFFFFFFU));</a:t>
            </a:r>
            <a:endParaRPr lang="en-US" sz="1100" dirty="0"/>
          </a:p>
          <a:p>
            <a:pPr indent="0" marL="0">
              <a:lnSpc>
                <a:spcPct val="120000"/>
              </a:lnSpc>
              <a:buNone/>
            </a:pPr>
            <a:r>
              <a:rPr lang="en-US" sz="600" dirty="0">
                <a:solidFill>
                  <a:srgbClr val="000000"/>
                </a:solidFill>
              </a:rPr>
              <a:t> </a:t>
            </a:r>
            <a:endParaRPr lang="en-US" sz="1100" dirty="0"/>
          </a:p>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pc/bmp_store.py — read_flash_file()</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85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if line != f"FILE DATA DONE {crc &amp; 0xFFFFFFFF:08X}":</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86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raise TestError("Flash 읽기 CRC가 다릅니다: " + line)</a:t>
            </a:r>
            <a:endParaRPr lang="en-US" sz="1100" dirty="0"/>
          </a:p>
        </p:txBody>
      </p:sp>
      <p:sp>
        <p:nvSpPr>
          <p:cNvPr id="5" name="Text 3"/>
          <p:cNvSpPr txBox="1"/>
          <p:nvPr/>
        </p:nvSpPr>
        <p:spPr>
          <a:xfrm>
            <a:off x="8412480" y="1417320"/>
            <a:ext cx="3227832" cy="4572000"/>
          </a:xfrm>
          <a:prstGeom prst="rect">
            <a:avLst/>
          </a:prstGeom>
          <a:noFill/>
          <a:ln/>
        </p:spPr>
        <p:txBody>
          <a:bodyPr wrap="square" lIns="0" tIns="0" rIns="0" bIns="0" rtlCol="0" anchor="t"/>
          <a:lstStyle/>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45행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--read-only면 원본을 보내지 않고 Flash만 읽음</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221 · 228행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MCU가 Flash에서 읽어 보낸 데이터의 CRC를 마지막 줄로 보고</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85행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PC가 받은 데이터의 CRC와 MCU 보고값 비교</a:t>
            </a:r>
            <a:endParaRPr lang="en-US" sz="1600" dirty="0"/>
          </a:p>
          <a:p>
            <a:pPr indent="0" marL="0">
              <a:lnSpc>
                <a:spcPct val="110000"/>
              </a:lnSpc>
              <a:buNone/>
            </a:pPr>
            <a:r>
              <a:rPr lang="en-US" sz="1300" b="1" dirty="0">
                <a:solidFill>
                  <a:srgbClr val="0F766E"/>
                </a:solidFill>
                <a:latin typeface="Malgun Gothic" pitchFamily="34" charset="0"/>
                <a:ea typeface="Malgun Gothic" pitchFamily="34" charset="-122"/>
                <a:cs typeface="Malgun Gothic" pitchFamily="34" charset="-120"/>
              </a:rPr>
              <a:t>50–51행</a:t>
            </a:r>
            <a:endParaRPr lang="en-US" sz="1600" dirty="0"/>
          </a:p>
          <a:p>
            <a:pPr indent="0" marL="0">
              <a:lnSpc>
                <a:spcPct val="110000"/>
              </a:lnSpc>
              <a:spcAft>
                <a:spcPts val="900"/>
              </a:spcAft>
              <a:buNone/>
            </a:pPr>
            <a:r>
              <a:rPr lang="en-US" sz="1400" dirty="0">
                <a:solidFill>
                  <a:srgbClr val="1F2933"/>
                </a:solidFill>
                <a:latin typeface="Malgun Gothic" pitchFamily="34" charset="0"/>
                <a:ea typeface="Malgun Gothic" pitchFamily="34" charset="-122"/>
                <a:cs typeface="Malgun Gothic" pitchFamily="34" charset="-120"/>
              </a:rPr>
              <a:t>원본과 복원 파일의 바이트, CRC32, SHA-256이 모두 같아야 통과</a:t>
            </a:r>
            <a:endParaRPr lang="en-US" sz="1600" dirty="0"/>
          </a:p>
        </p:txBody>
      </p:sp>
      <p:sp>
        <p:nvSpPr>
          <p:cNvPr id="6" name="Text 4"/>
          <p:cNvSpPr txBox="1"/>
          <p:nvPr/>
        </p:nvSpPr>
        <p:spPr>
          <a:xfrm>
            <a:off x="8412480" y="5715000"/>
            <a:ext cx="3227832" cy="457200"/>
          </a:xfrm>
          <a:prstGeom prst="rect">
            <a:avLst/>
          </a:prstGeom>
          <a:noFill/>
          <a:ln/>
        </p:spPr>
        <p:txBody>
          <a:bodyPr wrap="square" lIns="0" tIns="0" rIns="0" bIns="0" rtlCol="0" anchor="t"/>
          <a:lstStyle/>
          <a:p>
            <a:pPr indent="0" marL="0">
              <a:buNone/>
            </a:pPr>
            <a:r>
              <a:rPr lang="en-US" sz="1200" dirty="0">
                <a:solidFill>
                  <a:srgbClr val="5F6B7A"/>
                </a:solidFill>
                <a:latin typeface="Malgun Gothic" pitchFamily="34" charset="0"/>
                <a:ea typeface="Malgun Gothic" pitchFamily="34" charset="-122"/>
                <a:cs typeface="Malgun Gothic" pitchFamily="34" charset="-120"/>
              </a:rPr>
              <a:t>결과는 demo_report_*.json에 byte_equal, CRC32, SHA-256, JEDEC, DMA 통계로 저장</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칩 직접 덤프와 RAM을 덮어쓴 뒤 복원 모두 원본과 일치했습니다</a:t>
            </a:r>
            <a:endParaRPr lang="en-US" sz="2600" dirty="0"/>
          </a:p>
        </p:txBody>
      </p:sp>
      <p:sp>
        <p:nvSpPr>
          <p:cNvPr id="3" name="Shape 1"/>
          <p:cNvSpPr/>
          <p:nvPr/>
        </p:nvSpPr>
        <p:spPr>
          <a:xfrm>
            <a:off x="548640" y="1325880"/>
            <a:ext cx="11091672" cy="2788920"/>
          </a:xfrm>
          <a:prstGeom prst="rect">
            <a:avLst/>
          </a:prstGeom>
          <a:solidFill>
            <a:srgbClr val="F3F5F7"/>
          </a:solidFill>
          <a:ln w="12700">
            <a:solidFill>
              <a:srgbClr val="F3F5F7"/>
            </a:solidFill>
            <a:prstDash val="solid"/>
          </a:ln>
        </p:spPr>
      </p:sp>
      <p:sp>
        <p:nvSpPr>
          <p:cNvPr id="4" name="code"/>
          <p:cNvSpPr txBox="1"/>
          <p:nvPr/>
        </p:nvSpPr>
        <p:spPr>
          <a:xfrm>
            <a:off x="685800" y="1435608"/>
            <a:ext cx="10817352" cy="2569464"/>
          </a:xfrm>
          <a:prstGeom prst="rect">
            <a:avLst/>
          </a:prstGeom>
          <a:noFill/>
          <a:ln/>
        </p:spPr>
        <p:txBody>
          <a:bodyPr wrap="none" lIns="0" tIns="0" rIns="0" bIns="0" rtlCol="0" anchor="t"/>
          <a:lstStyle/>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run_all.sh — 증명 1: ST 외부 로더로 QSPI Flash 칩 직접 덤프</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84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prog -c port=SWD mode=UR -el "$LOADER" -u 0x90000000 "$SIZE" "$TMP/qspi_dump.bin"</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85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shasum -a 256 "$TMP/qspi_dump.bin" "$INPUT"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86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cmp "$TMP/qspi_dump.bin" "$INPUT" || fail "Flash 칩 내용이 원본과 다릅니다"</a:t>
            </a:r>
            <a:endParaRPr lang="en-US" sz="1100" dirty="0"/>
          </a:p>
          <a:p>
            <a:pPr indent="0" marL="0">
              <a:lnSpc>
                <a:spcPct val="120000"/>
              </a:lnSpc>
              <a:buNone/>
            </a:pPr>
            <a:r>
              <a:rPr lang="en-US" sz="600" dirty="0">
                <a:solidFill>
                  <a:srgbClr val="000000"/>
                </a:solidFill>
              </a:rPr>
              <a:t> </a:t>
            </a:r>
            <a:endParaRPr lang="en-US" sz="1100" dirty="0"/>
          </a:p>
          <a:p>
            <a:pPr indent="0" marL="0">
              <a:lnSpc>
                <a:spcPct val="120000"/>
              </a:lnSpc>
              <a:buNone/>
            </a:pPr>
            <a:r>
              <a:rPr lang="en-US" sz="1100" b="1" dirty="0">
                <a:solidFill>
                  <a:srgbClr val="5F6B7A"/>
                </a:solidFill>
                <a:latin typeface="Malgun Gothic" pitchFamily="34" charset="0"/>
                <a:ea typeface="Malgun Gothic" pitchFamily="34" charset="-122"/>
                <a:cs typeface="Malgun Gothic" pitchFamily="34" charset="-120"/>
              </a:rPr>
              <a:t>run_all.sh — 증명 2: RAM 320 KB를 0xA5로 덮어쓴 뒤 Flash에서만 복원</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90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prog -c port=SWD mode=UR -fillmemory 0x20000000 size=0x50000 pattern=0xA5A5A5A5 dataWidth=32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91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  -r32 0x20000000 0x10 -r32 0x20027FF0 0x10 -r32 0x2004FFF0 0x10</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92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 $(grep -c "A5A5A5A5 A5A5A5A5 A5A5A5A5 A5A5A5A5" "$LOG") -eq 3 ]] || fail "RAM 덮어쓰기 확인"</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94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prog -c port=SWD mode=HOTPLUG -rst</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96  </a:t>
            </a:r>
            <a:pPr indent="0" marL="0">
              <a:lnSpc>
                <a:spcPct val="120000"/>
              </a:lnSpc>
              <a:buNone/>
            </a:pPr>
            <a:r>
              <a:rPr lang="en-US" sz="1100" b="1" dirty="0">
                <a:solidFill>
                  <a:srgbClr val="0F766E"/>
                </a:solidFill>
                <a:latin typeface="Consolas" pitchFamily="34" charset="0"/>
                <a:ea typeface="Consolas" pitchFamily="34" charset="-122"/>
                <a:cs typeface="Consolas" pitchFamily="34" charset="-120"/>
              </a:rPr>
              <a:t>python3 pc/demo_roundtrip.py --read-only</a:t>
            </a:r>
            <a:endParaRPr lang="en-US" sz="1100" dirty="0"/>
          </a:p>
          <a:p>
            <a:pPr indent="0" marL="0">
              <a:lnSpc>
                <a:spcPct val="120000"/>
              </a:lnSpc>
              <a:buNone/>
            </a:pPr>
            <a:r>
              <a:rPr lang="en-US" sz="1100" dirty="0">
                <a:solidFill>
                  <a:srgbClr val="8A94A3"/>
                </a:solidFill>
                <a:latin typeface="Consolas" pitchFamily="34" charset="0"/>
                <a:ea typeface="Consolas" pitchFamily="34" charset="-122"/>
                <a:cs typeface="Consolas" pitchFamily="34" charset="-120"/>
              </a:rPr>
              <a:t>  97  </a:t>
            </a:r>
            <a:pPr indent="0" marL="0">
              <a:lnSpc>
                <a:spcPct val="120000"/>
              </a:lnSpc>
              <a:buNone/>
            </a:pPr>
            <a:r>
              <a:rPr lang="en-US" sz="1100" dirty="0">
                <a:solidFill>
                  <a:srgbClr val="1F2933"/>
                </a:solidFill>
                <a:latin typeface="Consolas" pitchFamily="34" charset="0"/>
                <a:ea typeface="Consolas" pitchFamily="34" charset="-122"/>
                <a:cs typeface="Consolas" pitchFamily="34" charset="-120"/>
              </a:rPr>
              <a:t>python3 pc/bmp_gray.py --convert-only</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4297680"/>
          <a:ext cx="6949440" cy="914400"/>
        </p:xfrm>
        <a:graphic>
          <a:graphicData uri="http://schemas.openxmlformats.org/drawingml/2006/table">
            <a:tbl>
              <a:tblPr/>
              <a:tblGrid>
                <a:gridCol w="1828800"/>
                <a:gridCol w="5120640"/>
              </a:tblGrid>
              <a:tr h="384048">
                <a:tc>
                  <a:txBody>
                    <a:bodyP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확인</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결과</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38404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칩 직접 덤프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0x90000000부터 3,145,782 B = 원본 BMP</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38404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RAM 덮어쓰기</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처음·중간·끝 모두 0xA5 확인</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38404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읽기 전용 복원</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전체 바이트 일치, 34.6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38404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Gray 변환만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기준 변환과 일치, 20.9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6" name="Text 3"/>
          <p:cNvSpPr txBox="1"/>
          <p:nvPr/>
        </p:nvSpPr>
        <p:spPr>
          <a:xfrm>
            <a:off x="7863840" y="4297680"/>
            <a:ext cx="3776472" cy="1005840"/>
          </a:xfrm>
          <a:prstGeom prst="rect">
            <a:avLst/>
          </a:prstGeom>
          <a:noFill/>
          <a:ln/>
        </p:spPr>
        <p:txBody>
          <a:bodyPr wrap="square" lIns="0" tIns="0" rIns="0" bIns="0" rtlCol="0" anchor="t"/>
          <a:lstStyle/>
          <a:p>
            <a:pPr indent="0" marL="0">
              <a:lnSpc>
                <a:spcPct val="120000"/>
              </a:lnSpc>
              <a:buNone/>
            </a:pPr>
            <a:r>
              <a:rPr lang="en-US" sz="1400" dirty="0">
                <a:solidFill>
                  <a:srgbClr val="1F2933"/>
                </a:solidFill>
                <a:latin typeface="Malgun Gothic" pitchFamily="34" charset="0"/>
                <a:ea typeface="Malgun Gothic" pitchFamily="34" charset="-122"/>
                <a:cs typeface="Malgun Gothic" pitchFamily="34" charset="-120"/>
              </a:rPr>
              <a:t>이미지 3,145,782 B는 MCU RAM 320 KB보다 큽니다. 보드의 SDRAM은 초기화하지 않으며 MPU로 막혀 있습니다.</a:t>
            </a:r>
            <a:endParaRPr lang="en-US" sz="1400" dirty="0"/>
          </a:p>
        </p:txBody>
      </p:sp>
      <p:sp>
        <p:nvSpPr>
          <p:cNvPr id="7" name="Text 4"/>
          <p:cNvSpPr txBox="1"/>
          <p:nvPr/>
        </p:nvSpPr>
        <p:spPr>
          <a:xfrm>
            <a:off x="7863840" y="5806440"/>
            <a:ext cx="3776472" cy="274320"/>
          </a:xfrm>
          <a:prstGeom prst="rect">
            <a:avLst/>
          </a:prstGeom>
          <a:noFill/>
          <a:ln/>
        </p:spPr>
        <p:txBody>
          <a:bodyPr wrap="square" lIns="0" tIns="0" rIns="0" bIns="0" rtlCol="0" anchor="t"/>
          <a:lstStyle/>
          <a:p>
            <a:pPr indent="0" marL="0">
              <a:buNone/>
            </a:pPr>
            <a:r>
              <a:rPr lang="en-US" sz="1100" dirty="0">
                <a:solidFill>
                  <a:srgbClr val="5F6B7A"/>
                </a:solidFill>
                <a:latin typeface="Malgun Gothic" pitchFamily="34" charset="0"/>
                <a:ea typeface="Malgun Gothic" pitchFamily="34" charset="-122"/>
                <a:cs typeface="Malgun Gothic" pitchFamily="34" charset="-120"/>
              </a:rPr>
              <a:t>2026-10-15 run_all.sh 실행 · 출처: README.md</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10월 15일 보드 실행 10회 모두 원본과 3,145,782 B가 일치했습니다</a:t>
            </a:r>
            <a:endParaRPr lang="en-US" sz="2600" dirty="0"/>
          </a:p>
        </p:txBody>
      </p:sp>
      <p:sp>
        <p:nvSpPr>
          <p:cNvPr id="3" name="Text 1"/>
          <p:cNvSpPr txBox="1"/>
          <p:nvPr/>
        </p:nvSpPr>
        <p:spPr>
          <a:xfrm>
            <a:off x="548640" y="1417320"/>
            <a:ext cx="2743200" cy="320040"/>
          </a:xfrm>
          <a:prstGeom prst="rect">
            <a:avLst/>
          </a:prstGeom>
          <a:noFill/>
          <a:ln/>
        </p:spPr>
        <p:txBody>
          <a:bodyPr wrap="square" lIns="0" tIns="0" rIns="0" bIns="0" rtlCol="0" anchor="t"/>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PC 원본</a:t>
            </a:r>
            <a:endParaRPr lang="en-US" sz="1500" dirty="0"/>
          </a:p>
        </p:txBody>
      </p:sp>
      <p:sp>
        <p:nvSpPr>
          <p:cNvPr id="4" name="Text 2"/>
          <p:cNvSpPr txBox="1"/>
          <p:nvPr/>
        </p:nvSpPr>
        <p:spPr>
          <a:xfrm>
            <a:off x="3291840" y="1417320"/>
            <a:ext cx="2743200" cy="320040"/>
          </a:xfrm>
          <a:prstGeom prst="rect">
            <a:avLst/>
          </a:prstGeom>
          <a:noFill/>
          <a:ln/>
        </p:spPr>
        <p:txBody>
          <a:bodyPr wrap="square" lIns="0" tIns="0" rIns="0" bIns="0" rtlCol="0" anchor="t"/>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Flash 재읽기 파일</a:t>
            </a:r>
            <a:endParaRPr lang="en-US" sz="1500" dirty="0"/>
          </a:p>
        </p:txBody>
      </p:sp>
      <p:pic>
        <p:nvPicPr>
          <p:cNvPr id="5" name="Image 0" descr="PC 원본 BMP">    </p:cNvPr>
          <p:cNvPicPr>
            <a:picLocks noChangeAspect="1"/>
          </p:cNvPicPr>
          <p:nvPr/>
        </p:nvPicPr>
        <p:blipFill>
          <a:blip r:embed="rId1"/>
          <a:stretch>
            <a:fillRect/>
          </a:stretch>
        </p:blipFill>
        <p:spPr>
          <a:xfrm>
            <a:off x="548640" y="1828800"/>
            <a:ext cx="2560320" cy="2560320"/>
          </a:xfrm>
          <a:prstGeom prst="rect">
            <a:avLst/>
          </a:prstGeom>
        </p:spPr>
      </p:pic>
      <p:pic>
        <p:nvPicPr>
          <p:cNvPr id="6" name="Image 1" descr="Flash에서 재읽기한 BMP">    </p:cNvPr>
          <p:cNvPicPr>
            <a:picLocks noChangeAspect="1"/>
          </p:cNvPicPr>
          <p:nvPr/>
        </p:nvPicPr>
        <p:blipFill>
          <a:blip r:embed="rId2"/>
          <a:stretch>
            <a:fillRect/>
          </a:stretch>
        </p:blipFill>
        <p:spPr>
          <a:xfrm>
            <a:off x="3291840" y="1828800"/>
            <a:ext cx="2560320" cy="2560320"/>
          </a:xfrm>
          <a:prstGeom prst="rect">
            <a:avLst/>
          </a:prstGeom>
        </p:spPr>
      </p:pic>
      <p:sp>
        <p:nvSpPr>
          <p:cNvPr id="7" name="Text 3"/>
          <p:cNvSpPr txBox="1"/>
          <p:nvPr/>
        </p:nvSpPr>
        <p:spPr>
          <a:xfrm>
            <a:off x="548640" y="4572000"/>
            <a:ext cx="5303520" cy="685800"/>
          </a:xfrm>
          <a:prstGeom prst="rect">
            <a:avLst/>
          </a:prstGeom>
          <a:noFill/>
          <a:ln/>
        </p:spPr>
        <p:txBody>
          <a:bodyPr wrap="square" lIns="0" tIns="0" rIns="0" bIns="0" rtlCol="0" anchor="t"/>
          <a:lstStyle/>
          <a:p>
            <a:pPr indent="0" marL="0">
              <a:lnSpc>
                <a:spcPct val="130000"/>
              </a:lnSpc>
              <a:buNone/>
            </a:pPr>
            <a:r>
              <a:rPr lang="en-US" sz="1400" b="1" dirty="0">
                <a:solidFill>
                  <a:srgbClr val="1F2933"/>
                </a:solidFill>
                <a:latin typeface="Malgun Gothic" pitchFamily="34" charset="0"/>
                <a:ea typeface="Malgun Gothic" pitchFamily="34" charset="-122"/>
                <a:cs typeface="Malgun Gothic" pitchFamily="34" charset="-120"/>
              </a:rPr>
              <a:t>CRC32  </a:t>
            </a:r>
            <a:pPr indent="0" marL="0">
              <a:lnSpc>
                <a:spcPct val="130000"/>
              </a:lnSpc>
              <a:buNone/>
            </a:pPr>
            <a:r>
              <a:rPr lang="en-US" sz="1400" dirty="0">
                <a:solidFill>
                  <a:srgbClr val="1F2933"/>
                </a:solidFill>
                <a:latin typeface="Consolas" pitchFamily="34" charset="0"/>
                <a:ea typeface="Consolas" pitchFamily="34" charset="-122"/>
                <a:cs typeface="Consolas" pitchFamily="34" charset="-120"/>
              </a:rPr>
              <a:t>978AB7D9 = 978AB7D9</a:t>
            </a:r>
            <a:endParaRPr lang="en-US" sz="1400" dirty="0"/>
          </a:p>
          <a:p>
            <a:pPr indent="0" marL="0">
              <a:lnSpc>
                <a:spcPct val="130000"/>
              </a:lnSpc>
              <a:buNone/>
            </a:pPr>
            <a:r>
              <a:rPr lang="en-US" sz="1400" b="1" dirty="0">
                <a:solidFill>
                  <a:srgbClr val="1F2933"/>
                </a:solidFill>
                <a:latin typeface="Malgun Gothic" pitchFamily="34" charset="0"/>
                <a:ea typeface="Malgun Gothic" pitchFamily="34" charset="-122"/>
                <a:cs typeface="Malgun Gothic" pitchFamily="34" charset="-120"/>
              </a:rPr>
              <a:t>SHA-256  </a:t>
            </a:r>
            <a:pPr indent="0" marL="0">
              <a:lnSpc>
                <a:spcPct val="130000"/>
              </a:lnSpc>
              <a:buNone/>
            </a:pPr>
            <a:r>
              <a:rPr lang="en-US" sz="1400" dirty="0">
                <a:solidFill>
                  <a:srgbClr val="1F2933"/>
                </a:solidFill>
                <a:latin typeface="Consolas" pitchFamily="34" charset="0"/>
                <a:ea typeface="Consolas" pitchFamily="34" charset="-122"/>
                <a:cs typeface="Consolas" pitchFamily="34" charset="-120"/>
              </a:rPr>
              <a:t>0bfd1da3… = 0bfd1da3…</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263640" y="1828800"/>
          <a:ext cx="5376672" cy="914400"/>
        </p:xfrm>
        <a:graphic>
          <a:graphicData uri="http://schemas.openxmlformats.org/drawingml/2006/table">
            <a:tbl>
              <a:tblPr/>
              <a:tblGrid>
                <a:gridCol w="1508760"/>
                <a:gridCol w="914400"/>
                <a:gridCol w="1444752"/>
                <a:gridCol w="1508760"/>
              </a:tblGrid>
              <a:tr h="566928">
                <a:tc>
                  <a:txBody>
                    <a:bodyP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실행</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횟수</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결과</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시간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56692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저장 → 복원</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5회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b="1" dirty="0">
                          <a:solidFill>
                            <a:srgbClr val="0F766E"/>
                          </a:solidFill>
                          <a:latin typeface="Malgun Gothic" pitchFamily="34" charset="0"/>
                          <a:ea typeface="Malgun Gothic" pitchFamily="34" charset="-122"/>
                          <a:cs typeface="Malgun Gothic" pitchFamily="34" charset="-120"/>
                        </a:rPr>
                        <a:t>5회 모두 일치</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86.4–87.2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읽기 전용 복원</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5회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b="1" dirty="0">
                          <a:solidFill>
                            <a:srgbClr val="0F766E"/>
                          </a:solidFill>
                          <a:latin typeface="Malgun Gothic" pitchFamily="34" charset="0"/>
                          <a:ea typeface="Malgun Gothic" pitchFamily="34" charset="-122"/>
                          <a:cs typeface="Malgun Gothic" pitchFamily="34" charset="-120"/>
                        </a:rPr>
                        <a:t>5회 모두 일치</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34.6–35.3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6692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DMA 버퍼 초과</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5회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b="1" dirty="0">
                          <a:solidFill>
                            <a:srgbClr val="0F766E"/>
                          </a:solidFill>
                          <a:latin typeface="Malgun Gothic" pitchFamily="34" charset="0"/>
                          <a:ea typeface="Malgun Gothic" pitchFamily="34" charset="-122"/>
                          <a:cs typeface="Malgun Gothic" pitchFamily="34" charset="-120"/>
                        </a:rPr>
                        <a:t>0회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M0·M1 각 384</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9" name="Text 4"/>
          <p:cNvSpPr txBox="1"/>
          <p:nvPr/>
        </p:nvSpPr>
        <p:spPr>
          <a:xfrm>
            <a:off x="6263640" y="4251960"/>
            <a:ext cx="5376672" cy="640080"/>
          </a:xfrm>
          <a:prstGeom prst="rect">
            <a:avLst/>
          </a:prstGeom>
          <a:noFill/>
          <a:ln/>
        </p:spPr>
        <p:txBody>
          <a:bodyPr wrap="square" lIns="0" tIns="0" rIns="0" bIns="0" rtlCol="0" anchor="t"/>
          <a:lstStyle/>
          <a:p>
            <a:pPr indent="0" marL="0">
              <a:lnSpc>
                <a:spcPct val="120000"/>
              </a:lnSpc>
              <a:buNone/>
            </a:pPr>
            <a:r>
              <a:rPr lang="en-US" sz="1300" dirty="0">
                <a:solidFill>
                  <a:srgbClr val="5F6B7A"/>
                </a:solidFill>
                <a:latin typeface="Malgun Gothic" pitchFamily="34" charset="0"/>
                <a:ea typeface="Malgun Gothic" pitchFamily="34" charset="-122"/>
                <a:cs typeface="Malgun Gothic" pitchFamily="34" charset="-120"/>
              </a:rPr>
              <a:t>시간: 전송 시작부터 PC 비교 완료까지, 921600 baud</a:t>
            </a:r>
            <a:endParaRPr lang="en-US" sz="1300" dirty="0"/>
          </a:p>
          <a:p>
            <a:pPr indent="0" marL="0">
              <a:lnSpc>
                <a:spcPct val="120000"/>
              </a:lnSpc>
              <a:buNone/>
            </a:pPr>
            <a:r>
              <a:rPr lang="en-US" sz="1300" dirty="0">
                <a:solidFill>
                  <a:srgbClr val="5F6B7A"/>
                </a:solidFill>
                <a:latin typeface="Malgun Gothic" pitchFamily="34" charset="0"/>
                <a:ea typeface="Malgun Gothic" pitchFamily="34" charset="-122"/>
                <a:cs typeface="Malgun Gothic" pitchFamily="34" charset="-120"/>
              </a:rPr>
              <a:t>저장 → 복원 86.4 s 중 MCU 저장 구간 51.4–51.9 s</a:t>
            </a:r>
            <a:endParaRPr lang="en-US" sz="1300" dirty="0"/>
          </a:p>
        </p:txBody>
      </p:sp>
      <p:sp>
        <p:nvSpPr>
          <p:cNvPr id="10" name="Text 5"/>
          <p:cNvSpPr txBox="1"/>
          <p:nvPr/>
        </p:nvSpPr>
        <p:spPr>
          <a:xfrm>
            <a:off x="548640" y="5669280"/>
            <a:ext cx="11091672" cy="320040"/>
          </a:xfrm>
          <a:prstGeom prst="rect">
            <a:avLst/>
          </a:prstGeom>
          <a:noFill/>
          <a:ln/>
        </p:spPr>
        <p:txBody>
          <a:bodyPr wrap="square" lIns="0" tIns="0" rIns="0" bIns="0" rtlCol="0" anchor="t"/>
          <a:lstStyle/>
          <a:p>
            <a:pPr indent="0" marL="0">
              <a:buNone/>
            </a:pPr>
            <a:r>
              <a:rPr lang="en-US" sz="1200" dirty="0">
                <a:solidFill>
                  <a:srgbClr val="5F6B7A"/>
                </a:solidFill>
                <a:latin typeface="Malgun Gothic" pitchFamily="34" charset="0"/>
                <a:ea typeface="Malgun Gothic" pitchFamily="34" charset="-122"/>
                <a:cs typeface="Malgun Gothic" pitchFamily="34" charset="-120"/>
              </a:rPr>
              <a:t>SHA-256 앞 8자리 표시, 전체 값은 발표자 노트 · 출처: pc/results/demo_report_20261015_*.json (10개)</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전송 최적화: 수신과 Flash 쓰기를 겹치고, 백업 단계를 없앴습니다</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3429000"/>
                <a:gridCol w="3931920"/>
                <a:gridCol w="3730752"/>
              </a:tblGrid>
              <a:tr h="640080">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제약</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적용한 방법</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확인된 효과</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64008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Flash 쓰기 중에도 UART 바이트가 계속 도착</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RX DMA 하드웨어 이중 버퍼 (4 KiB × 2)</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저장 5회 모두 버퍼 초과 0회</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4008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청크마다 ACK를 기다리면 회선이 멈춤</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ACK 전에 다음 청크까지 전송 (최대 2청크)</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i="1" dirty="0">
                          <a:solidFill>
                            <a:srgbClr val="5F6B7A"/>
                          </a:solidFill>
                          <a:latin typeface="Malgun Gothic" pitchFamily="34" charset="0"/>
                          <a:ea typeface="Malgun Gothic" pitchFamily="34" charset="-122"/>
                          <a:cs typeface="Malgun Gothic" pitchFamily="34" charset="-120"/>
                        </a:rPr>
                        <a:t>[자료 필요: 1청크 방식 대비 전송 시간]</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4008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복원 데이터 송신 중 CPU 대기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UART TX DMA 이중 버퍼 (4 KiB × 2)</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읽기 전용 복원 34.6 s, 회선 계산값 34.1 s</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4008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저장 전 Flash 백업 읽기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백업 단계 제거, 바로 삭제·쓰기</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Gray 전체 과정 116.96 s → 72.8 s</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4008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이미지 3 MiB &gt; SRAM 320 KiB</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청크 버퍼 재사용, 이미지 전체를 RAM에 두지 않음</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3,145,782 B 저장·복원 일치</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40080">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Gray 출력의 UART 전송량</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출력을 8비트 Gray로 고정</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500" dirty="0">
                          <a:solidFill>
                            <a:srgbClr val="1F2933"/>
                          </a:solidFill>
                          <a:latin typeface="Malgun Gothic" pitchFamily="34" charset="0"/>
                          <a:ea typeface="Malgun Gothic" pitchFamily="34" charset="-122"/>
                          <a:cs typeface="Malgun Gothic" pitchFamily="34" charset="-120"/>
                        </a:rPr>
                        <a:t>전체 시간 23.9% 감소 (다음 장)</a:t>
                      </a:r>
                      <a:endParaRPr lang="en-US" sz="15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5989320"/>
            <a:ext cx="11091672" cy="320040"/>
          </a:xfrm>
          <a:prstGeom prst="rect">
            <a:avLst/>
          </a:prstGeom>
          <a:noFill/>
          <a:ln/>
        </p:spPr>
        <p:txBody>
          <a:bodyPr wrap="square" lIns="0" tIns="0" rIns="0" bIns="0" rtlCol="0" anchor="t"/>
          <a:lstStyle/>
          <a:p>
            <a:pPr indent="0" marL="0">
              <a:buNone/>
            </a:pPr>
            <a:r>
              <a:rPr lang="en-US" sz="1200" dirty="0">
                <a:solidFill>
                  <a:srgbClr val="5F6B7A"/>
                </a:solidFill>
                <a:latin typeface="Malgun Gothic" pitchFamily="34" charset="0"/>
                <a:ea typeface="Malgun Gothic" pitchFamily="34" charset="-122"/>
                <a:cs typeface="Malgun Gothic" pitchFamily="34" charset="-120"/>
              </a:rPr>
              <a:t>회선 계산값: 3,145,782 B × 10 bit ÷ 921,600 bps = 34.13 s · 백업 제거 대가: 삭제 범위의 기존 Flash 내용은 덮어씀</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8비트 Gray 출력으로 전체 시간이 95.60 s에서 72.77 s로 줄었습니다</a:t>
            </a:r>
            <a:endParaRPr lang="en-US" sz="2600" dirty="0"/>
          </a:p>
        </p:txBody>
      </p:sp>
      <p:graphicFrame>
        <p:nvGraphicFramePr>
          <p:cNvPr id="3" name="Chart 0" descr=""/>
          <p:cNvGraphicFramePr/>
          <p:nvPr/>
        </p:nvGraphicFramePr>
        <p:xfrm>
          <a:off x="548640" y="1417320"/>
          <a:ext cx="6309360" cy="37490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315200" y="1508760"/>
            <a:ext cx="4297680" cy="274320"/>
          </a:xfrm>
          <a:prstGeom prst="rect">
            <a:avLst/>
          </a:prstGeom>
          <a:noFill/>
          <a:ln/>
        </p:spPr>
        <p:txBody>
          <a:bodyPr wrap="square" lIns="0" tIns="0" rIns="0" bIns="0" rtlCol="0" anchor="t"/>
          <a:lstStyle/>
          <a:p>
            <a:pPr indent="0" marL="0">
              <a:buNone/>
            </a:pPr>
            <a:r>
              <a:rPr lang="en-US" sz="1400" b="1" dirty="0">
                <a:solidFill>
                  <a:srgbClr val="5F6B7A"/>
                </a:solidFill>
                <a:latin typeface="Malgun Gothic" pitchFamily="34" charset="0"/>
                <a:ea typeface="Malgun Gothic" pitchFamily="34" charset="-122"/>
                <a:cs typeface="Malgun Gothic" pitchFamily="34" charset="-120"/>
              </a:rPr>
              <a:t>출력 크기</a:t>
            </a:r>
            <a:endParaRPr lang="en-US" sz="1400" dirty="0"/>
          </a:p>
        </p:txBody>
      </p:sp>
      <p:sp>
        <p:nvSpPr>
          <p:cNvPr id="5" name="Text 2"/>
          <p:cNvSpPr txBox="1"/>
          <p:nvPr/>
        </p:nvSpPr>
        <p:spPr>
          <a:xfrm>
            <a:off x="7315200" y="1828800"/>
            <a:ext cx="4297680" cy="457200"/>
          </a:xfrm>
          <a:prstGeom prst="rect">
            <a:avLst/>
          </a:prstGeom>
          <a:noFill/>
          <a:ln/>
        </p:spPr>
        <p:txBody>
          <a:bodyPr wrap="square" lIns="0" tIns="0" rIns="0" bIns="0" rtlCol="0" anchor="t"/>
          <a:lstStyle/>
          <a:p>
            <a:pPr indent="0" marL="0">
              <a:buNone/>
            </a:pPr>
            <a:r>
              <a:rPr lang="en-US" sz="2200" b="1" dirty="0">
                <a:solidFill>
                  <a:srgbClr val="1F2933"/>
                </a:solidFill>
                <a:latin typeface="Malgun Gothic" pitchFamily="34" charset="0"/>
                <a:ea typeface="Malgun Gothic" pitchFamily="34" charset="-122"/>
                <a:cs typeface="Malgun Gothic" pitchFamily="34" charset="-120"/>
              </a:rPr>
              <a:t>3,145,782 B → 1,049,654 B</a:t>
            </a:r>
            <a:endParaRPr lang="en-US" sz="2200" dirty="0"/>
          </a:p>
        </p:txBody>
      </p:sp>
      <p:sp>
        <p:nvSpPr>
          <p:cNvPr id="6" name="Text 3"/>
          <p:cNvSpPr txBox="1"/>
          <p:nvPr/>
        </p:nvSpPr>
        <p:spPr>
          <a:xfrm>
            <a:off x="7315200" y="2286000"/>
            <a:ext cx="4297680" cy="274320"/>
          </a:xfrm>
          <a:prstGeom prst="rect">
            <a:avLst/>
          </a:prstGeom>
          <a:noFill/>
          <a:ln/>
        </p:spPr>
        <p:txBody>
          <a:bodyPr wrap="square" lIns="0" tIns="0" rIns="0" bIns="0" rtlCol="0" anchor="t"/>
          <a:lstStyle/>
          <a:p>
            <a:pPr indent="0" marL="0">
              <a:buNone/>
            </a:pPr>
            <a:r>
              <a:rPr lang="en-US" sz="1400" dirty="0">
                <a:solidFill>
                  <a:srgbClr val="5F6B7A"/>
                </a:solidFill>
                <a:latin typeface="Malgun Gothic" pitchFamily="34" charset="0"/>
                <a:ea typeface="Malgun Gothic" pitchFamily="34" charset="-122"/>
                <a:cs typeface="Malgun Gothic" pitchFamily="34" charset="-120"/>
              </a:rPr>
              <a:t>줄어든 바이트 2,096,128 B</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0" y="2834640"/>
          <a:ext cx="4325112" cy="914400"/>
        </p:xfrm>
        <a:graphic>
          <a:graphicData uri="http://schemas.openxmlformats.org/drawingml/2006/table">
            <a:tbl>
              <a:tblPr/>
              <a:tblGrid>
                <a:gridCol w="1828800"/>
                <a:gridCol w="2496312"/>
              </a:tblGrid>
              <a:tr h="0">
                <a:tc>
                  <a:txBody>
                    <a:bodyP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측정 감소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400" b="1" dirty="0">
                          <a:solidFill>
                            <a:srgbClr val="0F766E"/>
                          </a:solidFill>
                          <a:latin typeface="Malgun Gothic" pitchFamily="34" charset="0"/>
                          <a:ea typeface="Malgun Gothic" pitchFamily="34" charset="-122"/>
                          <a:cs typeface="Malgun Gothic" pitchFamily="34" charset="-120"/>
                        </a:rPr>
                        <a:t>22.83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0">
                <a:tc>
                  <a:txBody>
                    <a:bodyP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계산: 줄어든 바이트의</a:t>
                      </a:r>
                      <a:endParaRPr lang="en-US" sz="1400" dirty="0">
                        <a:latin typeface="Malgun Gothic" charset="0"/>
                        <a:ea typeface="Malgun Gothic" charset="0"/>
                        <a:cs typeface="Malgun Gothic" charset="0"/>
                      </a:endParaRPr>
                    </a:p>
                    <a:p>
                      <a:pPr indent="0" marL="0">
                        <a:buNone/>
                      </a:pPr>
                      <a:r>
                        <a:rPr lang="en-US" sz="1400" b="1" dirty="0">
                          <a:solidFill>
                            <a:srgbClr val="1F2933"/>
                          </a:solidFill>
                          <a:latin typeface="Malgun Gothic" pitchFamily="34" charset="0"/>
                          <a:ea typeface="Malgun Gothic" pitchFamily="34" charset="-122"/>
                          <a:cs typeface="Malgun Gothic" pitchFamily="34" charset="-120"/>
                        </a:rPr>
                        <a:t>UART 전송 시간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2,096,128 B × 10 bit</a:t>
                      </a:r>
                      <a:endParaRPr lang="en-US" sz="1400" dirty="0">
                        <a:latin typeface="Malgun Gothic" charset="0"/>
                        <a:ea typeface="Malgun Gothic" charset="0"/>
                        <a:cs typeface="Malgun Gothic" charset="0"/>
                      </a:endParaRPr>
                    </a:p>
                    <a:p>
                      <a:pPr indent="0" marL="0">
                        <a:buNone/>
                      </a:pPr>
                      <a:r>
                        <a:rPr lang="en-US" sz="1400" dirty="0">
                          <a:solidFill>
                            <a:srgbClr val="1F2933"/>
                          </a:solidFill>
                          <a:latin typeface="Malgun Gothic" pitchFamily="34" charset="0"/>
                          <a:ea typeface="Malgun Gothic" pitchFamily="34" charset="-122"/>
                          <a:cs typeface="Malgun Gothic" pitchFamily="34" charset="-120"/>
                        </a:rPr>
                        <a:t>÷ 921,600 bps = 22.74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8" name="Text 4"/>
          <p:cNvSpPr txBox="1"/>
          <p:nvPr/>
        </p:nvSpPr>
        <p:spPr>
          <a:xfrm>
            <a:off x="7315200" y="4160520"/>
            <a:ext cx="4325112" cy="365760"/>
          </a:xfrm>
          <a:prstGeom prst="rect">
            <a:avLst/>
          </a:prstGeom>
          <a:noFill/>
          <a:ln/>
        </p:spPr>
        <p:txBody>
          <a:bodyPr wrap="square" lIns="0" tIns="0" rIns="0" bIns="0" rtlCol="0" anchor="t"/>
          <a:lstStyle/>
          <a:p>
            <a:pPr indent="0" marL="0">
              <a:buNone/>
            </a:pPr>
            <a:r>
              <a:rPr lang="en-US" sz="1500" b="1" dirty="0">
                <a:solidFill>
                  <a:srgbClr val="1F2933"/>
                </a:solidFill>
                <a:latin typeface="Malgun Gothic" pitchFamily="34" charset="0"/>
                <a:ea typeface="Malgun Gothic" pitchFamily="34" charset="-122"/>
                <a:cs typeface="Malgun Gothic" pitchFamily="34" charset="-120"/>
              </a:rPr>
              <a:t>감소분 대부분이 UART 전송량 감소로 설명됩니다.</a:t>
            </a:r>
            <a:endParaRPr lang="en-US" sz="1500" dirty="0"/>
          </a:p>
        </p:txBody>
      </p:sp>
      <p:sp>
        <p:nvSpPr>
          <p:cNvPr id="9" name="Text 5"/>
          <p:cNvSpPr txBox="1"/>
          <p:nvPr/>
        </p:nvSpPr>
        <p:spPr>
          <a:xfrm>
            <a:off x="7315200" y="4617720"/>
            <a:ext cx="4325112" cy="548640"/>
          </a:xfrm>
          <a:prstGeom prst="rect">
            <a:avLst/>
          </a:prstGeom>
          <a:noFill/>
          <a:ln/>
        </p:spPr>
        <p:txBody>
          <a:bodyPr wrap="square" lIns="0" tIns="0" rIns="0" bIns="0" rtlCol="0" anchor="t"/>
          <a:lstStyle/>
          <a:p>
            <a:pPr indent="0" marL="0">
              <a:buNone/>
            </a:pPr>
            <a:r>
              <a:rPr lang="en-US" sz="1300" dirty="0">
                <a:solidFill>
                  <a:srgbClr val="1F2933"/>
                </a:solidFill>
                <a:latin typeface="Malgun Gothic" pitchFamily="34" charset="0"/>
                <a:ea typeface="Malgun Gothic" pitchFamily="34" charset="-122"/>
                <a:cs typeface="Malgun Gothic" pitchFamily="34" charset="-120"/>
              </a:rPr>
              <a:t>10-15 재측정 (8비트, 전체 과정 6회): 72.20–72.78 s, 중앙값 72.58 s</a:t>
            </a:r>
            <a:endParaRPr lang="en-US" sz="1300" dirty="0"/>
          </a:p>
        </p:txBody>
      </p:sp>
      <p:sp>
        <p:nvSpPr>
          <p:cNvPr id="10" name="Text 6"/>
          <p:cNvSpPr txBox="1"/>
          <p:nvPr/>
        </p:nvSpPr>
        <p:spPr>
          <a:xfrm>
            <a:off x="548640" y="5394960"/>
            <a:ext cx="11091672" cy="548640"/>
          </a:xfrm>
          <a:prstGeom prst="rect">
            <a:avLst/>
          </a:prstGeom>
          <a:noFill/>
          <a:ln/>
        </p:spPr>
        <p:txBody>
          <a:bodyPr wrap="square" lIns="0" tIns="0" rIns="0" bIns="0" rtlCol="0" anchor="t"/>
          <a:lstStyle/>
          <a:p>
            <a:pPr indent="0" marL="0">
              <a:lnSpc>
                <a:spcPct val="120000"/>
              </a:lnSpc>
              <a:buNone/>
            </a:pPr>
            <a:r>
              <a:rPr lang="en-US" sz="1200" dirty="0">
                <a:solidFill>
                  <a:srgbClr val="5F6B7A"/>
                </a:solidFill>
                <a:latin typeface="Malgun Gothic" pitchFamily="34" charset="0"/>
                <a:ea typeface="Malgun Gothic" pitchFamily="34" charset="-122"/>
                <a:cs typeface="Malgun Gothic" pitchFamily="34" charset="-120"/>
              </a:rPr>
              <a:t>막대: 2026-10-13 각 1회 측정 · 921600 baud · 입력 전송 시작부터 Gray 마지막 바이트 수신까지 · 당시 백업 준비 44.18 s 제외</a:t>
            </a:r>
            <a:endParaRPr lang="en-US" sz="1200" dirty="0"/>
          </a:p>
          <a:p>
            <a:pPr indent="0" marL="0">
              <a:lnSpc>
                <a:spcPct val="120000"/>
              </a:lnSpc>
              <a:buNone/>
            </a:pPr>
            <a:r>
              <a:rPr lang="en-US" sz="1200" dirty="0">
                <a:solidFill>
                  <a:srgbClr val="5F6B7A"/>
                </a:solidFill>
                <a:latin typeface="Malgun Gothic" pitchFamily="34" charset="0"/>
                <a:ea typeface="Malgun Gothic" pitchFamily="34" charset="-122"/>
                <a:cs typeface="Malgun Gothic" pitchFamily="34" charset="-120"/>
              </a:rPr>
              <a:t>출처: pc/results/timings.csv</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68680"/>
          </a:xfrm>
          <a:prstGeom prst="rect">
            <a:avLst/>
          </a:prstGeom>
          <a:noFill/>
          <a:ln/>
        </p:spPr>
        <p:txBody>
          <a:bodyPr wrap="square" lIns="0" tIns="0" rIns="0" bIns="0" rtlCol="0" anchor="ctr"/>
          <a:lstStyle/>
          <a:p>
            <a:pPr algn="l" indent="0" marL="0">
              <a:buNone/>
            </a:pPr>
            <a:r>
              <a:rPr lang="en-US" sz="2600" b="1" dirty="0">
                <a:solidFill>
                  <a:srgbClr val="1F2933"/>
                </a:solidFill>
                <a:latin typeface="Malgun Gothic" pitchFamily="34" charset="0"/>
                <a:ea typeface="Malgun Gothic" pitchFamily="34" charset="-122"/>
                <a:cs typeface="Malgun Gothic" pitchFamily="34" charset="-120"/>
              </a:rPr>
              <a:t>현장 Demo: run_all.sh 한 번으로 9단계를 차례로 실행합니다</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685800"/>
                <a:gridCol w="3429000"/>
                <a:gridCol w="2834640"/>
              </a:tblGrid>
              <a:tr h="429768">
                <a:tc>
                  <a:txBody>
                    <a:bodyP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단계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내용</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c>
                  <a:txBody>
                    <a:bodyPr/>
                    <a:lstStyle/>
                    <a:p>
                      <a:pPr indent="0" marL="0">
                        <a:buNone/>
                      </a:pPr>
                      <a:r>
                        <a:rPr lang="en-US" sz="1400" b="1" dirty="0">
                          <a:solidFill>
                            <a:srgbClr val="1F2933"/>
                          </a:solidFill>
                          <a:latin typeface="Malgun Gothic" pitchFamily="34" charset="0"/>
                          <a:ea typeface="Malgun Gothic" pitchFamily="34" charset="-122"/>
                          <a:cs typeface="Malgun Gothic" pitchFamily="34" charset="-120"/>
                        </a:rPr>
                        <a:t>10-15 결과</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3F5F7"/>
                    </a:solidFill>
                  </a:tcPr>
                </a:tc>
              </a:tr>
              <a:tr h="42976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1</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PC 단위 테스트</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18개 PASS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2976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2</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C 모의 테스트 (DMA RX·TX, Gray)</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3개 PASS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2976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펌웨어 빌드</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경고 0, FLASH 38,164 B</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2976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4</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보드에 다운로드</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Download verified</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2976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5</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원본 BMP 저장 → 복원</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전체 일치, 86.4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2976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6</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Gray 전체 과정</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기준 변환 일치, 72.8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2976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7</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1 KiB 반복 저장·재읽기</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12회 PASS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2976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8</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Flash 칩 직접 덤프</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원본과 같음</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429768">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9</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RAM 덮어쓴 뒤 복원·변환</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latin typeface="Malgun Gothic" pitchFamily="34" charset="0"/>
                          <a:ea typeface="Malgun Gothic" pitchFamily="34" charset="-122"/>
                          <a:cs typeface="Malgun Gothic" pitchFamily="34" charset="-120"/>
                        </a:rPr>
                        <a:t>일치, 34.6 s · 20.9 s</a:t>
                      </a:r>
                      <a:endParaRPr lang="en-US" sz="1400" dirty="0">
                        <a:latin typeface="Malgun Gothic" charset="0"/>
                        <a:ea typeface="Malgun Gothic" charset="0"/>
                        <a:cs typeface="Malgun Gothic" charset="0"/>
                      </a:endParaRPr>
                    </a:p>
                  </a:txBody>
                  <a:tcPr marL="109728" marR="109728" marT="54864" marB="54864"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Shape 1"/>
          <p:cNvSpPr/>
          <p:nvPr/>
        </p:nvSpPr>
        <p:spPr>
          <a:xfrm>
            <a:off x="7863840" y="1417320"/>
            <a:ext cx="3776472" cy="2011680"/>
          </a:xfrm>
          <a:prstGeom prst="rect">
            <a:avLst/>
          </a:prstGeom>
          <a:solidFill>
            <a:srgbClr val="1F2933"/>
          </a:solidFill>
          <a:ln w="12700">
            <a:solidFill>
              <a:srgbClr val="1F2933"/>
            </a:solidFill>
            <a:prstDash val="solid"/>
          </a:ln>
        </p:spPr>
      </p:sp>
      <p:sp>
        <p:nvSpPr>
          <p:cNvPr id="5" name="Text 2"/>
          <p:cNvSpPr txBox="1"/>
          <p:nvPr/>
        </p:nvSpPr>
        <p:spPr>
          <a:xfrm>
            <a:off x="8092440" y="1600200"/>
            <a:ext cx="3383280" cy="365760"/>
          </a:xfrm>
          <a:prstGeom prst="rect">
            <a:avLst/>
          </a:prstGeom>
          <a:noFill/>
          <a:ln/>
        </p:spPr>
        <p:txBody>
          <a:bodyPr wrap="square" lIns="0" tIns="0" rIns="0" bIns="0" rtlCol="0" anchor="t"/>
          <a:lstStyle/>
          <a:p>
            <a:pPr indent="0" marL="0">
              <a:buNone/>
            </a:pPr>
            <a:r>
              <a:rPr lang="en-US" sz="1800" dirty="0">
                <a:solidFill>
                  <a:srgbClr val="FFFFFF"/>
                </a:solidFill>
                <a:latin typeface="Consolas" pitchFamily="34" charset="0"/>
                <a:ea typeface="Consolas" pitchFamily="34" charset="-122"/>
                <a:cs typeface="Consolas" pitchFamily="34" charset="-120"/>
              </a:rPr>
              <a:t>$ ./run_all.sh</a:t>
            </a:r>
            <a:endParaRPr lang="en-US" sz="1800" dirty="0"/>
          </a:p>
        </p:txBody>
      </p:sp>
      <p:sp>
        <p:nvSpPr>
          <p:cNvPr id="6" name="Text 3"/>
          <p:cNvSpPr txBox="1"/>
          <p:nvPr/>
        </p:nvSpPr>
        <p:spPr>
          <a:xfrm>
            <a:off x="8092440" y="2148840"/>
            <a:ext cx="3383280" cy="640080"/>
          </a:xfrm>
          <a:prstGeom prst="rect">
            <a:avLst/>
          </a:prstGeom>
          <a:noFill/>
          <a:ln/>
        </p:spPr>
        <p:txBody>
          <a:bodyPr wrap="square" lIns="0" tIns="0" rIns="0" bIns="0" rtlCol="0" anchor="t"/>
          <a:lstStyle/>
          <a:p>
            <a:pPr indent="0" marL="0">
              <a:lnSpc>
                <a:spcPct val="120000"/>
              </a:lnSpc>
              <a:buNone/>
            </a:pPr>
            <a:r>
              <a:rPr lang="en-US" sz="1400" dirty="0">
                <a:solidFill>
                  <a:srgbClr val="B7C2CE"/>
                </a:solidFill>
                <a:latin typeface="Malgun Gothic" pitchFamily="34" charset="0"/>
                <a:ea typeface="Malgun Gothic" pitchFamily="34" charset="-122"/>
                <a:cs typeface="Malgun Gothic" pitchFamily="34" charset="-120"/>
              </a:rPr>
              <a:t>모든 단계 PASS (247초)</a:t>
            </a:r>
            <a:endParaRPr lang="en-US" sz="1400" dirty="0"/>
          </a:p>
          <a:p>
            <a:pPr indent="0" marL="0">
              <a:lnSpc>
                <a:spcPct val="120000"/>
              </a:lnSpc>
              <a:buNone/>
            </a:pPr>
            <a:r>
              <a:rPr lang="en-US" sz="1400" dirty="0">
                <a:solidFill>
                  <a:srgbClr val="B7C2CE"/>
                </a:solidFill>
                <a:latin typeface="Malgun Gothic" pitchFamily="34" charset="0"/>
                <a:ea typeface="Malgun Gothic" pitchFamily="34" charset="-122"/>
                <a:cs typeface="Malgun Gothic" pitchFamily="34" charset="-120"/>
              </a:rPr>
              <a:t>2026-10-15</a:t>
            </a:r>
            <a:endParaRPr lang="en-US" sz="1400" dirty="0"/>
          </a:p>
        </p:txBody>
      </p:sp>
      <p:sp>
        <p:nvSpPr>
          <p:cNvPr id="7" name="Text 4"/>
          <p:cNvSpPr txBox="1"/>
          <p:nvPr/>
        </p:nvSpPr>
        <p:spPr>
          <a:xfrm>
            <a:off x="8092440" y="2788920"/>
            <a:ext cx="3383280" cy="502920"/>
          </a:xfrm>
          <a:prstGeom prst="rect">
            <a:avLst/>
          </a:prstGeom>
          <a:noFill/>
          <a:ln/>
        </p:spPr>
        <p:txBody>
          <a:bodyPr wrap="square" lIns="0" tIns="0" rIns="0" bIns="0" rtlCol="0" anchor="t"/>
          <a:lstStyle/>
          <a:p>
            <a:pPr indent="0" marL="0">
              <a:buNone/>
            </a:pPr>
            <a:r>
              <a:rPr lang="en-US" sz="1200" dirty="0">
                <a:solidFill>
                  <a:srgbClr val="B7C2CE"/>
                </a:solidFill>
                <a:latin typeface="Malgun Gothic" pitchFamily="34" charset="0"/>
                <a:ea typeface="Malgun Gothic" pitchFamily="34" charset="-122"/>
                <a:cs typeface="Malgun Gothic" pitchFamily="34" charset="-120"/>
              </a:rPr>
              <a:t>실패하면 그 단계에서 멈춤 · Serial Monitor와 디버그 세션을 닫고 실행</a:t>
            </a:r>
            <a:endParaRPr lang="en-US" sz="1200" dirty="0"/>
          </a:p>
        </p:txBody>
      </p:sp>
      <p:sp>
        <p:nvSpPr>
          <p:cNvPr id="8" name="Shape 5"/>
          <p:cNvSpPr/>
          <p:nvPr/>
        </p:nvSpPr>
        <p:spPr>
          <a:xfrm>
            <a:off x="7863840" y="3749040"/>
            <a:ext cx="3776472" cy="1371600"/>
          </a:xfrm>
          <a:prstGeom prst="rect">
            <a:avLst/>
          </a:prstGeom>
          <a:solidFill>
            <a:srgbClr val="F3F5F7"/>
          </a:solidFill>
          <a:ln w="12700">
            <a:solidFill>
              <a:srgbClr val="F3F5F7"/>
            </a:solidFill>
            <a:prstDash val="solid"/>
          </a:ln>
        </p:spPr>
      </p:sp>
      <p:sp>
        <p:nvSpPr>
          <p:cNvPr id="9" name="Text 6"/>
          <p:cNvSpPr txBox="1"/>
          <p:nvPr/>
        </p:nvSpPr>
        <p:spPr>
          <a:xfrm>
            <a:off x="8046720" y="3886200"/>
            <a:ext cx="3429000" cy="1143000"/>
          </a:xfrm>
          <a:prstGeom prst="rect">
            <a:avLst/>
          </a:prstGeom>
          <a:noFill/>
          <a:ln/>
        </p:spPr>
        <p:txBody>
          <a:bodyPr wrap="square" lIns="0" tIns="0" rIns="0" bIns="0" rtlCol="0" anchor="t"/>
          <a:lstStyle/>
          <a:p>
            <a:pPr indent="0" marL="0">
              <a:lnSpc>
                <a:spcPct val="120000"/>
              </a:lnSpc>
              <a:buNone/>
            </a:pPr>
            <a:r>
              <a:rPr lang="en-US" sz="1400" b="1" dirty="0">
                <a:solidFill>
                  <a:srgbClr val="1F2933"/>
                </a:solidFill>
                <a:latin typeface="Malgun Gothic" pitchFamily="34" charset="0"/>
                <a:ea typeface="Malgun Gothic" pitchFamily="34" charset="-122"/>
                <a:cs typeface="Malgun Gothic" pitchFamily="34" charset="-120"/>
              </a:rPr>
              <a:t>남은 확인</a:t>
            </a:r>
            <a:endParaRPr lang="en-US" sz="1400" dirty="0"/>
          </a:p>
          <a:p>
            <a:pPr indent="0" marL="0">
              <a:lnSpc>
                <a:spcPct val="120000"/>
              </a:lnSpc>
              <a:buNone/>
            </a:pPr>
            <a:r>
              <a:rPr lang="en-US" sz="1400" dirty="0">
                <a:solidFill>
                  <a:srgbClr val="1F2933"/>
                </a:solidFill>
                <a:latin typeface="Malgun Gothic" pitchFamily="34" charset="0"/>
                <a:ea typeface="Malgun Gothic" pitchFamily="34" charset="-122"/>
                <a:cs typeface="Malgun Gothic" pitchFamily="34" charset="-120"/>
              </a:rPr>
              <a:t>W25Q32 대체 허용 여부, 또는 외부 W25Q32 칩으로 실물 시험</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3"/>
                </a:solidFill>
                <a:latin typeface="Malgun Gothic"/>
                <a:ea typeface="Malgun Gothic"/>
                <a:cs typeface="Malgun Gothic"/>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UART SPI Flash">
  <a:themeElements>
    <a:clrScheme name="UART SPI Flash">
      <a:dk1>
        <a:srgbClr val="1F2933"/>
      </a:dk1>
      <a:lt1>
        <a:srgbClr val="FFFFFF"/>
      </a:lt1>
      <a:dk2>
        <a:srgbClr val="5F6B7A"/>
      </a:dk2>
      <a:lt2>
        <a:srgbClr val="F3F5F7"/>
      </a:lt2>
      <a:accent1>
        <a:srgbClr val="0F766E"/>
      </a:accent1>
      <a:accent2>
        <a:srgbClr val="5F6B7A"/>
      </a:accent2>
      <a:accent3>
        <a:srgbClr val="8A94A3"/>
      </a:accent3>
      <a:accent4>
        <a:srgbClr val="B7C2CE"/>
      </a:accent4>
      <a:accent5>
        <a:srgbClr val="2F3B48"/>
      </a:accent5>
      <a:accent6>
        <a:srgbClr val="9FCFC9"/>
      </a:accent6>
      <a:hlink>
        <a:srgbClr val="0F766E"/>
      </a:hlink>
      <a:folHlink>
        <a:srgbClr val="5F6B7A"/>
      </a:folHlink>
    </a:clrScheme>
    <a:fontScheme name="UART SPI Flash">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UART 및 SPI Flash 기본 기능 구현 — 2차 발표</dc:title>
  <dc:subject>PptxGenJS Presentation</dc:subject>
  <dc:creator>PptxGenJS</dc:creator>
  <cp:lastModifiedBy>PptxGenJS</cp:lastModifiedBy>
  <cp:revision>1</cp:revision>
  <dcterms:created xsi:type="dcterms:W3CDTF">2026-10-15T11:11:28Z</dcterms:created>
  <dcterms:modified xsi:type="dcterms:W3CDTF">2026-10-15T11:11:28Z</dcterms:modified>
</cp:coreProperties>
</file>