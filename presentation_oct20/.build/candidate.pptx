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68c320cf24142" /><Relationship Type="http://schemas.openxmlformats.org/officeDocument/2006/relationships/extended-properties" Target="/docProps/app.xml" Id="Rdba5677b265e4f48" /><Relationship Type="http://schemas.openxmlformats.org/officeDocument/2006/relationships/officeDocument" Target="/ppt/presentation.xml" Id="R513ea840ef4c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b37611b1024235"/>
  </p:sldMasterIdLst>
  <p:notesMasterIdLst>
    <p:notesMasterId xmlns:r="http://schemas.openxmlformats.org/officeDocument/2006/relationships" r:id="R4571899fa65a4729"/>
  </p:notesMasterIdLst>
  <p:sldIdLst>
    <p:sldId xmlns:r="http://schemas.openxmlformats.org/officeDocument/2006/relationships" id="256" r:id="R494a5408cbcd4043"/>
    <p:sldId xmlns:r="http://schemas.openxmlformats.org/officeDocument/2006/relationships" id="257" r:id="R8a917a22f37e40d2"/>
    <p:sldId xmlns:r="http://schemas.openxmlformats.org/officeDocument/2006/relationships" id="258" r:id="Racb5604005914e31"/>
    <p:sldId xmlns:r="http://schemas.openxmlformats.org/officeDocument/2006/relationships" id="259" r:id="Rc4c62b108fdc4aad"/>
    <p:sldId xmlns:r="http://schemas.openxmlformats.org/officeDocument/2006/relationships" id="260" r:id="Rcfa028c783d042b5"/>
    <p:sldId xmlns:r="http://schemas.openxmlformats.org/officeDocument/2006/relationships" id="261" r:id="R2a636f19ce584bd5"/>
    <p:sldId xmlns:r="http://schemas.openxmlformats.org/officeDocument/2006/relationships" id="262" r:id="R791c9971a85643a4"/>
    <p:sldId xmlns:r="http://schemas.openxmlformats.org/officeDocument/2006/relationships" id="263" r:id="R972b0a11e4464fe0"/>
    <p:sldId xmlns:r="http://schemas.openxmlformats.org/officeDocument/2006/relationships" id="264" r:id="Rd02aee26cc404ff5"/>
    <p:sldId xmlns:r="http://schemas.openxmlformats.org/officeDocument/2006/relationships" id="265" r:id="R055705cc99e74a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f67c6fbf534b9e" /><Relationship Type="http://schemas.openxmlformats.org/officeDocument/2006/relationships/slideMaster" Target="/ppt/slideMasters/slideMaster1.xml" Id="R02b37611b1024235" /><Relationship Type="http://schemas.openxmlformats.org/officeDocument/2006/relationships/notesMaster" Target="/ppt/notesMasters/notesMaster1.xml" Id="R4571899fa65a4729" /><Relationship Type="http://schemas.openxmlformats.org/officeDocument/2006/relationships/presProps" Target="/ppt/presProps.xml" Id="R1c1858220b754916" /><Relationship Type="http://schemas.openxmlformats.org/officeDocument/2006/relationships/tableStyles" Target="/ppt/tableStyles.xml" Id="R7e98e4eea8494362" /><Relationship Type="http://schemas.openxmlformats.org/officeDocument/2006/relationships/slide" Target="/ppt/slides/slide1.xml" Id="R494a5408cbcd4043" /><Relationship Type="http://schemas.openxmlformats.org/officeDocument/2006/relationships/slide" Target="/ppt/slides/slide2.xml" Id="R8a917a22f37e40d2" /><Relationship Type="http://schemas.openxmlformats.org/officeDocument/2006/relationships/slide" Target="/ppt/slides/slide3.xml" Id="Racb5604005914e31" /><Relationship Type="http://schemas.openxmlformats.org/officeDocument/2006/relationships/slide" Target="/ppt/slides/slide4.xml" Id="Rc4c62b108fdc4aad" /><Relationship Type="http://schemas.openxmlformats.org/officeDocument/2006/relationships/slide" Target="/ppt/slides/slide5.xml" Id="Rcfa028c783d042b5" /><Relationship Type="http://schemas.openxmlformats.org/officeDocument/2006/relationships/slide" Target="/ppt/slides/slide6.xml" Id="R2a636f19ce584bd5" /><Relationship Type="http://schemas.openxmlformats.org/officeDocument/2006/relationships/slide" Target="/ppt/slides/slide7.xml" Id="R791c9971a85643a4" /><Relationship Type="http://schemas.openxmlformats.org/officeDocument/2006/relationships/slide" Target="/ppt/slides/slide8.xml" Id="R972b0a11e4464fe0" /><Relationship Type="http://schemas.openxmlformats.org/officeDocument/2006/relationships/slide" Target="/ppt/slides/slide9.xml" Id="Rd02aee26cc404ff5" /><Relationship Type="http://schemas.openxmlformats.org/officeDocument/2006/relationships/slide" Target="/ppt/slides/slide10.xml" Id="R055705cc99e74a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efc026a0346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2392793a484882" /><Relationship Type="http://schemas.openxmlformats.org/officeDocument/2006/relationships/notesMaster" Target="/ppt/notesMasters/notesMaster1.xml" Id="R016bfd0f48e441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a2c904fa5c4eee" /><Relationship Type="http://schemas.openxmlformats.org/officeDocument/2006/relationships/notesMaster" Target="/ppt/notesMasters/notesMaster1.xml" Id="Rcd6c38264220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11539f5dc54eca" /><Relationship Type="http://schemas.openxmlformats.org/officeDocument/2006/relationships/notesMaster" Target="/ppt/notesMasters/notesMaster1.xml" Id="R1b71a5a61e3240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65e20d7815406f" /><Relationship Type="http://schemas.openxmlformats.org/officeDocument/2006/relationships/notesMaster" Target="/ppt/notesMasters/notesMaster1.xml" Id="Rbd29155a4790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4891bb1fad4360" /><Relationship Type="http://schemas.openxmlformats.org/officeDocument/2006/relationships/notesMaster" Target="/ppt/notesMasters/notesMaster1.xml" Id="R208bd34083b641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63e405c8874c5e" /><Relationship Type="http://schemas.openxmlformats.org/officeDocument/2006/relationships/notesMaster" Target="/ppt/notesMasters/notesMaster1.xml" Id="R91b8361bd81246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a58fa0b0af4fd2" /><Relationship Type="http://schemas.openxmlformats.org/officeDocument/2006/relationships/notesMaster" Target="/ppt/notesMasters/notesMaster1.xml" Id="Rfeb1379478eb43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2385521a0f4b9a" /><Relationship Type="http://schemas.openxmlformats.org/officeDocument/2006/relationships/notesMaster" Target="/ppt/notesMasters/notesMaster1.xml" Id="Ra41bb934f8594d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f79495d83c4866" /><Relationship Type="http://schemas.openxmlformats.org/officeDocument/2006/relationships/notesMaster" Target="/ppt/notesMasters/notesMaster1.xml" Id="R4bbe49c43b4d40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ebe2693822465c" /><Relationship Type="http://schemas.openxmlformats.org/officeDocument/2006/relationships/notesMaster" Target="/ppt/notesMasters/notesMaster1.xml" Id="R250dfc4bd1bb49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발표에서는 PC에서 보낸 대용량 BMP를 SPI Flash에 저장하고 PC에 원본 그대로 복원하는 기능을 설명합니다. 표지 배경은 실제 테스트 입력 BMP입니다.</a:t>
            </a:r>
          </a:p>
          <a:p xmlns:a="http://schemas.openxmlformats.org/drawingml/2006/main">
            <a:r>
              <a:t>출처: /Users/minho/gradproj/bmp_gray_practice/presentation_oct20/output/evidence_existing.json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 헤더와 픽셀, 행 패딩까지 전체 파일을 저장하고 복원합니다. 화면 확인과 데이터 무결성 확인을 함께 수행합니다. 회색조 출력은 추가 기능입니다.</a:t>
            </a:r>
          </a:p>
          <a:p xmlns:a="http://schemas.openxmlformats.org/drawingml/2006/main">
            <a:r>
              <a:t>출처: 사용자 제공 2차 발표 요구사항, /Users/minho/gradproj/bmp_gray_practice/presentation_oct20/output/evidence_existing.json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실물 확인 기록은 W25Q128, EF4018입니다. W25Q32 실물을 시험한 것으로 설명하지 않습니다. 과제에서 W25Q32를 반드시 요구하면 외부 칩으로 실물 시험이 필요하거나 담당자의 대체 허용이 필요합니다.</a:t>
            </a:r>
          </a:p>
          <a:p xmlns:a="http://schemas.openxmlformats.org/drawingml/2006/main">
            <a:r>
              <a:t>출처: /Users/minho/gradproj/f746_bmp_gray/docs/hardware_setup.md</a:t>
            </a:r>
          </a:p>
          <a:p xmlns:a="http://schemas.openxmlformats.org/drawingml/2006/main">
            <a:r>
              <a:t>https://www.st.com/resource/en/user_manual/um1907-discovery-kit-for-stm32f7-series-with-stm32f746ng-mcu-stmicroelectronics.pdf</a:t>
            </a:r>
          </a:p>
          <a:p xmlns:a="http://schemas.openxmlformats.org/drawingml/2006/main">
            <a:r>
              <a:t>https://media.digikey.com/pdf/Data%20Sheets/Winbond%20PDFs/W25Q32JV_RevI_5-4-21.pdf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UART 데이터 단위 8비트와 BMP 픽셀 형식 8비트를 구분합니다. 원본은 24비트 BMP이며, 파일의 바이트를 8N1로 전송합니다. DMA M0/M1은 각 4096바이트입니다. 부분 수신도 NDTR로 처리하고 완료 콜백으로 은행 전환을 추적합니다. TX는 DMA 이중 버퍼입니다.</a:t>
            </a:r>
          </a:p>
          <a:p xmlns:a="http://schemas.openxmlformats.org/drawingml/2006/main">
            <a:r>
              <a:t>출처: /Users/minho/gradproj/bmp_gray_practice/Core/Src/uart_dma_rx.c, uart_dma_tx.c, uart_flash_test.c</a:t>
            </a:r>
          </a:p>
          <a:p xmlns:a="http://schemas.openxmlformats.org/drawingml/2006/main">
            <a:r>
              <a:t>https://www.st.com/resource/en/user_manual/um1907-discovery-kit-for-stm32f7-series-with-stm32f746ng-mcu-stmicroelectronics.pdf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QUADSPI는 사용한 MCU 주변장치입니다. 현재 명령, 주소, 데이터는 각각 한 선으로 전송하는 일반 SPI 1-1-1 프로토콜입니다. HCLK 216 MHz, prescaler 7이므로 SCK 27 MHz입니다. 매 쓰기 및 삭제 전에 WREN, BUSY 해제를 확인합니다.</a:t>
            </a:r>
          </a:p>
          <a:p xmlns:a="http://schemas.openxmlformats.org/drawingml/2006/main">
            <a:r>
              <a:t>출처: /Users/minho/gradproj/bmp_gray_practice/Core/Src/flash_test.c</a:t>
            </a:r>
          </a:p>
          <a:p xmlns:a="http://schemas.openxmlformats.org/drawingml/2006/main">
            <a:r>
              <a:t>https://media.digikey.com/pdf/Data%20Sheets/Winbond%20PDFs/W25Q32JV_RevI_5-4-21.pdf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MiB는 3,145,728바이트입니다. 입력 파일 3,145,782바이트는 3 MB와 3 MiB를 모두 넘습니다. 헤더부터 마지막 바이트까지 저장합니다. 삭제 범위를 64 KiB 경계로 올리므로 49개 블록, 쓰기는 총 12,289개 페이지에 해당합니다. 삭제 전에 전체 대상 영역을 PC에 백업합니다. 전체 이미지를 RAM에 보관하지 않습니다.</a:t>
            </a:r>
          </a:p>
          <a:p xmlns:a="http://schemas.openxmlformats.org/drawingml/2006/main">
            <a:r>
              <a:t>출처: /Users/minho/gradproj/bmp_gray_practice/presentation_oct20/output/evidence_existing.json</a:t>
            </a:r>
          </a:p>
          <a:p xmlns:a="http://schemas.openxmlformats.org/drawingml/2006/main">
            <a:r>
              <a:t>/Users/minho/gradproj/bmp_gray_practice/Core/Src/uart_flash_test.c</a:t>
            </a:r>
          </a:p>
          <a:p xmlns:a="http://schemas.openxmlformats.org/drawingml/2006/main">
            <a:r>
              <a:t>https://www.st.com/resource/en/datasheet/stm32f746ng.pdf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슬라이드의 두 이미지는 실제 원본과 기존 보드 재읽기 파일입니다. 파일 전체를 비교해 일치하고 CRC32와 SHA-256도 동일합니다. SHA-256: 0bfd1da377908544c1b1d2c0e10f8a3b53434448786bcac53d12b27c50f1dd8c. 현재 자료 작성 때 파일을 다시 검증했습니다. 최신 펌웨어 Demo는 별도로 실행하여 새 보고서를 남깁니다.</a:t>
            </a:r>
          </a:p>
          <a:p xmlns:a="http://schemas.openxmlformats.org/drawingml/2006/main">
            <a:r>
              <a:t>출처: /Users/minho/gradproj/bmp_gray_practice/presentation_oct20/output/evidence_existing.json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폴더에서 python3 pc/demo_roundtrip.py를 실행합니다. 실제 칩 ID, 크기, CRC32, SHA-256, 전체 바이트 비교를 JSON으로 저장합니다. MCU를 RESET한 뒤 --read-only로 실행하면 PC 원본을 재전송하지 않고 Flash에서만 읽습니다. Serial Monitor를 종료해야 포트 점유 오류를 피합니다.</a:t>
            </a:r>
          </a:p>
          <a:p xmlns:a="http://schemas.openxmlformats.org/drawingml/2006/main">
            <a:r>
              <a:t>출처: /Users/minho/gradproj/bmp_gray_practice/pc/demo_roundtrip.py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PASS는 기존 실물 출력 파일과 구현 근거에 대한 상태입니다. 오늘 수정한 TX DMA 및 8비트 고정 펌웨어는 빌드와 프로그램 검사를 통과했고, 현장 전 최신 펌웨어로 다시 실물 Demo를 실행해야 합니다. W25Q32 실물 요구는 현재 W25Q128 시험과 구분합니다.</a:t>
            </a:r>
          </a:p>
          <a:p xmlns:a="http://schemas.openxmlformats.org/drawingml/2006/main">
            <a:r>
              <a:t>출처: /Users/minho/gradproj/bmp_gray_practice/presentation_oct20/output/evidence_existing.json</a:t>
            </a:r>
          </a:p>
          <a:p xmlns:a="http://schemas.openxmlformats.org/drawingml/2006/main">
            <a:r>
              <a:t>/Users/minho/gradproj/f746_bmp_gray/docs/hardware_setup.md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필수 Demo는 원본 그대로 복원입니다. 별도 기능인 회색조 출력은 현재 8비트로 고정했습니다. 비교 데이터는 이전 버전에서 같은 입력과 921600 baud로 각 1회 측정한 기록입니다. 입력 전송 시작부터 Gray 마지막 바이트 수신까지이며 백업 준비 44.18초는 별도입니다. 총시간 감소율 (95.600607-72.772918)/95.600607 = 23.878%입니다. 새 버전 반복 측정 결과로 일반화하지 않습니다.</a:t>
            </a:r>
          </a:p>
          <a:p xmlns:a="http://schemas.openxmlformats.org/drawingml/2006/main">
            <a:r>
              <a:t>출처: /Users/minho/gradproj/bmp_gray_practice/pc/results/timings.csv</a:t>
            </a:r>
          </a:p>
          <a:p xmlns:a="http://schemas.openxmlformats.org/drawingml/2006/main">
            <a:r>
              <a:t>/Users/minho/gradproj/bmp_gray_practice/presentation_oct20/output/evidence_existing.json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9745b089a44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b8a85c6cf49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e6d1ffb4a47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e979f276845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43ec6f3c14a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4db3cb80f4d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947EDF-1609-48C3-BBE6-766548FC38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9BA864-D257-457E-BC2F-9493C28BB4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ED1718-61D5-4A90-A0C0-F70945120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06CF0E-0E24-43B8-9BD6-C69CB69F2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17E6B6-534E-4F97-AEAE-74040AF51F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799BE2-EBFF-4122-AB74-5139479A9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2FB0B9-B1C9-4521-8DAB-1E1E46EFD9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559E2D-24DD-47D3-89FC-19847BCD1E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A883F3-B283-45CC-9A68-8F0DD389B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8475AA-DD9E-4D84-B078-8262F45365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3c944f2b884849" /><Relationship Type="http://schemas.openxmlformats.org/officeDocument/2006/relationships/slideLayout" Target="/ppt/slideLayouts/slideLayout1.xml" Id="R34a5d4f368e84459" /><Relationship Type="http://schemas.openxmlformats.org/officeDocument/2006/relationships/slideLayout" Target="/ppt/slideLayouts/slideLayout2.xml" Id="R4cb1db0785fd4cdd" /><Relationship Type="http://schemas.openxmlformats.org/officeDocument/2006/relationships/slideLayout" Target="/ppt/slideLayouts/slideLayout3.xml" Id="Re8fedb4f2d4144ec" /><Relationship Type="http://schemas.openxmlformats.org/officeDocument/2006/relationships/slideLayout" Target="/ppt/slideLayouts/slideLayout4.xml" Id="R826c4b25058a49b5" /><Relationship Type="http://schemas.openxmlformats.org/officeDocument/2006/relationships/slideLayout" Target="/ppt/slideLayouts/slideLayout5.xml" Id="R9f108158774e4bf7" /><Relationship Type="http://schemas.openxmlformats.org/officeDocument/2006/relationships/slideLayout" Target="/ppt/slideLayouts/slideLayout6.xml" Id="R6e965e279d5749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a5d4f368e84459"/>
    <p:sldLayoutId xmlns:r="http://schemas.openxmlformats.org/officeDocument/2006/relationships" id="2147483650" r:id="R4cb1db0785fd4cdd"/>
    <p:sldLayoutId xmlns:r="http://schemas.openxmlformats.org/officeDocument/2006/relationships" id="2147483651" r:id="Re8fedb4f2d4144ec"/>
    <p:sldLayoutId xmlns:r="http://schemas.openxmlformats.org/officeDocument/2006/relationships" id="2147483652" r:id="R826c4b25058a49b5"/>
    <p:sldLayoutId xmlns:r="http://schemas.openxmlformats.org/officeDocument/2006/relationships" id="2147483653" r:id="R9f108158774e4bf7"/>
    <p:sldLayoutId xmlns:r="http://schemas.openxmlformats.org/officeDocument/2006/relationships" id="2147483654" r:id="R6e965e279d5749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78c369e444124" /><Relationship Type="http://schemas.openxmlformats.org/officeDocument/2006/relationships/image" Target="/ppt/media/image.png" Id="R956a326eebd84158" /><Relationship Type="http://schemas.openxmlformats.org/officeDocument/2006/relationships/notesSlide" Target="/ppt/notesSlides/notesSlide1.xml" Id="Rc213b0a4ed1a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1847c4f404a2f" /><Relationship Type="http://schemas.openxmlformats.org/officeDocument/2006/relationships/notesSlide" Target="/ppt/notesSlides/notesSlide2.xml" Id="R92aa2ba75bdf41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7123b024f4c73" /><Relationship Type="http://schemas.openxmlformats.org/officeDocument/2006/relationships/notesSlide" Target="/ppt/notesSlides/notesSlide3.xml" Id="Rb2c7cbc653cb49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348082efe40a5" /><Relationship Type="http://schemas.openxmlformats.org/officeDocument/2006/relationships/notesSlide" Target="/ppt/notesSlides/notesSlide4.xml" Id="Rae6c9af091cf48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7edadb5714388" /><Relationship Type="http://schemas.openxmlformats.org/officeDocument/2006/relationships/notesSlide" Target="/ppt/notesSlides/notesSlide5.xml" Id="R7a27f85eba5d4a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0c8d107654235" /><Relationship Type="http://schemas.openxmlformats.org/officeDocument/2006/relationships/notesSlide" Target="/ppt/notesSlides/notesSlide6.xml" Id="R43f9273cbcae4f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435b91f9d46b8" /><Relationship Type="http://schemas.openxmlformats.org/officeDocument/2006/relationships/image" Target="/ppt/media/image2.png" Id="R42a37cda7ade4199" /><Relationship Type="http://schemas.openxmlformats.org/officeDocument/2006/relationships/image" Target="/ppt/media/image3.png" Id="R6cd11f87aaa44dff" /><Relationship Type="http://schemas.openxmlformats.org/officeDocument/2006/relationships/notesSlide" Target="/ppt/notesSlides/notesSlide7.xml" Id="R8a35d9c165184e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0970b868c4146" /><Relationship Type="http://schemas.openxmlformats.org/officeDocument/2006/relationships/notesSlide" Target="/ppt/notesSlides/notesSlide8.xml" Id="R3aef4f87151944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4c45535a24be6" /><Relationship Type="http://schemas.openxmlformats.org/officeDocument/2006/relationships/notesSlide" Target="/ppt/notesSlides/notesSlide9.xml" Id="R5d3dced334a242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e9aa95ed04d6a" /><Relationship Type="http://schemas.openxmlformats.org/officeDocument/2006/relationships/image" Target="/ppt/media/image4.png" Id="R506f9b97a9a54405" /><Relationship Type="http://schemas.openxmlformats.org/officeDocument/2006/relationships/notesSlide" Target="/ppt/notesSlides/notesSlide10.xml" Id="R383baa25f49d4a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BDD23-47EB-4794-B260-7CDFA0E0C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a326eebd84158"/>
          <a:srcRect xmlns:a="http://schemas.openxmlformats.org/drawingml/2006/main" l="19444" t="0" r="19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C8682-4FE4-4D07-B1CB-2650A5B5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UART 및 SPI Flash</a:t>
            </a:r>
          </a:p>
          <a:p xmlns:a="http://schemas.openxmlformats.org/drawingml/2006/main">
            <a:pPr>
              <a:def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기본 기능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DF58D-2ABF-4B96-AD12-27F62847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STM32F746G-DISCO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D0E36-87A6-4DA0-B6CF-A36FE0D0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2차 발표</a:t>
            </a:r>
          </a:p>
          <a:p xmlns:a="http://schemas.openxmlformats.org/drawingml/2006/main">
            <a:pPr>
              <a:def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2026년 10월 20일</a:t>
            </a:r>
          </a:p>
        </p:txBody>
      </p:sp>
    </p:spTree>
    <p:extLst>
      <p:ext uri="{BB962C8B-B14F-4D97-AF65-F5344CB8AC3E}">
        <p14:creationId xmlns:p14="http://schemas.microsoft.com/office/powerpoint/2010/main" val="365514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50DEB-F2D0-4ED6-B39B-82CBAB04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이번 Demo의 확인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6C69D-9F62-4319-86A5-07A5953F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04A6E-4AE1-4064-B51A-F5A87C04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3 MiB 이상의 BMP 전체를 Flash에 저장하고 원본으로 복원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F6F3C-BBE1-4BEA-A1D4-2DF35A25A492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29615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발표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방법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PC와 STM32 UART 통신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8N1 바이너리 전송, DMA 수신 및 송신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STM32와 SPI Flash 통신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JEDEC ID와 상태 레지스터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Flash Read / Write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삭제, 페이지 쓰기, 주소 기반 재읽기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 MB 이상 전송 및 저장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3,145,782바이트 BMP 전체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저장 데이터 복원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Flash에서 읽어 PC에 BMP 파일로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무결성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CRC32, SHA-256, 전체 바이트 비교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680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3FA7F-E098-48C7-A7D6-224C457E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실제 하드웨어와 과제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741E6-073F-4B40-B46E-C2FA1B12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0AE80-B4A5-45CC-A1F3-37CE13B22B24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19575"/>
                <a:gridCol w="4219575"/>
              </a:tblGrid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확인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과제 조건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MCU / 보드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STM32F746G-DISCO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STM32 MCU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Flash 모델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W25Q128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W25Q32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물리 용량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 MiB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MiB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JEDEC 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EF 40 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EF 40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이미지 영역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4 MiB 안으로 제한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 MB 이상 전체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87093-445B-4EBF-A5F6-8A3D8F7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A64F1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A64F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A64F16"/>
                </a:solidFill>
                <a:latin typeface="Apple SD Gothic Neo"/>
                <a:ea typeface="Apple SD Gothic Neo"/>
                <a:cs typeface="Apple SD Gothic Neo"/>
              </a:rPr>
              <a:t>현재 칩 대체 허용 여부를 확인해야 합니다</a:t>
            </a:r>
          </a:p>
        </p:txBody>
      </p:sp>
    </p:spTree>
    <p:extLst>
      <p:ext uri="{BB962C8B-B14F-4D97-AF65-F5344CB8AC3E}">
        <p14:creationId xmlns:p14="http://schemas.microsoft.com/office/powerpoint/2010/main" val="1574039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7086E-B481-48CC-85B7-5540399E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UART 8N1과 Double Buffer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D69C5-F870-4B9B-8878-D84261EE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6E6E1-D1A4-48F7-9C22-61ACC0BF53ED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PC 연결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ST-LINK 가상 COM, USART1 PA9 / PB7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UART 프레임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 8비트, 패리티 없음, 정지 1비트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확인한 비교 실험 속도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921600 baud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수신 버퍼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KiB 두 개, 하드웨어 Double Buffer Mode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송신 버퍼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KiB 두 개, UART TX DMA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흐름 제어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KiB 청크 CRC, ACK, 최대 두 청크 전송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E3131-A61D-4398-BF8D-7BA2C3FE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Flash 기록 중에도 다음 청크를 DMA로 수신</a:t>
            </a:r>
          </a:p>
        </p:txBody>
      </p:sp>
    </p:spTree>
    <p:extLst>
      <p:ext uri="{BB962C8B-B14F-4D97-AF65-F5344CB8AC3E}">
        <p14:creationId xmlns:p14="http://schemas.microsoft.com/office/powerpoint/2010/main" val="1291726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E9D88-D30F-40E8-94A5-8E664B82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SPI Flash Read / Write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F4510-A9C5-48C4-ACD3-B1D03F00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1424F-AA10-483A-89A4-19A65ABF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QUADSPI 컨트롤러, SPI 1-1-1, Mode 0, 27 MHz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AB4DB-E60D-46BD-A718-C1FF7B33F563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524000"/>
                <a:gridCol w="662940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명령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칩 식별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9Fh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JEDEC ID 읽기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쓰기 허용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06h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Write Enable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상태 확인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05h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BUSY와 WEL 비트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삭제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D8h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64 KiB 단위 삭제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페이지 쓰기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02h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256바이트, 페이지 경계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03h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24비트 주소로 Flash 데이터 읽기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093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E2A20-9B2C-49CF-9812-E115B49C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대용량 이미지 저장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38792-F140-4C64-BB61-5803013A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7485B-C0CD-4C2D-A0C0-CA976C48B47A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39140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 BMP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1024 × 1024, 24비트 True Color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파일 크기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이미지 주소 영역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0x000000 ~ 0x3EFFFF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삭제 범위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3,211,264 B, 64 KiB 블록 49개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페이지 쓰기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256 B 단위, 총 12,289회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RAM 처리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작은 청크 버퍼 재사용, MCU SRAM 320 KiB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09DD0-0541-416E-BB10-04DA5A47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삭제할 범위는 저장 전에 PC에 백업</a:t>
            </a:r>
          </a:p>
        </p:txBody>
      </p:sp>
    </p:spTree>
    <p:extLst>
      <p:ext uri="{BB962C8B-B14F-4D97-AF65-F5344CB8AC3E}">
        <p14:creationId xmlns:p14="http://schemas.microsoft.com/office/powerpoint/2010/main" val="1570166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4BDB2-9D62-479E-AD30-8D60CCD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원본과 Flash 재읽기 파일이 일치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B7E71-06E2-4C98-8D15-3A928015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19CB3-5E57-4206-B3AF-17E5C274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200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PC 원본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35ED9-452B-4A0F-81E9-8F2668F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2001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Flash 재읽기 파일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7214E-7136-4FBA-9319-B0A038FBA6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37cda7ade4199"/>
          <a:stretch xmlns:a="http://schemas.openxmlformats.org/drawingml/2006/main"/>
        </p:blipFill>
        <p:spPr>
          <a:xfrm xmlns:a="http://schemas.openxmlformats.org/drawingml/2006/main">
            <a:off x="1524000" y="16573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4F7A3-67A4-43AC-A870-EF0241622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11f87aaa44dff"/>
          <a:stretch xmlns:a="http://schemas.openxmlformats.org/drawingml/2006/main"/>
        </p:blipFill>
        <p:spPr>
          <a:xfrm xmlns:a="http://schemas.openxmlformats.org/drawingml/2006/main">
            <a:off x="7429500" y="1657350"/>
            <a:ext cx="3143250" cy="3143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BE996-D586-4215-8941-A02AA2C57FB2}"/>
              </a:ext>
            </a:extLst>
          </p:cNvPr>
          <p:cNvGraphicFramePr/>
          <p:nvPr/>
        </p:nvGraphicFramePr>
        <p:xfrm>
          <a:off xmlns:a="http://schemas.openxmlformats.org/drawingml/2006/main" x="685800" y="4991100"/>
          <a:ext xmlns:a="http://schemas.openxmlformats.org/drawingml/2006/main" cx="108204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981450"/>
                <a:gridCol w="3981450"/>
              </a:tblGrid>
              <a:tr h="4191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4191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파일 크기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CRC32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978AB7D9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978AB7D9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C3E53-0990-4C76-A8D3-D00B3BAB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전체 바이트 일치, SHA-256 일치</a:t>
            </a:r>
          </a:p>
        </p:txBody>
      </p:sp>
    </p:spTree>
    <p:extLst>
      <p:ext uri="{BB962C8B-B14F-4D97-AF65-F5344CB8AC3E}">
        <p14:creationId xmlns:p14="http://schemas.microsoft.com/office/powerpoint/2010/main" val="309461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36DDF-5858-4DC7-AB78-03D4B560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현장 Demo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8A3A6-17CC-4718-B020-1D76F070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22E43-FD49-4A8E-A2F0-31847274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22BFD-D382-414F-92C9-882C51FA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원본 BMP를 열어 크기와 이미지를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939F9-847E-4D4E-871F-B52A6153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396B0-B3F7-4357-B1E6-A16068B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Serial Monitor 종료, 새 펌웨어 실행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BB102-65EC-4C27-85E6-970415C5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C2315-2070-4BDB-8444-3DAAB44C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Demo 프로그램 실행, 백업과 저장 진행률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96ACA-1926-4074-AE45-96F2666E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5CB74-B7A9-4638-B343-2399DEF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PASS, CRC32, SHA-256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12BE6-232F-4E82-BAF5-B0572A37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39DC0-7F77-4D15-BCA5-BF89631F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복원 BMP를 열어 원본과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E35C3-B1FA-40A1-808F-53B17022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python3 pc/demo_roundtrip.py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DB6B0-742B-459E-A520-44D1AB18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864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리셋 후 읽기 전용 확인: 같은 명령에 --read-only 추가</a:t>
            </a:r>
          </a:p>
        </p:txBody>
      </p:sp>
    </p:spTree>
    <p:extLst>
      <p:ext uri="{BB962C8B-B14F-4D97-AF65-F5344CB8AC3E}">
        <p14:creationId xmlns:p14="http://schemas.microsoft.com/office/powerpoint/2010/main" val="850216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E6840-86D4-4685-B4D5-85CB9966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확인된 결과와 남은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EA9F0-AEB6-4036-AD86-2820AC34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B144C-E268-4EE6-AB2D-3D3586B83ED0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391400"/>
              </a:tblGrid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 / 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 MiB 이상 원본 복원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B, 기존 결과 파일 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 무결성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CRC32, SHA-256, 전체 바이트 비교 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UART Double Buffer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수신 전환 기록, 이전 실험 버퍼 초과 0회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저장 유지 증명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RESET 후 읽기 전용 Demo 준비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W25Q32 사용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W25Q128, 대체 조건 확인 필요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F3FBE-03B2-4C42-82D4-D5526B8C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발표 직전 새 Demo 보고서로 결과를 갱신</a:t>
            </a:r>
          </a:p>
        </p:txBody>
      </p:sp>
    </p:spTree>
    <p:extLst>
      <p:ext uri="{BB962C8B-B14F-4D97-AF65-F5344CB8AC3E}">
        <p14:creationId xmlns:p14="http://schemas.microsoft.com/office/powerpoint/2010/main" val="2114115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16A2D-6C1C-4D6A-8B13-26728F0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추가 기능: 8비트 Gray 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F50D8-6496-46B1-AE00-2928F3F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327FA-4698-42C1-8DD6-6C032F9BD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f9b97a9a54405"/>
          <a:stretch xmlns:a="http://schemas.openxmlformats.org/drawingml/2006/main"/>
        </p:blipFill>
        <p:spPr>
          <a:xfrm xmlns:a="http://schemas.openxmlformats.org/drawingml/2006/main">
            <a:off x="685800" y="16764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6FA79-54E2-466A-8537-8AABC5EA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478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23.9% 시간 감소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979C5-D5E2-4E32-B7A4-86FAE3C17ED8}"/>
              </a:ext>
            </a:extLst>
          </p:cNvPr>
          <p:cNvGraphicFramePr/>
          <p:nvPr/>
        </p:nvGraphicFramePr>
        <p:xfrm>
          <a:off xmlns:a="http://schemas.openxmlformats.org/drawingml/2006/main" x="4476750" y="2495550"/>
          <a:ext xmlns:a="http://schemas.openxmlformats.org/drawingml/2006/main" cx="70294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343150"/>
                <a:gridCol w="2352675"/>
              </a:tblGrid>
              <a:tr h="6858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이전 비교 기록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24비트 Gray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8비트 Gray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출력 크기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1,049,654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시간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95.60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72.77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0867D-B960-4B4C-99C6-2AB57F81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702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현재 운용 출력은 8비트 Gray로 고정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84F58-B979-4038-B65D-96E268E3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각 1회 측정, 921600 baud, 백업 준비 제외</a:t>
            </a:r>
          </a:p>
        </p:txBody>
      </p:sp>
    </p:spTree>
    <p:extLst>
      <p:ext uri="{BB962C8B-B14F-4D97-AF65-F5344CB8AC3E}">
        <p14:creationId xmlns:p14="http://schemas.microsoft.com/office/powerpoint/2010/main" val="499661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2026-10-13T09:39:22.7600000Z</dcterms:created>
  <dcterms:modified xsi:type="dcterms:W3CDTF">2026-10-13T09:39:22.7600000Z</dcterms:modified>
</coreProperties>
</file>